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PP Mori" pitchFamily="2" charset="0"/>
      <p:regular r:id="rIdCasiFont1"/>
    </p:embeddedFont>
    <p:embeddedFont>
      <p:font typeface="PP Mori Semibold" pitchFamily="2" charset="0"/>
      <p:regular r:id="rIdCasiFont2"/>
    </p:embeddedFont>
    <p:embeddedFont>
      <p:font typeface="IBM Plex Serif" pitchFamily="2" charset="0"/>
      <p:regular r:id="rIdCasiFont3"/>
      <p:italic r:id="rIdCasiFont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CasiFont1" Type="http://schemas.openxmlformats.org/officeDocument/2006/relationships/font" Target="fonts/font1.fntdata"/><Relationship Id="rIdCasiFont2" Type="http://schemas.openxmlformats.org/officeDocument/2006/relationships/font" Target="fonts/font2.fntdata"/><Relationship Id="rIdCasiFont3" Type="http://schemas.openxmlformats.org/officeDocument/2006/relationships/font" Target="fonts/font3.fntdata"/><Relationship Id="rIdCasiFont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rgbClr val="FFFFFF"/>
        </a:solidFill>
      </p:bgPr>
    </p:bg>
    <p:spTree>
      <p:nvGrpSpPr>
        <p:cNvPr id="1" name=""/>
        <p:cNvGrpSpPr/>
        <p:nvPr/>
      </p:nvGrpSpPr>
      <p:grpSpPr>
        <a:xfrm>
          <a:off x="0" y="0"/>
          <a:ext cx="0" cy="0"/>
          <a:chOff x="0" y="0"/>
          <a:chExt cx="0" cy="0"/>
        </a:xfrm>
      </p:grpSpPr>
      <p:pic>
        <p:nvPicPr>
          <p:cNvPr id="2" name="Image 0" descr="CASI">    </p:cNvPr>
          <p:cNvPicPr>
            <a:picLocks noChangeAspect="1"/>
          </p:cNvPicPr>
          <p:nvPr/>
        </p:nvPicPr>
        <p:blipFill>
          <a:blip r:embed="rId1"/>
          <a:stretch>
            <a:fillRect/>
          </a:stretch>
        </p:blipFill>
        <p:spPr>
          <a:xfrm>
            <a:off x="612648" y="493776"/>
            <a:ext cx="448856" cy="502920"/>
          </a:xfrm>
          <a:prstGeom prst="rect">
            <a:avLst/>
          </a:prstGeom>
        </p:spPr>
      </p:pic>
      <p:sp>
        <p:nvSpPr>
          <p:cNvPr id="3" name="Text 0"/>
          <p:cNvSpPr/>
          <p:nvPr>
            <p:ph idx="101" type="body" hasCustomPrompt="1"/>
          </p:nvPr>
        </p:nvSpPr>
        <p:spPr>
          <a:xfrm>
            <a:off x="612648" y="2011680"/>
            <a:ext cx="10966399" cy="274320"/>
          </a:xfrm>
          <a:prstGeom prst="rect">
            <a:avLst/>
          </a:prstGeom>
          <a:noFill/>
          <a:ln/>
        </p:spPr>
        <p:txBody>
          <a:bodyPr lIns="0" tIns="0" rIns="0" bIns="0" wrap="square" rtlCol="0"/>
          <a:lstStyle>
            <a:lvl1pPr algn="l" indent="0" marL="0">
              <a:lnSpc>
                <a:spcPct val="120000"/>
              </a:lnSpc>
              <a:buNone/>
              <a:defRPr lang="en-US" sz="1000" spc="100" kern="0" dirty="0">
                <a:solidFill>
                  <a:srgbClr val="0E4D49"/>
                </a:solidFill>
                <a:latin typeface="PP Mori Semibold" pitchFamily="34" charset="0"/>
                <a:ea typeface="PP Mori Semibold" pitchFamily="34" charset="-122"/>
                <a:cs typeface="PP Mori Semibold" pitchFamily="34" charset="-120"/>
              </a:defRPr>
            </a:lvl1pPr>
          </a:lstStyle>
          <a:p>
            <a:pPr algn="l" indent="0" marL="0">
              <a:lnSpc>
                <a:spcPct val="120000"/>
              </a:lnSpc>
              <a:buNone/>
            </a:pPr>
            <a:r>
              <a:rPr lang="en-US" sz="1000" spc="100" kern="0" dirty="0">
                <a:solidFill>
                  <a:srgbClr val="0E4D49"/>
                </a:solidFill>
                <a:latin typeface="PP Mori Semibold" pitchFamily="34" charset="0"/>
                <a:ea typeface="PP Mori Semibold" pitchFamily="34" charset="-122"/>
                <a:cs typeface="PP Mori Semibold" pitchFamily="34" charset="-120"/>
              </a:rPr>
              <a:t>REIHE · NUMMER</a:t>
            </a:r>
            <a:endParaRPr lang="en-US" sz="1000" dirty="0"/>
          </a:p>
        </p:txBody>
      </p:sp>
      <p:sp>
        <p:nvSpPr>
          <p:cNvPr id="4" name="Text 0"/>
          <p:cNvSpPr/>
          <p:nvPr>
            <p:ph idx="102" type="title" hasCustomPrompt="1"/>
          </p:nvPr>
        </p:nvSpPr>
        <p:spPr>
          <a:xfrm>
            <a:off x="612648" y="2395728"/>
            <a:ext cx="10966399" cy="1645920"/>
          </a:xfrm>
          <a:prstGeom prst="rect">
            <a:avLst/>
          </a:prstGeom>
          <a:noFill/>
          <a:ln/>
        </p:spPr>
        <p:txBody>
          <a:bodyPr lIns="0" tIns="0" rIns="0" bIns="0" wrap="square" rtlCol="0"/>
          <a:lstStyle>
            <a:lvl1pPr algn="l" indent="0" marL="0">
              <a:lnSpc>
                <a:spcPct val="105000"/>
              </a:lnSpc>
              <a:buNone/>
              <a:defRPr lang="en-US" sz="4000" dirty="0">
                <a:solidFill>
                  <a:srgbClr val="0E4D49"/>
                </a:solidFill>
                <a:latin typeface="PP Mori Semibold" pitchFamily="34" charset="0"/>
                <a:ea typeface="PP Mori Semibold" pitchFamily="34" charset="-122"/>
                <a:cs typeface="PP Mori Semibold" pitchFamily="34" charset="-120"/>
              </a:defRPr>
            </a:lvl1pPr>
          </a:lstStyle>
          <a:p>
            <a:pPr algn="l" indent="0" marL="0">
              <a:lnSpc>
                <a:spcPct val="105000"/>
              </a:lnSpc>
              <a:buNone/>
            </a:pPr>
            <a:r>
              <a:rPr lang="en-US" sz="4000" dirty="0">
                <a:solidFill>
                  <a:srgbClr val="0E4D49"/>
                </a:solidFill>
                <a:latin typeface="PP Mori Semibold" pitchFamily="34" charset="0"/>
                <a:ea typeface="PP Mori Semibold" pitchFamily="34" charset="-122"/>
                <a:cs typeface="PP Mori Semibold" pitchFamily="34" charset="-120"/>
              </a:rPr>
              <a:t>Titel der Präsentation</a:t>
            </a:r>
            <a:endParaRPr lang="en-US" sz="4000" dirty="0"/>
          </a:p>
        </p:txBody>
      </p:sp>
      <p:sp>
        <p:nvSpPr>
          <p:cNvPr id="5" name="Text 0"/>
          <p:cNvSpPr/>
          <p:nvPr>
            <p:ph idx="103" type="body" hasCustomPrompt="1"/>
          </p:nvPr>
        </p:nvSpPr>
        <p:spPr>
          <a:xfrm>
            <a:off x="612648" y="4160520"/>
            <a:ext cx="8224799" cy="822960"/>
          </a:xfrm>
          <a:prstGeom prst="rect">
            <a:avLst/>
          </a:prstGeom>
          <a:noFill/>
          <a:ln/>
        </p:spPr>
        <p:txBody>
          <a:bodyPr lIns="0" tIns="0" rIns="0" bIns="0" wrap="square" rtlCol="0"/>
          <a:lstStyle>
            <a:lvl1pPr algn="l" indent="0" marL="0">
              <a:lnSpc>
                <a:spcPct val="120000"/>
              </a:lnSpc>
              <a:buNone/>
              <a:defRPr lang="en-US" sz="1400" dirty="0">
                <a:solidFill>
                  <a:srgbClr val="5F7471"/>
                </a:solidFill>
                <a:latin typeface="PP Mori" pitchFamily="34" charset="0"/>
                <a:ea typeface="PP Mori" pitchFamily="34" charset="-122"/>
                <a:cs typeface="PP Mori" pitchFamily="34" charset="-120"/>
              </a:defRPr>
            </a:lvl1pPr>
          </a:lstStyle>
          <a:p>
            <a:pPr algn="l" indent="0" marL="0">
              <a:lnSpc>
                <a:spcPct val="120000"/>
              </a:lnSpc>
              <a:buNone/>
            </a:pPr>
            <a:r>
              <a:rPr lang="en-US" sz="1400" dirty="0">
                <a:solidFill>
                  <a:srgbClr val="5F7471"/>
                </a:solidFill>
                <a:latin typeface="PP Mori" pitchFamily="34" charset="0"/>
                <a:ea typeface="PP Mori" pitchFamily="34" charset="-122"/>
                <a:cs typeface="PP Mori" pitchFamily="34" charset="-120"/>
              </a:rPr>
              <a:t>Untertitel</a:t>
            </a:r>
            <a:endParaRPr lang="en-US" sz="1400" dirty="0"/>
          </a:p>
        </p:txBody>
      </p:sp>
      <p:sp>
        <p:nvSpPr>
          <p:cNvPr id="6" name="Text 0"/>
          <p:cNvSpPr/>
          <p:nvPr>
            <p:ph idx="104" type="body" hasCustomPrompt="1"/>
          </p:nvPr>
        </p:nvSpPr>
        <p:spPr>
          <a:xfrm>
            <a:off x="612648" y="6126480"/>
            <a:ext cx="10966399" cy="274320"/>
          </a:xfrm>
          <a:prstGeom prst="rect">
            <a:avLst/>
          </a:prstGeom>
          <a:noFill/>
          <a:ln/>
        </p:spPr>
        <p:txBody>
          <a:bodyPr lIns="0" tIns="0" rIns="0" bIns="0" wrap="square" rtlCol="0"/>
          <a:lstStyle>
            <a:lvl1pPr algn="l" indent="0" marL="0">
              <a:lnSpc>
                <a:spcPct val="120000"/>
              </a:lnSpc>
              <a:buNone/>
              <a:defRPr lang="en-US" sz="900" dirty="0">
                <a:solidFill>
                  <a:srgbClr val="5F7471"/>
                </a:solidFill>
                <a:latin typeface="PP Mori" pitchFamily="34" charset="0"/>
                <a:ea typeface="PP Mori" pitchFamily="34" charset="-122"/>
                <a:cs typeface="PP Mori" pitchFamily="34" charset="-120"/>
              </a:defRPr>
            </a:lvl1pPr>
          </a:lstStyle>
          <a:p>
            <a:pPr algn="l" indent="0" marL="0">
              <a:lnSpc>
                <a:spcPct val="120000"/>
              </a:lnSpc>
              <a:buNone/>
            </a:pPr>
            <a:r>
              <a:rPr lang="en-US" sz="900" dirty="0">
                <a:solidFill>
                  <a:srgbClr val="5F7471"/>
                </a:solidFill>
                <a:latin typeface="PP Mori" pitchFamily="34" charset="0"/>
                <a:ea typeface="PP Mori" pitchFamily="34" charset="-122"/>
                <a:cs typeface="PP Mori" pitchFamily="34" charset="-120"/>
              </a:rPr>
              <a:t>Absender · Datum</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bschnit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2011680"/>
            <a:ext cx="10966399" cy="274320"/>
          </a:xfrm>
          <a:prstGeom prst="rect">
            <a:avLst/>
          </a:prstGeom>
          <a:noFill/>
          <a:ln/>
        </p:spPr>
        <p:txBody>
          <a:bodyPr lIns="0" tIns="0" rIns="0" bIns="0" wrap="square" rtlCol="0"/>
          <a:lstStyle>
            <a:lvl1pPr algn="l" indent="0" marL="0">
              <a:lnSpc>
                <a:spcPct val="120000"/>
              </a:lnSpc>
              <a:buNone/>
              <a:defRPr lang="en-US" sz="1000" dirty="0">
                <a:solidFill>
                  <a:srgbClr val="0E4D49"/>
                </a:solidFill>
                <a:latin typeface="PP Mori Semibold" pitchFamily="34" charset="0"/>
                <a:ea typeface="PP Mori Semibold" pitchFamily="34" charset="-122"/>
                <a:cs typeface="PP Mori Semibold" pitchFamily="34" charset="-120"/>
              </a:defRPr>
            </a:lvl1pPr>
          </a:lstStyle>
          <a:p>
            <a:pPr algn="l" indent="0" marL="0">
              <a:lnSpc>
                <a:spcPct val="120000"/>
              </a:lnSpc>
              <a:buNone/>
            </a:pPr>
            <a:r>
              <a:rPr lang="en-US" sz="1000" dirty="0">
                <a:solidFill>
                  <a:srgbClr val="0E4D49"/>
                </a:solidFill>
                <a:latin typeface="PP Mori Semibold" pitchFamily="34" charset="0"/>
                <a:ea typeface="PP Mori Semibold" pitchFamily="34" charset="-122"/>
                <a:cs typeface="PP Mori Semibold" pitchFamily="34" charset="-120"/>
              </a:rPr>
              <a:t>Abschnitt</a:t>
            </a:r>
            <a:endParaRPr lang="en-US" sz="1000" dirty="0"/>
          </a:p>
        </p:txBody>
      </p:sp>
      <p:sp>
        <p:nvSpPr>
          <p:cNvPr id="3" name="Text 0"/>
          <p:cNvSpPr/>
          <p:nvPr>
            <p:ph idx="101" type="title" hasCustomPrompt="1"/>
          </p:nvPr>
        </p:nvSpPr>
        <p:spPr>
          <a:xfrm>
            <a:off x="612648" y="2395728"/>
            <a:ext cx="10966399" cy="1463040"/>
          </a:xfrm>
          <a:prstGeom prst="rect">
            <a:avLst/>
          </a:prstGeom>
          <a:noFill/>
          <a:ln/>
        </p:spPr>
        <p:txBody>
          <a:bodyPr lIns="0" tIns="0" rIns="0" bIns="0" wrap="square" rtlCol="0"/>
          <a:lstStyle>
            <a:lvl1pPr algn="l" indent="0" marL="0">
              <a:lnSpc>
                <a:spcPct val="105000"/>
              </a:lnSpc>
              <a:buNone/>
              <a:defRPr lang="en-US" sz="3000" dirty="0">
                <a:solidFill>
                  <a:srgbClr val="0E4D49"/>
                </a:solidFill>
                <a:latin typeface="PP Mori Semibold" pitchFamily="34" charset="0"/>
                <a:ea typeface="PP Mori Semibold" pitchFamily="34" charset="-122"/>
                <a:cs typeface="PP Mori Semibold" pitchFamily="34" charset="-120"/>
              </a:defRPr>
            </a:lvl1pPr>
          </a:lstStyle>
          <a:p>
            <a:pPr algn="l" indent="0" marL="0">
              <a:lnSpc>
                <a:spcPct val="105000"/>
              </a:lnSpc>
              <a:buNone/>
            </a:pPr>
            <a:r>
              <a:rPr lang="en-US" sz="3000" dirty="0">
                <a:solidFill>
                  <a:srgbClr val="0E4D49"/>
                </a:solidFill>
                <a:latin typeface="PP Mori Semibold" pitchFamily="34" charset="0"/>
                <a:ea typeface="PP Mori Semibold" pitchFamily="34" charset="-122"/>
                <a:cs typeface="PP Mori Semibold" pitchFamily="34" charset="-120"/>
              </a:rPr>
              <a:t>Titel des Abschnitts</a:t>
            </a:r>
            <a:endParaRPr lang="en-US" sz="30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lIns="0" tIns="0" rIns="0" bIns="0" wrap="square" rtlCol="0"/>
          <a:lstStyle>
            <a:lvl1pPr algn="l" indent="0" marL="0">
              <a:buNone/>
              <a:defRPr lang="en-US" sz="1700" dirty="0">
                <a:solidFill>
                  <a:srgbClr val="0E4D49"/>
                </a:solidFill>
                <a:latin typeface="PP Mori Semibold" pitchFamily="34" charset="0"/>
                <a:ea typeface="PP Mori Semibold" pitchFamily="34" charset="-122"/>
                <a:cs typeface="PP Mori Semibold" pitchFamily="34" charset="-120"/>
              </a:defRPr>
            </a:lvl1pPr>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Titel hinzufügen</a:t>
            </a:r>
            <a:endParaRPr lang="en-US" sz="1700" dirty="0"/>
          </a:p>
        </p:txBody>
      </p:sp>
      <p:sp>
        <p:nvSpPr>
          <p:cNvPr id="3" name="Text 0"/>
          <p:cNvSpPr/>
          <p:nvPr>
            <p:ph idx="101" type="body" hasCustomPrompt="1"/>
          </p:nvPr>
        </p:nvSpPr>
        <p:spPr>
          <a:xfrm>
            <a:off x="612648" y="960120"/>
            <a:ext cx="10966399" cy="5440680"/>
          </a:xfrm>
          <a:prstGeom prst="rect">
            <a:avLst/>
          </a:prstGeom>
          <a:noFill/>
          <a:ln/>
        </p:spPr>
        <p:txBody>
          <a:bodyPr lIns="0" tIns="0" rIns="0" bIns="0" wrap="square" rtlCol="0"/>
          <a:lstStyle>
            <a:lvl1pPr algn="l" indent="0" marL="0">
              <a:lnSpc>
                <a:spcPct val="135000"/>
              </a:lnSpc>
              <a:spcAft>
                <a:spcPts val="600"/>
              </a:spcAft>
              <a:buNone/>
              <a:defRPr lang="en-US" sz="1200" dirty="0">
                <a:solidFill>
                  <a:srgbClr val="0E4D49"/>
                </a:solidFill>
                <a:latin typeface="IBM Plex Serif" pitchFamily="34" charset="0"/>
                <a:ea typeface="IBM Plex Serif" pitchFamily="34" charset="-122"/>
                <a:cs typeface="IBM Plex Serif" pitchFamily="34" charset="-120"/>
              </a:defRPr>
            </a:lvl1pPr>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Text hinzufügen</a:t>
            </a:r>
            <a:endParaRPr lang="en-US" sz="12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ur Titel">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lIns="0" tIns="0" rIns="0" bIns="0" wrap="square" rtlCol="0"/>
          <a:lstStyle>
            <a:lvl1pPr algn="l" indent="0" marL="0">
              <a:buNone/>
              <a:defRPr lang="en-US" sz="1700" dirty="0">
                <a:solidFill>
                  <a:srgbClr val="0E4D49"/>
                </a:solidFill>
                <a:latin typeface="PP Mori Semibold" pitchFamily="34" charset="0"/>
                <a:ea typeface="PP Mori Semibold" pitchFamily="34" charset="-122"/>
                <a:cs typeface="PP Mori Semibold" pitchFamily="34" charset="-120"/>
              </a:defRPr>
            </a:lvl1pPr>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Titel hinzufügen</a:t>
            </a:r>
            <a:endParaRPr lang="en-US" sz="17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Zwei Spalte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lIns="0" tIns="0" rIns="0" bIns="0" wrap="square" rtlCol="0"/>
          <a:lstStyle>
            <a:lvl1pPr algn="l" indent="0" marL="0">
              <a:buNone/>
              <a:defRPr lang="en-US" sz="1700" dirty="0">
                <a:solidFill>
                  <a:srgbClr val="0E4D49"/>
                </a:solidFill>
                <a:latin typeface="PP Mori Semibold" pitchFamily="34" charset="0"/>
                <a:ea typeface="PP Mori Semibold" pitchFamily="34" charset="-122"/>
                <a:cs typeface="PP Mori Semibold" pitchFamily="34" charset="-120"/>
              </a:defRPr>
            </a:lvl1pPr>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Titel hinzufügen</a:t>
            </a:r>
            <a:endParaRPr lang="en-US" sz="1700" dirty="0"/>
          </a:p>
        </p:txBody>
      </p:sp>
      <p:sp>
        <p:nvSpPr>
          <p:cNvPr id="3" name="Text 0"/>
          <p:cNvSpPr/>
          <p:nvPr>
            <p:ph idx="101" type="body" hasCustomPrompt="1"/>
          </p:nvPr>
        </p:nvSpPr>
        <p:spPr>
          <a:xfrm>
            <a:off x="612648" y="960120"/>
            <a:ext cx="5300320" cy="5440680"/>
          </a:xfrm>
          <a:prstGeom prst="rect">
            <a:avLst/>
          </a:prstGeom>
          <a:noFill/>
          <a:ln/>
        </p:spPr>
        <p:txBody>
          <a:bodyPr lIns="0" tIns="0" rIns="0" bIns="0" wrap="square" rtlCol="0"/>
          <a:lstStyle>
            <a:lvl1pPr algn="l" indent="0" marL="0">
              <a:lnSpc>
                <a:spcPct val="135000"/>
              </a:lnSpc>
              <a:spcAft>
                <a:spcPts val="600"/>
              </a:spcAft>
              <a:buNone/>
              <a:defRPr lang="en-US" sz="1200" dirty="0">
                <a:solidFill>
                  <a:srgbClr val="0E4D49"/>
                </a:solidFill>
                <a:latin typeface="IBM Plex Serif" pitchFamily="34" charset="0"/>
                <a:ea typeface="IBM Plex Serif" pitchFamily="34" charset="-122"/>
                <a:cs typeface="IBM Plex Serif" pitchFamily="34" charset="-120"/>
              </a:defRPr>
            </a:lvl1pPr>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Text hinzufügen</a:t>
            </a:r>
            <a:endParaRPr lang="en-US" sz="1200" dirty="0"/>
          </a:p>
        </p:txBody>
      </p:sp>
      <p:sp>
        <p:nvSpPr>
          <p:cNvPr id="4" name="Text 0"/>
          <p:cNvSpPr/>
          <p:nvPr>
            <p:ph idx="102" type="body" hasCustomPrompt="1"/>
          </p:nvPr>
        </p:nvSpPr>
        <p:spPr>
          <a:xfrm>
            <a:off x="6278728" y="960120"/>
            <a:ext cx="5300320" cy="5440680"/>
          </a:xfrm>
          <a:prstGeom prst="rect">
            <a:avLst/>
          </a:prstGeom>
          <a:noFill/>
          <a:ln/>
        </p:spPr>
        <p:txBody>
          <a:bodyPr lIns="0" tIns="0" rIns="0" bIns="0" wrap="square" rtlCol="0"/>
          <a:lstStyle>
            <a:lvl1pPr algn="l" indent="0" marL="0">
              <a:lnSpc>
                <a:spcPct val="135000"/>
              </a:lnSpc>
              <a:spcAft>
                <a:spcPts val="600"/>
              </a:spcAft>
              <a:buNone/>
              <a:defRPr lang="en-US" sz="1200" dirty="0">
                <a:solidFill>
                  <a:srgbClr val="0E4D49"/>
                </a:solidFill>
                <a:latin typeface="IBM Plex Serif" pitchFamily="34" charset="0"/>
                <a:ea typeface="IBM Plex Serif" pitchFamily="34" charset="-122"/>
                <a:cs typeface="IBM Plex Serif" pitchFamily="34" charset="-120"/>
              </a:defRPr>
            </a:lvl1pPr>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Text hinzufügen</a:t>
            </a:r>
            <a:endParaRPr lang="en-US" sz="12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xt mit Box">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lIns="0" tIns="0" rIns="0" bIns="0" wrap="square" rtlCol="0"/>
          <a:lstStyle>
            <a:lvl1pPr algn="l" indent="0" marL="0">
              <a:buNone/>
              <a:defRPr lang="en-US" sz="1700" dirty="0">
                <a:solidFill>
                  <a:srgbClr val="0E4D49"/>
                </a:solidFill>
                <a:latin typeface="PP Mori Semibold" pitchFamily="34" charset="0"/>
                <a:ea typeface="PP Mori Semibold" pitchFamily="34" charset="-122"/>
                <a:cs typeface="PP Mori Semibold" pitchFamily="34" charset="-120"/>
              </a:defRPr>
            </a:lvl1pPr>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Titel hinzufügen</a:t>
            </a:r>
            <a:endParaRPr lang="en-US" sz="1700" dirty="0"/>
          </a:p>
        </p:txBody>
      </p:sp>
      <p:sp>
        <p:nvSpPr>
          <p:cNvPr id="3" name="Text 0"/>
          <p:cNvSpPr/>
          <p:nvPr>
            <p:ph idx="101" type="body" hasCustomPrompt="1"/>
          </p:nvPr>
        </p:nvSpPr>
        <p:spPr>
          <a:xfrm>
            <a:off x="612648" y="960120"/>
            <a:ext cx="6760159" cy="5440680"/>
          </a:xfrm>
          <a:prstGeom prst="rect">
            <a:avLst/>
          </a:prstGeom>
          <a:noFill/>
          <a:ln/>
        </p:spPr>
        <p:txBody>
          <a:bodyPr lIns="0" tIns="0" rIns="0" bIns="0" wrap="square" rtlCol="0"/>
          <a:lstStyle>
            <a:lvl1pPr algn="l" indent="0" marL="0">
              <a:lnSpc>
                <a:spcPct val="135000"/>
              </a:lnSpc>
              <a:spcAft>
                <a:spcPts val="600"/>
              </a:spcAft>
              <a:buNone/>
              <a:defRPr lang="en-US" sz="1200" dirty="0">
                <a:solidFill>
                  <a:srgbClr val="0E4D49"/>
                </a:solidFill>
                <a:latin typeface="IBM Plex Serif" pitchFamily="34" charset="0"/>
                <a:ea typeface="IBM Plex Serif" pitchFamily="34" charset="-122"/>
                <a:cs typeface="IBM Plex Serif" pitchFamily="34" charset="-120"/>
              </a:defRPr>
            </a:lvl1pPr>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Text hinzufügen</a:t>
            </a:r>
            <a:endParaRPr lang="en-US" sz="1200" dirty="0"/>
          </a:p>
        </p:txBody>
      </p:sp>
      <p:sp>
        <p:nvSpPr>
          <p:cNvPr id="4" name="Text 0"/>
          <p:cNvSpPr/>
          <p:nvPr>
            <p:ph idx="102" type="body" hasCustomPrompt="1"/>
          </p:nvPr>
        </p:nvSpPr>
        <p:spPr>
          <a:xfrm>
            <a:off x="7738567" y="960120"/>
            <a:ext cx="3840480" cy="795528"/>
          </a:xfrm>
          <a:prstGeom prst="roundRect">
            <a:avLst>
              <a:gd name="adj" fmla="val 11494"/>
            </a:avLst>
          </a:prstGeom>
          <a:solidFill>
            <a:srgbClr val="EEF2F1"/>
          </a:solidFill>
          <a:ln>
            <a:noFill/>
          </a:ln>
        </p:spPr>
        <p:txBody>
          <a:bodyPr wrap="square" rtlCol="0" lIns="274320" tIns="274320" rIns="274320" bIns="274320">
            <a:spAutoFit/>
          </a:bodyPr>
          <a:lstStyle>
            <a:lvl1pPr algn="l" indent="0" marL="0">
              <a:lnSpc>
                <a:spcPct val="135000"/>
              </a:lnSpc>
              <a:spcAft>
                <a:spcPts val="600"/>
              </a:spcAft>
              <a:buNone/>
              <a:defRPr lang="en-US" sz="1200" dirty="0">
                <a:solidFill>
                  <a:srgbClr val="0E4D49"/>
                </a:solidFill>
                <a:latin typeface="IBM Plex Serif" pitchFamily="34" charset="0"/>
                <a:ea typeface="IBM Plex Serif" pitchFamily="34" charset="-122"/>
                <a:cs typeface="IBM Plex Serif" pitchFamily="34" charset="-120"/>
              </a:defRPr>
            </a:lvl1pPr>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Text in der Box</a:t>
            </a:r>
            <a:endParaRPr lang="en-US" sz="12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Zwei Boxe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lIns="0" tIns="0" rIns="0" bIns="0" wrap="square" rtlCol="0"/>
          <a:lstStyle>
            <a:lvl1pPr algn="l" indent="0" marL="0">
              <a:buNone/>
              <a:defRPr lang="en-US" sz="1700" dirty="0">
                <a:solidFill>
                  <a:srgbClr val="0E4D49"/>
                </a:solidFill>
                <a:latin typeface="PP Mori Semibold" pitchFamily="34" charset="0"/>
                <a:ea typeface="PP Mori Semibold" pitchFamily="34" charset="-122"/>
                <a:cs typeface="PP Mori Semibold" pitchFamily="34" charset="-120"/>
              </a:defRPr>
            </a:lvl1pPr>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Titel hinzufügen</a:t>
            </a:r>
            <a:endParaRPr lang="en-US" sz="1700" dirty="0"/>
          </a:p>
        </p:txBody>
      </p:sp>
      <p:sp>
        <p:nvSpPr>
          <p:cNvPr id="3" name="Text 0"/>
          <p:cNvSpPr/>
          <p:nvPr>
            <p:ph idx="101" type="body" hasCustomPrompt="1"/>
          </p:nvPr>
        </p:nvSpPr>
        <p:spPr>
          <a:xfrm>
            <a:off x="612648" y="960120"/>
            <a:ext cx="5300320" cy="795528"/>
          </a:xfrm>
          <a:prstGeom prst="roundRect">
            <a:avLst>
              <a:gd name="adj" fmla="val 11494"/>
            </a:avLst>
          </a:prstGeom>
          <a:solidFill>
            <a:srgbClr val="EEF2F1"/>
          </a:solidFill>
          <a:ln>
            <a:noFill/>
          </a:ln>
        </p:spPr>
        <p:txBody>
          <a:bodyPr wrap="square" rtlCol="0" lIns="274320" tIns="274320" rIns="274320" bIns="274320">
            <a:spAutoFit/>
          </a:bodyPr>
          <a:lstStyle>
            <a:lvl1pPr algn="l" indent="0" marL="0">
              <a:lnSpc>
                <a:spcPct val="135000"/>
              </a:lnSpc>
              <a:spcAft>
                <a:spcPts val="600"/>
              </a:spcAft>
              <a:buNone/>
              <a:defRPr lang="en-US" sz="1200" dirty="0">
                <a:solidFill>
                  <a:srgbClr val="0E4D49"/>
                </a:solidFill>
                <a:latin typeface="IBM Plex Serif" pitchFamily="34" charset="0"/>
                <a:ea typeface="IBM Plex Serif" pitchFamily="34" charset="-122"/>
                <a:cs typeface="IBM Plex Serif" pitchFamily="34" charset="-120"/>
              </a:defRPr>
            </a:lvl1pPr>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Text in der Box</a:t>
            </a:r>
            <a:endParaRPr lang="en-US" sz="1200" dirty="0"/>
          </a:p>
        </p:txBody>
      </p:sp>
      <p:sp>
        <p:nvSpPr>
          <p:cNvPr id="4" name="Text 0"/>
          <p:cNvSpPr/>
          <p:nvPr>
            <p:ph idx="102" type="body" hasCustomPrompt="1"/>
          </p:nvPr>
        </p:nvSpPr>
        <p:spPr>
          <a:xfrm>
            <a:off x="6278728" y="960120"/>
            <a:ext cx="5300320" cy="795528"/>
          </a:xfrm>
          <a:prstGeom prst="roundRect">
            <a:avLst>
              <a:gd name="adj" fmla="val 11494"/>
            </a:avLst>
          </a:prstGeom>
          <a:solidFill>
            <a:srgbClr val="EEF2F1"/>
          </a:solidFill>
          <a:ln>
            <a:noFill/>
          </a:ln>
        </p:spPr>
        <p:txBody>
          <a:bodyPr wrap="square" rtlCol="0" lIns="274320" tIns="274320" rIns="274320" bIns="274320">
            <a:spAutoFit/>
          </a:bodyPr>
          <a:lstStyle>
            <a:lvl1pPr algn="l" indent="0" marL="0">
              <a:lnSpc>
                <a:spcPct val="135000"/>
              </a:lnSpc>
              <a:spcAft>
                <a:spcPts val="600"/>
              </a:spcAft>
              <a:buNone/>
              <a:defRPr lang="en-US" sz="1200" dirty="0">
                <a:solidFill>
                  <a:srgbClr val="0E4D49"/>
                </a:solidFill>
                <a:latin typeface="IBM Plex Serif" pitchFamily="34" charset="0"/>
                <a:ea typeface="IBM Plex Serif" pitchFamily="34" charset="-122"/>
                <a:cs typeface="IBM Plex Serif" pitchFamily="34" charset="-120"/>
              </a:defRPr>
            </a:lvl1pPr>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Text in der Box</a:t>
            </a:r>
            <a:endParaRPr lang="en-US" sz="12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bbildung">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lIns="0" tIns="0" rIns="0" bIns="0" wrap="square" rtlCol="0"/>
          <a:lstStyle>
            <a:lvl1pPr algn="l" indent="0" marL="0">
              <a:buNone/>
              <a:defRPr lang="en-US" sz="1700" dirty="0">
                <a:solidFill>
                  <a:srgbClr val="0E4D49"/>
                </a:solidFill>
                <a:latin typeface="PP Mori Semibold" pitchFamily="34" charset="0"/>
                <a:ea typeface="PP Mori Semibold" pitchFamily="34" charset="-122"/>
                <a:cs typeface="PP Mori Semibold" pitchFamily="34" charset="-120"/>
              </a:defRPr>
            </a:lvl1pPr>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Titel hinzufügen</a:t>
            </a:r>
            <a:endParaRPr lang="en-US" sz="1700" dirty="0"/>
          </a:p>
        </p:txBody>
      </p:sp>
      <p:sp>
        <p:nvSpPr>
          <p:cNvPr id="3" name="Text 0"/>
          <p:cNvSpPr/>
          <p:nvPr>
            <p:ph idx="101" hasCustomPrompt="1"/>
          </p:nvPr>
        </p:nvSpPr>
        <p:spPr>
          <a:xfrm>
            <a:off x="612648" y="960120"/>
            <a:ext cx="10966399" cy="4892040"/>
          </a:xfrm>
          <a:prstGeom prst="rect">
            <a:avLst/>
          </a:prstGeom>
          <a:noFill/>
          <a:ln/>
        </p:spPr>
        <p:txBody>
          <a:bodyPr lIns="0" tIns="0" rIns="0" bIns="0" wrap="square" rtlCol="0"/>
          <a:lstStyle>
            <a:lvl1pPr indent="0" marL="0">
              <a:buNone/>
              <a:defRPr lang="en-US" dirty="0">
                <a:solidFill>
                  <a:srgbClr val="0E4D49"/>
                </a:solidFill>
              </a:defRPr>
            </a:lvl1pPr>
          </a:lstStyle>
          <a:p>
            <a:pPr indent="0" marL="0">
              <a:buNone/>
            </a:pPr>
            <a:r>
              <a:rPr lang="en-US" dirty="0">
                <a:solidFill>
                  <a:srgbClr val="0E4D49"/>
                </a:solidFill>
              </a:rPr>
              <a:t>Abbildung einfügen</a:t>
            </a:r>
            <a:endParaRPr lang="en-US" dirty="0"/>
          </a:p>
        </p:txBody>
      </p:sp>
      <p:sp>
        <p:nvSpPr>
          <p:cNvPr id="4" name="Text 0"/>
          <p:cNvSpPr/>
          <p:nvPr>
            <p:ph idx="102" type="body" hasCustomPrompt="1"/>
          </p:nvPr>
        </p:nvSpPr>
        <p:spPr>
          <a:xfrm>
            <a:off x="612648" y="5989320"/>
            <a:ext cx="10966399" cy="365760"/>
          </a:xfrm>
          <a:prstGeom prst="rect">
            <a:avLst/>
          </a:prstGeom>
          <a:noFill/>
          <a:ln/>
        </p:spPr>
        <p:txBody>
          <a:bodyPr lIns="0" tIns="0" rIns="0" bIns="0" wrap="square" rtlCol="0"/>
          <a:lstStyle>
            <a:lvl1pPr algn="l" indent="0" marL="0">
              <a:lnSpc>
                <a:spcPct val="120000"/>
              </a:lnSpc>
              <a:buNone/>
              <a:defRPr lang="en-US" sz="750" dirty="0">
                <a:solidFill>
                  <a:srgbClr val="5F7471"/>
                </a:solidFill>
                <a:latin typeface="PP Mori" pitchFamily="34" charset="0"/>
                <a:ea typeface="PP Mori" pitchFamily="34" charset="-122"/>
                <a:cs typeface="PP Mori" pitchFamily="34" charset="-120"/>
              </a:defRPr>
            </a:lvl1pPr>
          </a:lstStyle>
          <a:p>
            <a:pPr algn="l" indent="0" marL="0">
              <a:lnSpc>
                <a:spcPct val="120000"/>
              </a:lnSpc>
              <a:buNone/>
            </a:pPr>
            <a:r>
              <a:rPr lang="en-US" sz="750" dirty="0">
                <a:solidFill>
                  <a:srgbClr val="5F7471"/>
                </a:solidFill>
                <a:latin typeface="PP Mori" pitchFamily="34" charset="0"/>
                <a:ea typeface="PP Mori" pitchFamily="34" charset="-122"/>
                <a:cs typeface="PP Mori" pitchFamily="34" charset="-120"/>
              </a:rPr>
              <a:t>Bildunterschrift</a:t>
            </a:r>
            <a:endParaRPr lang="en-US" sz="75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chlus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8B1538"/>
          </a:solidFill>
          <a:ln/>
        </p:spPr>
      </p:sp>
      <p:pic>
        <p:nvPicPr>
          <p:cNvPr id="3" name="Image 0" descr="CASI">    </p:cNvPr>
          <p:cNvPicPr>
            <a:picLocks noChangeAspect="1"/>
          </p:cNvPicPr>
          <p:nvPr/>
        </p:nvPicPr>
        <p:blipFill>
          <a:blip r:embed="rId1"/>
          <a:stretch>
            <a:fillRect/>
          </a:stretch>
        </p:blipFill>
        <p:spPr>
          <a:xfrm>
            <a:off x="612648" y="493776"/>
            <a:ext cx="448856" cy="502920"/>
          </a:xfrm>
          <a:prstGeom prst="rect">
            <a:avLst/>
          </a:prstGeom>
        </p:spPr>
      </p:pic>
      <p:sp>
        <p:nvSpPr>
          <p:cNvPr id="4" name="Text 1"/>
          <p:cNvSpPr/>
          <p:nvPr>
            <p:ph idx="102" type="title" hasCustomPrompt="1"/>
          </p:nvPr>
        </p:nvSpPr>
        <p:spPr>
          <a:xfrm>
            <a:off x="612648" y="2395728"/>
            <a:ext cx="2980944" cy="2743200"/>
          </a:xfrm>
          <a:prstGeom prst="rect">
            <a:avLst/>
          </a:prstGeom>
          <a:noFill/>
          <a:ln/>
        </p:spPr>
        <p:txBody>
          <a:bodyPr lIns="0" tIns="0" rIns="0" bIns="0" wrap="square" rtlCol="0"/>
          <a:lstStyle>
            <a:lvl1pPr algn="l" indent="0" marL="0">
              <a:lnSpc>
                <a:spcPct val="110000"/>
              </a:lnSpc>
              <a:buNone/>
              <a:defRPr lang="en-US" sz="2400" dirty="0">
                <a:solidFill>
                  <a:srgbClr val="FFFFFF"/>
                </a:solidFill>
                <a:latin typeface="PP Mori Semibold" pitchFamily="34" charset="0"/>
                <a:ea typeface="PP Mori Semibold" pitchFamily="34" charset="-122"/>
                <a:cs typeface="PP Mori Semibold" pitchFamily="34" charset="-120"/>
              </a:defRPr>
            </a:lvl1pPr>
          </a:lstStyle>
          <a:p>
            <a:pPr algn="l" indent="0" marL="0">
              <a:lnSpc>
                <a:spcPct val="110000"/>
              </a:lnSpc>
              <a:buNone/>
            </a:pPr>
            <a:r>
              <a:rPr lang="en-US" sz="2400" dirty="0">
                <a:solidFill>
                  <a:srgbClr val="FFFFFF"/>
                </a:solidFill>
                <a:latin typeface="PP Mori Semibold" pitchFamily="34" charset="0"/>
                <a:ea typeface="PP Mori Semibold" pitchFamily="34" charset="-122"/>
                <a:cs typeface="PP Mori Semibold" pitchFamily="34" charset="-120"/>
              </a:rPr>
              <a:t>Schlusssatz</a:t>
            </a:r>
            <a:endParaRPr lang="en-US" sz="2400" dirty="0"/>
          </a:p>
        </p:txBody>
      </p:sp>
      <p:sp>
        <p:nvSpPr>
          <p:cNvPr id="5" name="Text 1"/>
          <p:cNvSpPr/>
          <p:nvPr>
            <p:ph idx="103" type="body" hasCustomPrompt="1"/>
          </p:nvPr>
        </p:nvSpPr>
        <p:spPr>
          <a:xfrm>
            <a:off x="4818888" y="2395728"/>
            <a:ext cx="6760159" cy="2743200"/>
          </a:xfrm>
          <a:prstGeom prst="rect">
            <a:avLst/>
          </a:prstGeom>
          <a:noFill/>
          <a:ln/>
        </p:spPr>
        <p:txBody>
          <a:bodyPr lIns="0" tIns="0" rIns="0" bIns="0" wrap="square" rtlCol="0"/>
          <a:lstStyle>
            <a:lvl1pPr algn="l" indent="0" marL="0">
              <a:lnSpc>
                <a:spcPct val="135000"/>
              </a:lnSpc>
              <a:buNone/>
              <a:defRPr lang="en-US" sz="1200" dirty="0">
                <a:solidFill>
                  <a:srgbClr val="0E4D49"/>
                </a:solidFill>
                <a:latin typeface="PP Mori" pitchFamily="34" charset="0"/>
                <a:ea typeface="PP Mori" pitchFamily="34" charset="-122"/>
                <a:cs typeface="PP Mori" pitchFamily="34" charset="-120"/>
              </a:defRPr>
            </a:lvl1pPr>
          </a:lstStyle>
          <a:p>
            <a:pPr algn="l" indent="0" marL="0">
              <a:lnSpc>
                <a:spcPct val="135000"/>
              </a:lnSpc>
              <a:buNone/>
            </a:pPr>
            <a:r>
              <a:rPr lang="en-US" sz="1200" dirty="0">
                <a:solidFill>
                  <a:srgbClr val="0E4D49"/>
                </a:solidFill>
                <a:latin typeface="PP Mori" pitchFamily="34" charset="0"/>
                <a:ea typeface="PP Mori" pitchFamily="34" charset="-122"/>
                <a:cs typeface="PP Mori" pitchFamily="34" charset="-120"/>
              </a:rPr>
              <a:t>Kontakt</a:t>
            </a:r>
            <a:endParaRPr lang="en-US" sz="12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Leer">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1011</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9.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Web21" Type="http://schemas.openxmlformats.org/officeDocument/2006/relationships/image" Target="../media/web-2-image-2-1.png"/><Relationship Id="rIdWeb22" Type="http://schemas.openxmlformats.org/officeDocument/2006/relationships/image" Target="../media/web-2-image-2-10.svg"/><Relationship Id="rIdWeb23" Type="http://schemas.openxmlformats.org/officeDocument/2006/relationships/image" Target="../media/web-2-image-2-11.png"/><Relationship Id="rIdWeb24" Type="http://schemas.openxmlformats.org/officeDocument/2006/relationships/image" Target="../media/web-2-image-2-12.svg"/><Relationship Id="rIdWeb25" Type="http://schemas.openxmlformats.org/officeDocument/2006/relationships/image" Target="../media/web-2-image-2-13.png"/><Relationship Id="rIdWeb26" Type="http://schemas.openxmlformats.org/officeDocument/2006/relationships/image" Target="../media/web-2-image-2-14.svg"/><Relationship Id="rIdWeb27" Type="http://schemas.openxmlformats.org/officeDocument/2006/relationships/image" Target="../media/web-2-image-2-15.png"/><Relationship Id="rIdWeb28" Type="http://schemas.openxmlformats.org/officeDocument/2006/relationships/image" Target="../media/web-2-image-2-16.svg"/><Relationship Id="rIdWeb29" Type="http://schemas.openxmlformats.org/officeDocument/2006/relationships/image" Target="../media/web-2-image-2-2.svg"/><Relationship Id="rIdWeb210" Type="http://schemas.openxmlformats.org/officeDocument/2006/relationships/image" Target="../media/web-2-image-2-3.png"/><Relationship Id="rIdWeb211" Type="http://schemas.openxmlformats.org/officeDocument/2006/relationships/image" Target="../media/web-2-image-2-4.svg"/><Relationship Id="rIdWeb212" Type="http://schemas.openxmlformats.org/officeDocument/2006/relationships/image" Target="../media/web-2-image-2-5.png"/><Relationship Id="rIdWeb213" Type="http://schemas.openxmlformats.org/officeDocument/2006/relationships/image" Target="../media/web-2-image-2-6.svg"/><Relationship Id="rIdWeb214" Type="http://schemas.openxmlformats.org/officeDocument/2006/relationships/image" Target="../media/web-2-image-2-7.png"/><Relationship Id="rIdWeb215" Type="http://schemas.openxmlformats.org/officeDocument/2006/relationships/image" Target="../media/web-2-image-2-8.svg"/><Relationship Id="rIdWeb216" Type="http://schemas.openxmlformats.org/officeDocument/2006/relationships/image" Target="../media/web-2-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Web111" Type="http://schemas.openxmlformats.org/officeDocument/2006/relationships/image" Target="../media/web-11-image-11-1.png"/><Relationship Id="rIdWeb112" Type="http://schemas.openxmlformats.org/officeDocument/2006/relationships/image" Target="../media/web-11-image-11-10.svg"/><Relationship Id="rIdWeb113" Type="http://schemas.openxmlformats.org/officeDocument/2006/relationships/image" Target="../media/web-11-image-11-2.svg"/><Relationship Id="rIdWeb114" Type="http://schemas.openxmlformats.org/officeDocument/2006/relationships/image" Target="../media/web-11-image-11-3.png"/><Relationship Id="rIdWeb115" Type="http://schemas.openxmlformats.org/officeDocument/2006/relationships/image" Target="../media/web-11-image-11-4.svg"/><Relationship Id="rIdWeb116" Type="http://schemas.openxmlformats.org/officeDocument/2006/relationships/image" Target="../media/web-11-image-11-5.png"/><Relationship Id="rIdWeb117" Type="http://schemas.openxmlformats.org/officeDocument/2006/relationships/image" Target="../media/web-11-image-11-6.svg"/><Relationship Id="rIdWeb118" Type="http://schemas.openxmlformats.org/officeDocument/2006/relationships/image" Target="../media/web-11-image-11-7.png"/><Relationship Id="rIdWeb119" Type="http://schemas.openxmlformats.org/officeDocument/2006/relationships/image" Target="../media/web-11-image-11-8.svg"/><Relationship Id="rIdWeb1110" Type="http://schemas.openxmlformats.org/officeDocument/2006/relationships/image" Target="../media/web-11-image-1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612648" y="2011680"/>
            <a:ext cx="10966399" cy="274320"/>
          </a:xfrm>
          <a:prstGeom prst="rect">
            <a:avLst/>
          </a:prstGeom>
          <a:noFill/>
          <a:ln/>
        </p:spPr>
        <p:txBody>
          <a:bodyPr wrap="square" lIns="0" tIns="0" rIns="0" bIns="0" rtlCol="0" anchor="t"/>
          <a:lstStyle/>
          <a:p>
            <a:pPr algn="l" indent="0" marL="0">
              <a:lnSpc>
                <a:spcPct val="120000"/>
              </a:lnSpc>
              <a:buNone/>
            </a:pPr>
            <a:r>
              <a:rPr lang="en-US" sz="1000" spc="100" kern="0" dirty="0">
                <a:solidFill>
                  <a:srgbClr val="0E4D49"/>
                </a:solidFill>
                <a:latin typeface="PP Mori Semibold" pitchFamily="34" charset="0"/>
                <a:ea typeface="PP Mori Semibold" pitchFamily="34" charset="-122"/>
                <a:cs typeface="PP Mori Semibold" pitchFamily="34" charset="-120"/>
              </a:rPr>
              <a:t>CASI WHITEPAPER · NO. 1</a:t>
            </a:r>
            <a:endParaRPr lang="en-US" sz="1000" dirty="0"/>
          </a:p>
        </p:txBody>
      </p:sp>
      <p:sp>
        <p:nvSpPr>
          <p:cNvPr id="3" name="Text 0"/>
          <p:cNvSpPr/>
          <p:nvPr>
            <p:ph idx="102" type="title" hasCustomPrompt="1"/>
          </p:nvPr>
        </p:nvSpPr>
        <p:spPr>
          <a:xfrm>
            <a:off x="612648" y="2395728"/>
            <a:ext cx="10966399" cy="1645920"/>
          </a:xfrm>
          <a:prstGeom prst="rect">
            <a:avLst/>
          </a:prstGeom>
          <a:noFill/>
          <a:ln/>
        </p:spPr>
        <p:txBody>
          <a:bodyPr wrap="square" lIns="0" tIns="0" rIns="0" bIns="0" rtlCol="0" anchor="t"/>
          <a:lstStyle/>
          <a:p>
            <a:pPr algn="l" indent="0" marL="0">
              <a:lnSpc>
                <a:spcPct val="105000"/>
              </a:lnSpc>
              <a:buNone/>
            </a:pPr>
            <a:r>
              <a:rPr lang="en-US" sz="4000" dirty="0">
                <a:solidFill>
                  <a:srgbClr val="0E4D49"/>
                </a:solidFill>
                <a:latin typeface="PP Mori Semibold" pitchFamily="34" charset="0"/>
                <a:ea typeface="PP Mori Semibold" pitchFamily="34" charset="-122"/>
                <a:cs typeface="PP Mori Semibold" pitchFamily="34" charset="-120"/>
              </a:rPr>
              <a:t>Foundations of Integrated Corporate Carbon Accounting</a:t>
            </a:r>
            <a:endParaRPr lang="en-US" sz="4000" dirty="0"/>
          </a:p>
        </p:txBody>
      </p:sp>
      <p:sp>
        <p:nvSpPr>
          <p:cNvPr id="4" name="Text 0"/>
          <p:cNvSpPr/>
          <p:nvPr>
            <p:ph idx="103" type="body" hasCustomPrompt="1"/>
          </p:nvPr>
        </p:nvSpPr>
        <p:spPr>
          <a:xfrm>
            <a:off x="612648" y="4160520"/>
            <a:ext cx="8224799" cy="822960"/>
          </a:xfrm>
          <a:prstGeom prst="rect">
            <a:avLst/>
          </a:prstGeom>
          <a:noFill/>
          <a:ln/>
        </p:spPr>
        <p:txBody>
          <a:bodyPr wrap="square" lIns="0" tIns="0" rIns="0" bIns="0" rtlCol="0" anchor="t"/>
          <a:lstStyle/>
          <a:p>
            <a:pPr algn="l" indent="0" marL="0">
              <a:lnSpc>
                <a:spcPct val="120000"/>
              </a:lnSpc>
              <a:buNone/>
            </a:pPr>
            <a:r>
              <a:rPr lang="en-US" sz="1400" dirty="0">
                <a:solidFill>
                  <a:srgbClr val="5F7471"/>
                </a:solidFill>
                <a:latin typeface="PP Mori" pitchFamily="34" charset="0"/>
                <a:ea typeface="PP Mori" pitchFamily="34" charset="-122"/>
                <a:cs typeface="PP Mori" pitchFamily="34" charset="-120"/>
              </a:rPr>
              <a:t>C. Ernst · S. Reichelstein · G. Ormazabal · T. Sellhorn</a:t>
            </a:r>
            <a:endParaRPr lang="en-US" sz="1400" dirty="0"/>
          </a:p>
        </p:txBody>
      </p:sp>
      <p:sp>
        <p:nvSpPr>
          <p:cNvPr id="5" name="Text 0"/>
          <p:cNvSpPr/>
          <p:nvPr>
            <p:ph idx="104" type="body" hasCustomPrompt="1"/>
          </p:nvPr>
        </p:nvSpPr>
        <p:spPr>
          <a:xfrm>
            <a:off x="612648" y="6126480"/>
            <a:ext cx="10966399" cy="274320"/>
          </a:xfrm>
          <a:prstGeom prst="rect">
            <a:avLst/>
          </a:prstGeom>
          <a:noFill/>
          <a:ln/>
        </p:spPr>
        <p:txBody>
          <a:bodyPr wrap="square" lIns="0" tIns="0" rIns="0" bIns="0" rtlCol="0" anchor="t"/>
          <a:lstStyle/>
          <a:p>
            <a:pPr algn="l" indent="0" marL="0">
              <a:lnSpc>
                <a:spcPct val="120000"/>
              </a:lnSpc>
              <a:buNone/>
            </a:pPr>
            <a:r>
              <a:rPr lang="en-US" sz="900" dirty="0">
                <a:solidFill>
                  <a:srgbClr val="5F7471"/>
                </a:solidFill>
                <a:latin typeface="PP Mori" pitchFamily="34" charset="0"/>
                <a:ea typeface="PP Mori" pitchFamily="34" charset="-122"/>
                <a:cs typeface="PP Mori" pitchFamily="34" charset="-120"/>
              </a:rPr>
              <a:t>The Carbon Accounting Standards Initiative (CASI) · October 2025, revised December 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12648" y="2011680"/>
            <a:ext cx="10966399" cy="274320"/>
          </a:xfrm>
          <a:prstGeom prst="rect">
            <a:avLst/>
          </a:prstGeom>
          <a:noFill/>
          <a:ln/>
        </p:spPr>
        <p:txBody>
          <a:bodyPr wrap="square" lIns="0" tIns="0" rIns="0" bIns="0" rtlCol="0" anchor="t"/>
          <a:lstStyle/>
          <a:p>
            <a:pPr algn="l" indent="0" marL="0">
              <a:lnSpc>
                <a:spcPct val="120000"/>
              </a:lnSpc>
              <a:buNone/>
            </a:pPr>
            <a:r>
              <a:rPr lang="en-US" sz="1000" dirty="0">
                <a:solidFill>
                  <a:srgbClr val="0E4D49"/>
                </a:solidFill>
                <a:latin typeface="PP Mori Semibold" pitchFamily="34" charset="0"/>
                <a:ea typeface="PP Mori Semibold" pitchFamily="34" charset="-122"/>
                <a:cs typeface="PP Mori Semibold" pitchFamily="34" charset="-120"/>
              </a:rPr>
              <a:t>Section 1</a:t>
            </a:r>
            <a:endParaRPr lang="en-US" sz="1000" dirty="0"/>
          </a:p>
        </p:txBody>
      </p:sp>
      <p:sp>
        <p:nvSpPr>
          <p:cNvPr id="3" name="Text 0"/>
          <p:cNvSpPr/>
          <p:nvPr>
            <p:ph idx="101" type="title" hasCustomPrompt="1"/>
          </p:nvPr>
        </p:nvSpPr>
        <p:spPr>
          <a:xfrm>
            <a:off x="612648" y="2395728"/>
            <a:ext cx="10966399" cy="1463040"/>
          </a:xfrm>
          <a:prstGeom prst="rect">
            <a:avLst/>
          </a:prstGeom>
          <a:noFill/>
          <a:ln/>
        </p:spPr>
        <p:txBody>
          <a:bodyPr wrap="square" lIns="0" tIns="0" rIns="0" bIns="0" rtlCol="0" anchor="t"/>
          <a:lstStyle/>
          <a:p>
            <a:pPr algn="l" indent="0" marL="0">
              <a:lnSpc>
                <a:spcPct val="105000"/>
              </a:lnSpc>
              <a:buNone/>
            </a:pPr>
            <a:r>
              <a:rPr lang="en-US" sz="3000" dirty="0">
                <a:solidFill>
                  <a:srgbClr val="0E4D49"/>
                </a:solidFill>
                <a:latin typeface="PP Mori Semibold" pitchFamily="34" charset="0"/>
                <a:ea typeface="PP Mori Semibold" pitchFamily="34" charset="-122"/>
                <a:cs typeface="PP Mori Semibold" pitchFamily="34" charset="-120"/>
              </a:rPr>
              <a:t>1  The Quest for Corporate Carbon Accounting</a:t>
            </a:r>
            <a:endParaRPr lang="en-US" sz="30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Executive Summary</a:t>
            </a:r>
            <a:endParaRPr lang="en-US" sz="1700" dirty="0"/>
          </a:p>
        </p:txBody>
      </p:sp>
      <p:sp>
        <p:nvSpPr>
          <p:cNvPr id="3" name="Text 0"/>
          <p:cNvSpPr/>
          <p:nvPr>
            <p:ph idx="101" type="body" hasCustomPrompt="1"/>
          </p:nvPr>
        </p:nvSpPr>
        <p:spPr>
          <a:xfrm>
            <a:off x="612648" y="960120"/>
            <a:ext cx="10966399" cy="5440680"/>
          </a:xfrm>
          <a:prstGeom prst="rect">
            <a:avLst/>
          </a:prstGeom>
          <a:noFill/>
          <a:ln/>
        </p:spPr>
        <p:txBody>
          <a:bodyPr wrap="square" lIns="0" tIns="0" rIns="0" bIns="0" rtlCol="0" anchor="t"/>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Businesses in a wide range of industries are increasingly considered responsible not only for their own direct carbon emissions but also for the emissions embodied in their sales products. This whitepaper describes the structure of Integrated Corporate Carbon Accounting (ICCA) systems that track an entity’s direct (Scope 1) and indirect (Scope 2 and upstream Scope 3) emissions over time in order to calculate key carbon emission metrics.</a:t>
            </a:r>
            <a:endParaRPr lang="en-US" sz="1200" dirty="0"/>
          </a:p>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Akin to product costing in financial accounting, ICCA systems determine the cradle-to-gate Product Carbon Footprints (PCFs) of products sold in the current time period on the basis of the company’s actual direct emissions, its operational activities, and the PCFs attributed to production inputs sourced from suppliers. The aggregate PCFs of products sold then become a central building block for determining a company’s periodic Corporate Carbon Footprint (CCF). By separating carbon stock variables from carbon flow variables, ICCA systems track emissions consistently across different time periods. Double-entry bookkeeping enables a particular ICCA architecture that records the carbon stock variables on a CO2 balance sheet, resulting in overall CO2 statements that are structurally similar to financial statements.</a:t>
            </a:r>
            <a:endParaRPr lang="en-US" sz="12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3  Core Principles of Integrated Corporate Carbon Accounting</a:t>
            </a:r>
            <a:endParaRPr lang="en-US" sz="1700" dirty="0"/>
          </a:p>
        </p:txBody>
      </p:sp>
      <p:sp>
        <p:nvSpPr>
          <p:cNvPr id="3" name="Text 0"/>
          <p:cNvSpPr/>
          <p:nvPr>
            <p:ph idx="101" type="body" hasCustomPrompt="1"/>
          </p:nvPr>
        </p:nvSpPr>
        <p:spPr>
          <a:xfrm>
            <a:off x="612648" y="960120"/>
            <a:ext cx="5300320" cy="5440680"/>
          </a:xfrm>
          <a:prstGeom prst="rect">
            <a:avLst/>
          </a:prstGeom>
          <a:noFill/>
          <a:ln/>
        </p:spPr>
        <p:txBody>
          <a:bodyPr wrap="square" lIns="0" tIns="0" rIns="0" bIns="0" rtlCol="0" anchor="t"/>
          <a:lstStyle/>
          <a:p>
            <a:pPr algn="l" indent="0" marL="0">
              <a:lnSpc>
                <a:spcPct val="135000"/>
              </a:lnSpc>
              <a:spcAft>
                <a:spcPts val="600"/>
              </a:spcAft>
              <a:buNone/>
            </a:pPr>
            <a:r>
              <a:rPr lang="en-US" sz="1200" dirty="0">
                <a:solidFill>
                  <a:srgbClr val="0E4D49"/>
                </a:solidFill>
                <a:latin typeface="PP Mori Semibold" pitchFamily="34" charset="0"/>
                <a:ea typeface="PP Mori Semibold" pitchFamily="34" charset="-122"/>
                <a:cs typeface="PP Mori Semibold" pitchFamily="34" charset="-120"/>
              </a:rPr>
              <a:t>Completeness</a:t>
            </a:r>
            <a:endParaRPr lang="en-US" sz="1200" dirty="0"/>
          </a:p>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Companies account and assume responsibility for their own direct (Scope 1) emissions and the indirect emissions embodied in acquired inputs and services (Scope 2 and upstream Scope 3) during an accounting period. An ICCA system is therefore complete if the carbon ledger records all direct and upstream indirect emissions corresponding to incoming goods and services received by the business.</a:t>
            </a:r>
            <a:endParaRPr lang="en-US" sz="1200" dirty="0"/>
          </a:p>
        </p:txBody>
      </p:sp>
      <p:sp>
        <p:nvSpPr>
          <p:cNvPr id="4" name="Text 0"/>
          <p:cNvSpPr/>
          <p:nvPr>
            <p:ph idx="102" type="body" hasCustomPrompt="1"/>
          </p:nvPr>
        </p:nvSpPr>
        <p:spPr>
          <a:xfrm>
            <a:off x="6278728" y="960120"/>
            <a:ext cx="5300320" cy="5440680"/>
          </a:xfrm>
          <a:prstGeom prst="rect">
            <a:avLst/>
          </a:prstGeom>
          <a:noFill/>
          <a:ln/>
        </p:spPr>
        <p:txBody>
          <a:bodyPr wrap="square" lIns="0" tIns="0" rIns="0" bIns="0" rtlCol="0" anchor="t"/>
          <a:lstStyle/>
          <a:p>
            <a:pPr algn="l" indent="0" marL="0">
              <a:lnSpc>
                <a:spcPct val="135000"/>
              </a:lnSpc>
              <a:spcAft>
                <a:spcPts val="600"/>
              </a:spcAft>
              <a:buNone/>
            </a:pPr>
            <a:r>
              <a:rPr lang="en-US" sz="1200" dirty="0">
                <a:solidFill>
                  <a:srgbClr val="0E4D49"/>
                </a:solidFill>
                <a:latin typeface="PP Mori Semibold" pitchFamily="34" charset="0"/>
                <a:ea typeface="PP Mori Semibold" pitchFamily="34" charset="-122"/>
                <a:cs typeface="PP Mori Semibold" pitchFamily="34" charset="-120"/>
              </a:rPr>
              <a:t>Timely Recognition</a:t>
            </a:r>
            <a:endParaRPr lang="en-US" sz="1200" dirty="0"/>
          </a:p>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Direct (Scope 1) emissions and direct removals are recorded in the carbon ledger for the accounting period in which they occur. Indirect emissions are recorded in the carbon ledger in the same time period in which customers acquire (take control of) goods and services. The carbon ledger must include accounts for carbon stock variables that capitalize any incoming emissions that are not recorded directly in the current CCF metric.</a:t>
            </a:r>
            <a:endParaRPr lang="en-US" sz="12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Introducing the Carbon Accounting Standards Initiative (CASI)</a:t>
            </a:r>
            <a:endParaRPr lang="en-US" sz="1700" dirty="0"/>
          </a:p>
        </p:txBody>
      </p:sp>
      <p:sp>
        <p:nvSpPr>
          <p:cNvPr id="3" name="Text 0"/>
          <p:cNvSpPr/>
          <p:nvPr>
            <p:ph idx="101" type="body" hasCustomPrompt="1"/>
          </p:nvPr>
        </p:nvSpPr>
        <p:spPr>
          <a:xfrm>
            <a:off x="612648" y="960120"/>
            <a:ext cx="6760159" cy="5440680"/>
          </a:xfrm>
          <a:prstGeom prst="rect">
            <a:avLst/>
          </a:prstGeom>
          <a:noFill/>
          <a:ln/>
        </p:spPr>
        <p:txBody>
          <a:bodyPr wrap="square" lIns="0" tIns="0" rIns="0" bIns="0" rtlCol="0" anchor="t"/>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This whitepaper provides the foundational statement for a newly formed initiative, termed the Carbon Accounting Standards Initiative (CASI). We are a working group of company representatives and academics from the fields of accounting, corporate reporting, and climate sustainability. We are united by the belief that effective decarbonization depends on reliable investor-grade emissions data and that the principles of financial accounting offer a useful foundation for reliable carbon accounting at the corporate level. Ultimately, corporate carbon accounting must evolve to the point where emissions are tracked, allocated, and reported with the same rigor and structure as financial transactions.</a:t>
            </a:r>
            <a:endParaRPr lang="en-US" sz="1200" dirty="0"/>
          </a:p>
        </p:txBody>
      </p:sp>
      <p:sp>
        <p:nvSpPr>
          <p:cNvPr id="4" name="Text 0"/>
          <p:cNvSpPr/>
          <p:nvPr>
            <p:ph idx="102" type="body" hasCustomPrompt="1"/>
          </p:nvPr>
        </p:nvSpPr>
        <p:spPr>
          <a:xfrm>
            <a:off x="7738567" y="960120"/>
            <a:ext cx="3840480" cy="3520440"/>
          </a:xfrm>
          <a:prstGeom prst="roundRect">
            <a:avLst>
              <a:gd name="adj" fmla="val 2597"/>
            </a:avLst>
          </a:prstGeom>
          <a:solidFill>
            <a:srgbClr val="EEF2F1"/>
          </a:solidFill>
          <a:ln>
            <a:noFill/>
          </a:ln>
        </p:spPr>
        <p:txBody>
          <a:bodyPr wrap="square" lIns="274320" tIns="274320" rIns="274320" bIns="274320" rtlCol="0" anchor="t">
            <a:noAutofit/>
          </a:bodyPr>
          <a:lstStyle/>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In this first whitepaper we introduce the framework of Integrated Corporate Carbon Accounting (ICCA). Such accounting systems ensure that product-level carbon footprints (PCFs) seamlessly integrate with company-level carbon footprints (CCFs). Unlike existing approaches, ICCA applies rigorous accounting logic to GHG emissions and offsets, thereby enabling a coherent, reconcilable, and audit-ready infrastructure for carbon reporting.</a:t>
            </a:r>
            <a:endParaRPr lang="en-US" sz="12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3  Core Principles of Integrated Corporate Carbon Accounting</a:t>
            </a:r>
            <a:endParaRPr lang="en-US" sz="1700" dirty="0"/>
          </a:p>
        </p:txBody>
      </p:sp>
      <p:sp>
        <p:nvSpPr>
          <p:cNvPr id="3" name="Text 0"/>
          <p:cNvSpPr/>
          <p:nvPr>
            <p:ph idx="101" type="body" hasCustomPrompt="1"/>
          </p:nvPr>
        </p:nvSpPr>
        <p:spPr>
          <a:xfrm>
            <a:off x="612648" y="960120"/>
            <a:ext cx="5300320" cy="4339589"/>
          </a:xfrm>
          <a:prstGeom prst="roundRect">
            <a:avLst>
              <a:gd name="adj" fmla="val 2107"/>
            </a:avLst>
          </a:prstGeom>
          <a:solidFill>
            <a:srgbClr val="EEF2F1"/>
          </a:solidFill>
          <a:ln>
            <a:noFill/>
          </a:ln>
        </p:spPr>
        <p:txBody>
          <a:bodyPr wrap="square" lIns="274320" tIns="274320" rIns="274320" bIns="274320" rtlCol="0" anchor="t">
            <a:noAutofit/>
          </a:bodyPr>
          <a:lstStyle/>
          <a:p>
            <a:pPr algn="l" indent="0" marL="0">
              <a:lnSpc>
                <a:spcPct val="135000"/>
              </a:lnSpc>
              <a:spcAft>
                <a:spcPts val="600"/>
              </a:spcAft>
              <a:buNone/>
            </a:pPr>
            <a:r>
              <a:rPr lang="en-US" sz="1200" dirty="0">
                <a:solidFill>
                  <a:srgbClr val="0E4D49"/>
                </a:solidFill>
                <a:latin typeface="PP Mori Semibold" pitchFamily="34" charset="0"/>
                <a:ea typeface="PP Mori Semibold" pitchFamily="34" charset="-122"/>
                <a:cs typeface="PP Mori Semibold" pitchFamily="34" charset="-120"/>
              </a:rPr>
              <a:t>Accuracy</a:t>
            </a:r>
            <a:endParaRPr lang="en-US" sz="1200" dirty="0"/>
          </a:p>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ICCA systems become more accurate as data inputs about indirect supply chain emissions are increasingly based on primary data that represent the actual emissions incurred in the supply chain. Accuracy will therefore improve as more companies in an entity’s supply network adopt their own ICCA systems. Recent contributions have proposed to quantify the level of accuracy by means of a Data Quality Scoring (DQS) index.</a:t>
            </a:r>
            <a:endParaRPr lang="en-US" sz="1200" dirty="0"/>
          </a:p>
        </p:txBody>
      </p:sp>
      <p:sp>
        <p:nvSpPr>
          <p:cNvPr id="4" name="Text 0"/>
          <p:cNvSpPr/>
          <p:nvPr>
            <p:ph idx="102" type="body" hasCustomPrompt="1"/>
          </p:nvPr>
        </p:nvSpPr>
        <p:spPr>
          <a:xfrm>
            <a:off x="6278728" y="960120"/>
            <a:ext cx="5300320" cy="4339589"/>
          </a:xfrm>
          <a:prstGeom prst="roundRect">
            <a:avLst>
              <a:gd name="adj" fmla="val 2107"/>
            </a:avLst>
          </a:prstGeom>
          <a:solidFill>
            <a:srgbClr val="EEF2F1"/>
          </a:solidFill>
          <a:ln>
            <a:noFill/>
          </a:ln>
        </p:spPr>
        <p:txBody>
          <a:bodyPr wrap="square" lIns="274320" tIns="274320" rIns="274320" bIns="274320" rtlCol="0" anchor="t">
            <a:noAutofit/>
          </a:bodyPr>
          <a:lstStyle/>
          <a:p>
            <a:pPr algn="l" indent="0" marL="0">
              <a:lnSpc>
                <a:spcPct val="135000"/>
              </a:lnSpc>
              <a:spcAft>
                <a:spcPts val="600"/>
              </a:spcAft>
              <a:buNone/>
            </a:pPr>
            <a:r>
              <a:rPr lang="en-US" sz="1200" dirty="0">
                <a:solidFill>
                  <a:srgbClr val="0E4D49"/>
                </a:solidFill>
                <a:latin typeface="PP Mori Semibold" pitchFamily="34" charset="0"/>
                <a:ea typeface="PP Mori Semibold" pitchFamily="34" charset="-122"/>
                <a:cs typeface="PP Mori Semibold" pitchFamily="34" charset="-120"/>
              </a:rPr>
              <a:t>Unbiasedness</a:t>
            </a:r>
            <a:endParaRPr lang="en-US" sz="1200" dirty="0"/>
          </a:p>
          <a:p>
            <a:pPr algn="l" indent="0" marL="0">
              <a:lnSpc>
                <a:spcPct val="135000"/>
              </a:lnSpc>
              <a:spcAft>
                <a:spcPts val="600"/>
              </a:spcAft>
              <a:buNone/>
            </a:pPr>
            <a:r>
              <a:rPr lang="en-US" sz="1200" dirty="0">
                <a:solidFill>
                  <a:srgbClr val="0E4D49"/>
                </a:solidFill>
                <a:latin typeface="IBM Plex Serif" pitchFamily="34" charset="0"/>
                <a:ea typeface="IBM Plex Serif" pitchFamily="34" charset="-122"/>
                <a:cs typeface="IBM Plex Serif" pitchFamily="34" charset="-120"/>
              </a:rPr>
              <a:t>In most industries, the calculation of CCFs and PCFs requires pools of overhead emissions to be prorated (allocated) among different time periods and products. Such pools of overhead emissions frequently emerge in connection with shared assets or consumable inputs (e.g., electricity) that are used by multiple products. The principle of unbiasedness requires the applicable allocation rules to capture the causal link between emissions associated with specific production activities and the extent to which different products require these activities. While allocation rules that reflect the underlying causal links are intended to limit selective greenwashing, companies will generally retain some discretion in choosing among alternative allocation rules which meet this criterion.</a:t>
            </a:r>
            <a:endParaRPr lang="en-US" sz="12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2  The Structure of Integrated Corporate Carbon Accounting (ICCA) Systems</a:t>
            </a:r>
            <a:endParaRPr lang="en-US" sz="1700" dirty="0"/>
          </a:p>
        </p:txBody>
      </p:sp>
      <p:pic>
        <p:nvPicPr>
          <p:cNvPr id="3" name="Image 0" descr="Figure 3  Schematic for Integrated Corporate Carbon Accounting: data inputs, the carbon ledger and the resulting carbon metrics.">    </p:cNvPr>
          <p:cNvPicPr>
            <a:picLocks noChangeAspect="1"/>
          </p:cNvPicPr>
          <p:nvPr/>
        </p:nvPicPr>
        <p:blipFill>
          <a:blip r:embed="rId1"/>
          <a:stretch>
            <a:fillRect/>
          </a:stretch>
        </p:blipFill>
        <p:spPr>
          <a:xfrm>
            <a:off x="612648" y="960120"/>
            <a:ext cx="7438888" cy="4892040"/>
          </a:xfrm>
          <a:prstGeom prst="rect">
            <a:avLst/>
          </a:prstGeom>
        </p:spPr>
      </p:pic>
      <p:sp>
        <p:nvSpPr>
          <p:cNvPr id="4" name="Text 0"/>
          <p:cNvSpPr/>
          <p:nvPr>
            <p:ph idx="102" type="body" hasCustomPrompt="1"/>
          </p:nvPr>
        </p:nvSpPr>
        <p:spPr>
          <a:xfrm>
            <a:off x="612648" y="5989320"/>
            <a:ext cx="10966399" cy="365760"/>
          </a:xfrm>
          <a:prstGeom prst="rect">
            <a:avLst/>
          </a:prstGeom>
          <a:noFill/>
          <a:ln/>
        </p:spPr>
        <p:txBody>
          <a:bodyPr wrap="square" lIns="0" tIns="0" rIns="0" bIns="0" rtlCol="0" anchor="t"/>
          <a:lstStyle/>
          <a:p>
            <a:pPr algn="l" indent="0" marL="0">
              <a:lnSpc>
                <a:spcPct val="120000"/>
              </a:lnSpc>
              <a:buNone/>
            </a:pPr>
            <a:r>
              <a:rPr lang="en-US" sz="750" dirty="0">
                <a:solidFill>
                  <a:srgbClr val="5F7471"/>
                </a:solidFill>
                <a:latin typeface="PP Mori" pitchFamily="34" charset="0"/>
                <a:ea typeface="PP Mori" pitchFamily="34" charset="-122"/>
                <a:cs typeface="PP Mori" pitchFamily="34" charset="-120"/>
              </a:rPr>
              <a:t>Figure 3  Schematic for Integrated Corporate Carbon Accounting: data inputs, the carbon ledger and the resulting carbon metrics.</a:t>
            </a:r>
            <a:endParaRPr lang="en-US" sz="750" dirty="0"/>
          </a:p>
        </p:txBody>
      </p:sp>
      <p:sp>
        <p:nvSpPr>
          <p:cNvPr id="5" name="Text 0"/>
          <p:cNvSpPr/>
          <p:nvPr>
            <p:ph idx="101" hasCustomPrompt="1"/>
          </p:nvPr>
        </p:nvSpPr>
        <p:spPr>
          <a:xfrm>
            <a:off x="612648" y="960120"/>
            <a:ext cx="10966399" cy="489204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Integrated Corporate Carbon Accounting (ICCA)</a:t>
            </a:r>
            <a:endParaRPr lang="en-US" sz="17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8</a:t>
            </a:fld>
            <a:endParaRPr lang="en-US"/>
          </a:p>
        </p:txBody>
      </p:sp>
      <p:sp>
        <p:nvSpPr>
          <p:cNvPr id="1001" name="Shape 4"/>
          <p:cNvSpPr/>
          <p:nvPr/>
        </p:nvSpPr>
        <p:spPr>
          <a:xfrm>
            <a:off x="4306117" y="1904524"/>
            <a:ext cx="220930" cy="0"/>
          </a:xfrm>
          <a:prstGeom prst="line">
            <a:avLst/>
          </a:prstGeom>
          <a:noFill/>
          <a:ln w="16510">
            <a:solidFill>
              <a:srgbClr val="93AFAD"/>
            </a:solidFill>
            <a:prstDash val="solid"/>
          </a:ln>
        </p:spPr>
      </p:sp>
      <p:sp>
        <p:nvSpPr>
          <p:cNvPr id="1002" name="Shape 5"/>
          <p:cNvSpPr/>
          <p:nvPr/>
        </p:nvSpPr>
        <p:spPr>
          <a:xfrm>
            <a:off x="4527047" y="1904524"/>
            <a:ext cx="0" cy="3585862"/>
          </a:xfrm>
          <a:prstGeom prst="line">
            <a:avLst/>
          </a:prstGeom>
          <a:noFill/>
          <a:ln w="16510">
            <a:solidFill>
              <a:srgbClr val="93AFAD"/>
            </a:solidFill>
            <a:prstDash val="solid"/>
          </a:ln>
        </p:spPr>
      </p:sp>
      <p:sp>
        <p:nvSpPr>
          <p:cNvPr id="1003" name="Shape 6"/>
          <p:cNvSpPr/>
          <p:nvPr/>
        </p:nvSpPr>
        <p:spPr>
          <a:xfrm>
            <a:off x="4306117" y="3688957"/>
            <a:ext cx="441860" cy="0"/>
          </a:xfrm>
          <a:prstGeom prst="line">
            <a:avLst/>
          </a:prstGeom>
          <a:noFill/>
          <a:ln w="16510">
            <a:solidFill>
              <a:srgbClr val="93AFAD"/>
            </a:solidFill>
            <a:prstDash val="solid"/>
          </a:ln>
        </p:spPr>
      </p:sp>
      <p:sp>
        <p:nvSpPr>
          <p:cNvPr id="1004" name="Shape 7"/>
          <p:cNvSpPr/>
          <p:nvPr/>
        </p:nvSpPr>
        <p:spPr>
          <a:xfrm>
            <a:off x="4306117" y="5490385"/>
            <a:ext cx="220930" cy="0"/>
          </a:xfrm>
          <a:prstGeom prst="line">
            <a:avLst/>
          </a:prstGeom>
          <a:noFill/>
          <a:ln w="16510">
            <a:solidFill>
              <a:srgbClr val="93AFAD"/>
            </a:solidFill>
            <a:prstDash val="solid"/>
          </a:ln>
        </p:spPr>
      </p:sp>
      <p:sp>
        <p:nvSpPr>
          <p:cNvPr id="1005" name="Shape 8"/>
          <p:cNvSpPr/>
          <p:nvPr/>
        </p:nvSpPr>
        <p:spPr>
          <a:xfrm>
            <a:off x="7450119" y="3705952"/>
            <a:ext cx="237924" cy="0"/>
          </a:xfrm>
          <a:prstGeom prst="line">
            <a:avLst/>
          </a:prstGeom>
          <a:noFill/>
          <a:ln w="16510">
            <a:solidFill>
              <a:srgbClr val="CB96A6"/>
            </a:solidFill>
            <a:prstDash val="solid"/>
          </a:ln>
        </p:spPr>
      </p:sp>
      <p:sp>
        <p:nvSpPr>
          <p:cNvPr id="1006" name="Shape 9"/>
          <p:cNvSpPr/>
          <p:nvPr/>
        </p:nvSpPr>
        <p:spPr>
          <a:xfrm>
            <a:off x="7688044" y="1700588"/>
            <a:ext cx="0" cy="4010727"/>
          </a:xfrm>
          <a:prstGeom prst="line">
            <a:avLst/>
          </a:prstGeom>
          <a:noFill/>
          <a:ln w="16510">
            <a:solidFill>
              <a:srgbClr val="CB96A6"/>
            </a:solidFill>
            <a:prstDash val="solid"/>
          </a:ln>
        </p:spPr>
      </p:sp>
      <p:sp>
        <p:nvSpPr>
          <p:cNvPr id="1007" name="Shape 10"/>
          <p:cNvSpPr/>
          <p:nvPr/>
        </p:nvSpPr>
        <p:spPr>
          <a:xfrm>
            <a:off x="7688044" y="1700588"/>
            <a:ext cx="220930" cy="0"/>
          </a:xfrm>
          <a:prstGeom prst="line">
            <a:avLst/>
          </a:prstGeom>
          <a:noFill/>
          <a:ln w="16510">
            <a:solidFill>
              <a:srgbClr val="CB96A6"/>
            </a:solidFill>
            <a:prstDash val="solid"/>
          </a:ln>
        </p:spPr>
      </p:sp>
      <p:sp>
        <p:nvSpPr>
          <p:cNvPr id="1008" name="Shape 11"/>
          <p:cNvSpPr/>
          <p:nvPr/>
        </p:nvSpPr>
        <p:spPr>
          <a:xfrm>
            <a:off x="7688044" y="3043162"/>
            <a:ext cx="220930" cy="0"/>
          </a:xfrm>
          <a:prstGeom prst="line">
            <a:avLst/>
          </a:prstGeom>
          <a:noFill/>
          <a:ln w="16510">
            <a:solidFill>
              <a:srgbClr val="CB96A6"/>
            </a:solidFill>
            <a:prstDash val="solid"/>
          </a:ln>
        </p:spPr>
      </p:sp>
      <p:sp>
        <p:nvSpPr>
          <p:cNvPr id="1009" name="Shape 12"/>
          <p:cNvSpPr/>
          <p:nvPr/>
        </p:nvSpPr>
        <p:spPr>
          <a:xfrm>
            <a:off x="7688044" y="4368742"/>
            <a:ext cx="220930" cy="0"/>
          </a:xfrm>
          <a:prstGeom prst="line">
            <a:avLst/>
          </a:prstGeom>
          <a:noFill/>
          <a:ln w="16510">
            <a:solidFill>
              <a:srgbClr val="CB96A6"/>
            </a:solidFill>
            <a:prstDash val="solid"/>
          </a:ln>
        </p:spPr>
      </p:sp>
      <p:sp>
        <p:nvSpPr>
          <p:cNvPr id="1010" name="Shape 13"/>
          <p:cNvSpPr/>
          <p:nvPr/>
        </p:nvSpPr>
        <p:spPr>
          <a:xfrm>
            <a:off x="7688044" y="5711315"/>
            <a:ext cx="220930" cy="0"/>
          </a:xfrm>
          <a:prstGeom prst="line">
            <a:avLst/>
          </a:prstGeom>
          <a:noFill/>
          <a:ln w="16510">
            <a:solidFill>
              <a:srgbClr val="CB96A6"/>
            </a:solidFill>
            <a:prstDash val="solid"/>
          </a:ln>
        </p:spPr>
      </p:sp>
      <p:sp>
        <p:nvSpPr>
          <p:cNvPr id="1011" name="Shape 14"/>
          <p:cNvSpPr/>
          <p:nvPr/>
        </p:nvSpPr>
        <p:spPr>
          <a:xfrm>
            <a:off x="1688948" y="1105777"/>
            <a:ext cx="2607610" cy="1569080"/>
          </a:xfrm>
          <a:prstGeom prst="roundRect">
            <a:avLst>
              <a:gd name="adj" fmla="val 8123"/>
            </a:avLst>
          </a:prstGeom>
          <a:solidFill>
            <a:srgbClr val="FFFFFF"/>
          </a:solidFill>
          <a:ln w="16510">
            <a:solidFill>
              <a:srgbClr val="C5D4D3"/>
            </a:solidFill>
            <a:prstDash val="solid"/>
          </a:ln>
        </p:spPr>
      </p:sp>
      <p:pic>
        <p:nvPicPr>
          <p:cNvPr id="1012" name="Image 0" descr="preencoded.png">    </p:cNvPr>
          <p:cNvPicPr>
            <a:picLocks noChangeAspect="1"/>
          </p:cNvPicPr>
          <p:nvPr/>
        </p:nvPicPr>
        <p:blipFill>
          <a:blip r:embed="rIdWeb21">
            <a:extLst>
              <a:ext uri="{96DAC541-7B7A-43D3-8B79-37D633B846F1}">
                <asvg:svgBlip xmlns:asvg="http://schemas.microsoft.com/office/drawing/2016/SVG/main" r:embed="rIdWeb29"/>
              </a:ext>
            </a:extLst>
          </a:blip>
          <a:stretch>
            <a:fillRect/>
          </a:stretch>
        </p:blipFill>
        <p:spPr>
          <a:xfrm>
            <a:off x="1867391" y="1652260"/>
            <a:ext cx="475849" cy="475849"/>
          </a:xfrm>
          <a:prstGeom prst="rect">
            <a:avLst/>
          </a:prstGeom>
        </p:spPr>
      </p:pic>
      <p:sp>
        <p:nvSpPr>
          <p:cNvPr id="1013" name="Text 15"/>
          <p:cNvSpPr txBox="1"/>
          <p:nvPr/>
        </p:nvSpPr>
        <p:spPr>
          <a:xfrm>
            <a:off x="2479197" y="1562614"/>
            <a:ext cx="1401021" cy="611806"/>
          </a:xfrm>
          <a:prstGeom prst="rect">
            <a:avLst/>
          </a:prstGeom>
          <a:noFill/>
          <a:ln/>
        </p:spPr>
        <p:txBody>
          <a:bodyPr wrap="none" lIns="0" tIns="0" rIns="0" bIns="0" rtlCol="0" anchor="ctr"/>
          <a:lstStyle/>
          <a:p>
            <a:pPr algn="l" indent="0" marL="0">
              <a:lnSpc>
                <a:spcPts val="2410"/>
              </a:lnSpc>
              <a:buNone/>
            </a:pPr>
            <a:r>
              <a:rPr lang="en-US" sz="2010" dirty="0">
                <a:solidFill>
                  <a:srgbClr val="0E4D49"/>
                </a:solidFill>
                <a:latin typeface="PP Mori" pitchFamily="34" charset="0"/>
                <a:ea typeface="PP Mori" pitchFamily="34" charset="-122"/>
                <a:cs typeface="PP Mori" pitchFamily="34" charset="-120"/>
              </a:rPr>
              <a:t>Direct</a:t>
            </a:r>
            <a:endParaRPr lang="en-US" sz="2010" dirty="0"/>
          </a:p>
          <a:p>
            <a:pPr algn="l" indent="0" marL="0">
              <a:lnSpc>
                <a:spcPts val="2410"/>
              </a:lnSpc>
              <a:buNone/>
            </a:pPr>
            <a:r>
              <a:rPr lang="en-US" sz="2010" dirty="0">
                <a:solidFill>
                  <a:srgbClr val="0E4D49"/>
                </a:solidFill>
                <a:latin typeface="PP Mori" pitchFamily="34" charset="0"/>
                <a:ea typeface="PP Mori" pitchFamily="34" charset="-122"/>
                <a:cs typeface="PP Mori" pitchFamily="34" charset="-120"/>
              </a:rPr>
              <a:t>Emissions</a:t>
            </a:r>
            <a:endParaRPr lang="en-US" sz="2010" dirty="0"/>
          </a:p>
        </p:txBody>
      </p:sp>
      <p:sp>
        <p:nvSpPr>
          <p:cNvPr id="1014" name="Shape 16"/>
          <p:cNvSpPr/>
          <p:nvPr/>
        </p:nvSpPr>
        <p:spPr>
          <a:xfrm>
            <a:off x="1688948" y="2895787"/>
            <a:ext cx="2607610" cy="1569080"/>
          </a:xfrm>
          <a:prstGeom prst="roundRect">
            <a:avLst>
              <a:gd name="adj" fmla="val 8123"/>
            </a:avLst>
          </a:prstGeom>
          <a:solidFill>
            <a:srgbClr val="FFFFFF"/>
          </a:solidFill>
          <a:ln w="16510">
            <a:solidFill>
              <a:srgbClr val="C5D4D3"/>
            </a:solidFill>
            <a:prstDash val="solid"/>
          </a:ln>
        </p:spPr>
      </p:sp>
      <p:pic>
        <p:nvPicPr>
          <p:cNvPr id="1015" name="Image 1" descr="preencoded.png">    </p:cNvPr>
          <p:cNvPicPr>
            <a:picLocks noChangeAspect="1"/>
          </p:cNvPicPr>
          <p:nvPr/>
        </p:nvPicPr>
        <p:blipFill>
          <a:blip r:embed="rIdWeb210">
            <a:extLst>
              <a:ext uri="{96DAC541-7B7A-43D3-8B79-37D633B846F1}">
                <asvg:svgBlip xmlns:asvg="http://schemas.microsoft.com/office/drawing/2016/SVG/main" r:embed="rIdWeb211"/>
              </a:ext>
            </a:extLst>
          </a:blip>
          <a:stretch>
            <a:fillRect/>
          </a:stretch>
        </p:blipFill>
        <p:spPr>
          <a:xfrm>
            <a:off x="1867391" y="3442270"/>
            <a:ext cx="475849" cy="475849"/>
          </a:xfrm>
          <a:prstGeom prst="rect">
            <a:avLst/>
          </a:prstGeom>
        </p:spPr>
      </p:pic>
      <p:sp>
        <p:nvSpPr>
          <p:cNvPr id="1016" name="Text 17"/>
          <p:cNvSpPr txBox="1"/>
          <p:nvPr/>
        </p:nvSpPr>
        <p:spPr>
          <a:xfrm>
            <a:off x="2479197" y="3352623"/>
            <a:ext cx="1388056" cy="611806"/>
          </a:xfrm>
          <a:prstGeom prst="rect">
            <a:avLst/>
          </a:prstGeom>
          <a:noFill/>
          <a:ln/>
        </p:spPr>
        <p:txBody>
          <a:bodyPr wrap="none" lIns="0" tIns="0" rIns="0" bIns="0" rtlCol="0" anchor="ctr"/>
          <a:lstStyle/>
          <a:p>
            <a:pPr algn="l" indent="0" marL="0">
              <a:lnSpc>
                <a:spcPts val="2410"/>
              </a:lnSpc>
              <a:buNone/>
            </a:pPr>
            <a:r>
              <a:rPr lang="en-US" sz="2010" dirty="0">
                <a:solidFill>
                  <a:srgbClr val="0E4D49"/>
                </a:solidFill>
                <a:latin typeface="PP Mori" pitchFamily="34" charset="0"/>
                <a:ea typeface="PP Mori" pitchFamily="34" charset="-122"/>
                <a:cs typeface="PP Mori" pitchFamily="34" charset="-120"/>
              </a:rPr>
              <a:t>Direct</a:t>
            </a:r>
            <a:endParaRPr lang="en-US" sz="2010" dirty="0"/>
          </a:p>
          <a:p>
            <a:pPr algn="l" indent="0" marL="0">
              <a:lnSpc>
                <a:spcPts val="2410"/>
              </a:lnSpc>
              <a:buNone/>
            </a:pPr>
            <a:r>
              <a:rPr lang="en-US" sz="2010" dirty="0">
                <a:solidFill>
                  <a:srgbClr val="0E4D49"/>
                </a:solidFill>
                <a:latin typeface="PP Mori" pitchFamily="34" charset="0"/>
                <a:ea typeface="PP Mori" pitchFamily="34" charset="-122"/>
                <a:cs typeface="PP Mori" pitchFamily="34" charset="-120"/>
              </a:rPr>
              <a:t>Removals</a:t>
            </a:r>
            <a:endParaRPr lang="en-US" sz="2010" dirty="0"/>
          </a:p>
        </p:txBody>
      </p:sp>
      <p:sp>
        <p:nvSpPr>
          <p:cNvPr id="1017" name="Shape 18"/>
          <p:cNvSpPr/>
          <p:nvPr/>
        </p:nvSpPr>
        <p:spPr>
          <a:xfrm>
            <a:off x="1688948" y="4685797"/>
            <a:ext cx="2607610" cy="1569080"/>
          </a:xfrm>
          <a:prstGeom prst="roundRect">
            <a:avLst>
              <a:gd name="adj" fmla="val 8123"/>
            </a:avLst>
          </a:prstGeom>
          <a:solidFill>
            <a:srgbClr val="FFFFFF"/>
          </a:solidFill>
          <a:ln w="16510">
            <a:solidFill>
              <a:srgbClr val="C5D4D3"/>
            </a:solidFill>
            <a:prstDash val="solid"/>
          </a:ln>
        </p:spPr>
      </p:sp>
      <p:pic>
        <p:nvPicPr>
          <p:cNvPr id="1018" name="Image 2" descr="preencoded.png">    </p:cNvPr>
          <p:cNvPicPr>
            <a:picLocks noChangeAspect="1"/>
          </p:cNvPicPr>
          <p:nvPr/>
        </p:nvPicPr>
        <p:blipFill>
          <a:blip r:embed="rIdWeb212">
            <a:extLst>
              <a:ext uri="{96DAC541-7B7A-43D3-8B79-37D633B846F1}">
                <asvg:svgBlip xmlns:asvg="http://schemas.microsoft.com/office/drawing/2016/SVG/main" r:embed="rIdWeb213"/>
              </a:ext>
            </a:extLst>
          </a:blip>
          <a:stretch>
            <a:fillRect/>
          </a:stretch>
        </p:blipFill>
        <p:spPr>
          <a:xfrm>
            <a:off x="1867391" y="5232280"/>
            <a:ext cx="475849" cy="475849"/>
          </a:xfrm>
          <a:prstGeom prst="rect">
            <a:avLst/>
          </a:prstGeom>
        </p:spPr>
      </p:pic>
      <p:sp>
        <p:nvSpPr>
          <p:cNvPr id="1019" name="Text 19"/>
          <p:cNvSpPr txBox="1"/>
          <p:nvPr/>
        </p:nvSpPr>
        <p:spPr>
          <a:xfrm>
            <a:off x="2479197" y="5142633"/>
            <a:ext cx="1401021" cy="611806"/>
          </a:xfrm>
          <a:prstGeom prst="rect">
            <a:avLst/>
          </a:prstGeom>
          <a:noFill/>
          <a:ln/>
        </p:spPr>
        <p:txBody>
          <a:bodyPr wrap="none" lIns="0" tIns="0" rIns="0" bIns="0" rtlCol="0" anchor="ctr"/>
          <a:lstStyle/>
          <a:p>
            <a:pPr algn="l" indent="0" marL="0">
              <a:lnSpc>
                <a:spcPts val="2410"/>
              </a:lnSpc>
              <a:buNone/>
            </a:pPr>
            <a:r>
              <a:rPr lang="en-US" sz="2010" dirty="0">
                <a:solidFill>
                  <a:srgbClr val="0E4D49"/>
                </a:solidFill>
                <a:latin typeface="PP Mori" pitchFamily="34" charset="0"/>
                <a:ea typeface="PP Mori" pitchFamily="34" charset="-122"/>
                <a:cs typeface="PP Mori" pitchFamily="34" charset="-120"/>
              </a:rPr>
              <a:t>Upstream</a:t>
            </a:r>
            <a:endParaRPr lang="en-US" sz="2010" dirty="0"/>
          </a:p>
          <a:p>
            <a:pPr algn="l" indent="0" marL="0">
              <a:lnSpc>
                <a:spcPts val="2410"/>
              </a:lnSpc>
              <a:buNone/>
            </a:pPr>
            <a:r>
              <a:rPr lang="en-US" sz="2010" dirty="0">
                <a:solidFill>
                  <a:srgbClr val="0E4D49"/>
                </a:solidFill>
                <a:latin typeface="PP Mori" pitchFamily="34" charset="0"/>
                <a:ea typeface="PP Mori" pitchFamily="34" charset="-122"/>
                <a:cs typeface="PP Mori" pitchFamily="34" charset="-120"/>
              </a:rPr>
              <a:t>Emissions</a:t>
            </a:r>
            <a:endParaRPr lang="en-US" sz="2010" dirty="0"/>
          </a:p>
        </p:txBody>
      </p:sp>
      <p:sp>
        <p:nvSpPr>
          <p:cNvPr id="1020" name="Shape 20"/>
          <p:cNvSpPr/>
          <p:nvPr/>
        </p:nvSpPr>
        <p:spPr>
          <a:xfrm>
            <a:off x="4746915" y="2887290"/>
            <a:ext cx="2704267" cy="1586075"/>
          </a:xfrm>
          <a:prstGeom prst="roundRect">
            <a:avLst>
              <a:gd name="adj" fmla="val 8572"/>
            </a:avLst>
          </a:prstGeom>
          <a:solidFill>
            <a:srgbClr val="EEF2F1"/>
          </a:solidFill>
          <a:ln/>
        </p:spPr>
      </p:sp>
      <p:pic>
        <p:nvPicPr>
          <p:cNvPr id="1021" name="Image 3" descr="preencoded.png">    </p:cNvPr>
          <p:cNvPicPr>
            <a:picLocks noChangeAspect="1"/>
          </p:cNvPicPr>
          <p:nvPr/>
        </p:nvPicPr>
        <p:blipFill>
          <a:blip r:embed="rIdWeb214">
            <a:extLst>
              <a:ext uri="{96DAC541-7B7A-43D3-8B79-37D633B846F1}">
                <asvg:svgBlip xmlns:asvg="http://schemas.microsoft.com/office/drawing/2016/SVG/main" r:embed="rIdWeb215"/>
              </a:ext>
            </a:extLst>
          </a:blip>
          <a:stretch>
            <a:fillRect/>
          </a:stretch>
        </p:blipFill>
        <p:spPr>
          <a:xfrm>
            <a:off x="4933855" y="3442270"/>
            <a:ext cx="475849" cy="475849"/>
          </a:xfrm>
          <a:prstGeom prst="rect">
            <a:avLst/>
          </a:prstGeom>
        </p:spPr>
      </p:pic>
      <p:sp>
        <p:nvSpPr>
          <p:cNvPr id="1022" name="Text 21"/>
          <p:cNvSpPr txBox="1"/>
          <p:nvPr/>
        </p:nvSpPr>
        <p:spPr>
          <a:xfrm>
            <a:off x="5421552" y="3505309"/>
            <a:ext cx="1707098" cy="305903"/>
          </a:xfrm>
          <a:prstGeom prst="rect">
            <a:avLst/>
          </a:prstGeom>
          <a:noFill/>
          <a:ln/>
        </p:spPr>
        <p:txBody>
          <a:bodyPr wrap="none" lIns="0" tIns="0" rIns="0" bIns="0" rtlCol="0" anchor="ctr"/>
          <a:lstStyle/>
          <a:p>
            <a:pPr algn="ctr" indent="0" marL="0">
              <a:lnSpc>
                <a:spcPts val="2410"/>
              </a:lnSpc>
              <a:buNone/>
            </a:pPr>
            <a:r>
              <a:rPr lang="en-US" sz="2010" dirty="0">
                <a:solidFill>
                  <a:srgbClr val="0E4D49"/>
                </a:solidFill>
                <a:latin typeface="PP Mori Semibold" pitchFamily="34" charset="0"/>
                <a:ea typeface="PP Mori Semibold" pitchFamily="34" charset="-122"/>
                <a:cs typeface="PP Mori Semibold" pitchFamily="34" charset="-120"/>
              </a:rPr>
              <a:t>CO2 Ledger</a:t>
            </a:r>
            <a:endParaRPr lang="en-US" sz="2010" dirty="0"/>
          </a:p>
        </p:txBody>
      </p:sp>
      <p:sp>
        <p:nvSpPr>
          <p:cNvPr id="1023" name="Shape 22"/>
          <p:cNvSpPr/>
          <p:nvPr/>
        </p:nvSpPr>
        <p:spPr>
          <a:xfrm>
            <a:off x="7893041" y="1097280"/>
            <a:ext cx="2624604" cy="1164130"/>
          </a:xfrm>
          <a:prstGeom prst="roundRect">
            <a:avLst>
              <a:gd name="adj" fmla="val 11679"/>
            </a:avLst>
          </a:prstGeom>
          <a:solidFill>
            <a:srgbClr val="F6EBEF"/>
          </a:solidFill>
          <a:ln/>
        </p:spPr>
      </p:sp>
      <p:pic>
        <p:nvPicPr>
          <p:cNvPr id="1024" name="Image 4" descr="preencoded.png">    </p:cNvPr>
          <p:cNvPicPr>
            <a:picLocks noChangeAspect="1"/>
          </p:cNvPicPr>
          <p:nvPr/>
        </p:nvPicPr>
        <p:blipFill>
          <a:blip r:embed="rIdWeb216">
            <a:extLst>
              <a:ext uri="{96DAC541-7B7A-43D3-8B79-37D633B846F1}">
                <asvg:svgBlip xmlns:asvg="http://schemas.microsoft.com/office/drawing/2016/SVG/main" r:embed="rIdWeb22"/>
              </a:ext>
            </a:extLst>
          </a:blip>
          <a:stretch>
            <a:fillRect/>
          </a:stretch>
        </p:blipFill>
        <p:spPr>
          <a:xfrm>
            <a:off x="8079982" y="1441421"/>
            <a:ext cx="475849" cy="475849"/>
          </a:xfrm>
          <a:prstGeom prst="rect">
            <a:avLst/>
          </a:prstGeom>
        </p:spPr>
      </p:pic>
      <p:sp>
        <p:nvSpPr>
          <p:cNvPr id="1025" name="Text 23"/>
          <p:cNvSpPr txBox="1"/>
          <p:nvPr/>
        </p:nvSpPr>
        <p:spPr>
          <a:xfrm>
            <a:off x="8691787" y="1351296"/>
            <a:ext cx="1830819" cy="612337"/>
          </a:xfrm>
          <a:prstGeom prst="rect">
            <a:avLst/>
          </a:prstGeom>
          <a:noFill/>
          <a:ln/>
        </p:spPr>
        <p:txBody>
          <a:bodyPr wrap="none" lIns="0" tIns="0" rIns="0" bIns="0" rtlCol="0" anchor="ctr"/>
          <a:lstStyle/>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CO2 Balance</a:t>
            </a:r>
            <a:endParaRPr lang="en-US" sz="2010" dirty="0"/>
          </a:p>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Sheet</a:t>
            </a:r>
            <a:endParaRPr lang="en-US" sz="2010" dirty="0"/>
          </a:p>
        </p:txBody>
      </p:sp>
      <p:sp>
        <p:nvSpPr>
          <p:cNvPr id="1026" name="Shape 24"/>
          <p:cNvSpPr/>
          <p:nvPr/>
        </p:nvSpPr>
        <p:spPr>
          <a:xfrm>
            <a:off x="7893041" y="2431357"/>
            <a:ext cx="2624604" cy="1164130"/>
          </a:xfrm>
          <a:prstGeom prst="roundRect">
            <a:avLst>
              <a:gd name="adj" fmla="val 11679"/>
            </a:avLst>
          </a:prstGeom>
          <a:solidFill>
            <a:srgbClr val="F6EBEF"/>
          </a:solidFill>
          <a:ln/>
        </p:spPr>
      </p:sp>
      <p:pic>
        <p:nvPicPr>
          <p:cNvPr id="1027" name="Image 5" descr="preencoded.png">    </p:cNvPr>
          <p:cNvPicPr>
            <a:picLocks noChangeAspect="1"/>
          </p:cNvPicPr>
          <p:nvPr/>
        </p:nvPicPr>
        <p:blipFill>
          <a:blip r:embed="rIdWeb23">
            <a:extLst>
              <a:ext uri="{96DAC541-7B7A-43D3-8B79-37D633B846F1}">
                <asvg:svgBlip xmlns:asvg="http://schemas.microsoft.com/office/drawing/2016/SVG/main" r:embed="rIdWeb24"/>
              </a:ext>
            </a:extLst>
          </a:blip>
          <a:stretch>
            <a:fillRect/>
          </a:stretch>
        </p:blipFill>
        <p:spPr>
          <a:xfrm>
            <a:off x="8079982" y="2775497"/>
            <a:ext cx="475849" cy="475849"/>
          </a:xfrm>
          <a:prstGeom prst="rect">
            <a:avLst/>
          </a:prstGeom>
        </p:spPr>
      </p:pic>
      <p:sp>
        <p:nvSpPr>
          <p:cNvPr id="1028" name="Text 25"/>
          <p:cNvSpPr txBox="1"/>
          <p:nvPr/>
        </p:nvSpPr>
        <p:spPr>
          <a:xfrm>
            <a:off x="8691787" y="2685373"/>
            <a:ext cx="1756096" cy="612337"/>
          </a:xfrm>
          <a:prstGeom prst="rect">
            <a:avLst/>
          </a:prstGeom>
          <a:noFill/>
          <a:ln/>
        </p:spPr>
        <p:txBody>
          <a:bodyPr wrap="none" lIns="0" tIns="0" rIns="0" bIns="0" rtlCol="0" anchor="ctr"/>
          <a:lstStyle/>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Net CO2</a:t>
            </a:r>
            <a:endParaRPr lang="en-US" sz="2010" dirty="0"/>
          </a:p>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Contribution</a:t>
            </a:r>
            <a:endParaRPr lang="en-US" sz="2010" dirty="0"/>
          </a:p>
        </p:txBody>
      </p:sp>
      <p:sp>
        <p:nvSpPr>
          <p:cNvPr id="1029" name="Shape 26"/>
          <p:cNvSpPr/>
          <p:nvPr/>
        </p:nvSpPr>
        <p:spPr>
          <a:xfrm>
            <a:off x="7893041" y="3765433"/>
            <a:ext cx="2624604" cy="1164130"/>
          </a:xfrm>
          <a:prstGeom prst="roundRect">
            <a:avLst>
              <a:gd name="adj" fmla="val 11679"/>
            </a:avLst>
          </a:prstGeom>
          <a:solidFill>
            <a:srgbClr val="F6EBEF"/>
          </a:solidFill>
          <a:ln/>
        </p:spPr>
      </p:sp>
      <p:pic>
        <p:nvPicPr>
          <p:cNvPr id="1030" name="Image 6" descr="preencoded.png">    </p:cNvPr>
          <p:cNvPicPr>
            <a:picLocks noChangeAspect="1"/>
          </p:cNvPicPr>
          <p:nvPr/>
        </p:nvPicPr>
        <p:blipFill>
          <a:blip r:embed="rIdWeb25">
            <a:extLst>
              <a:ext uri="{96DAC541-7B7A-43D3-8B79-37D633B846F1}">
                <asvg:svgBlip xmlns:asvg="http://schemas.microsoft.com/office/drawing/2016/SVG/main" r:embed="rIdWeb26"/>
              </a:ext>
            </a:extLst>
          </a:blip>
          <a:stretch>
            <a:fillRect/>
          </a:stretch>
        </p:blipFill>
        <p:spPr>
          <a:xfrm>
            <a:off x="8079982" y="4109574"/>
            <a:ext cx="475849" cy="475849"/>
          </a:xfrm>
          <a:prstGeom prst="rect">
            <a:avLst/>
          </a:prstGeom>
        </p:spPr>
      </p:pic>
      <p:sp>
        <p:nvSpPr>
          <p:cNvPr id="1031" name="Text 27"/>
          <p:cNvSpPr txBox="1"/>
          <p:nvPr/>
        </p:nvSpPr>
        <p:spPr>
          <a:xfrm>
            <a:off x="8691787" y="4019449"/>
            <a:ext cx="1226788" cy="612337"/>
          </a:xfrm>
          <a:prstGeom prst="rect">
            <a:avLst/>
          </a:prstGeom>
          <a:noFill/>
          <a:ln/>
        </p:spPr>
        <p:txBody>
          <a:bodyPr wrap="none" lIns="0" tIns="0" rIns="0" bIns="0" rtlCol="0" anchor="ctr"/>
          <a:lstStyle/>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Net CO2</a:t>
            </a:r>
            <a:endParaRPr lang="en-US" sz="2010" dirty="0"/>
          </a:p>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Flow</a:t>
            </a:r>
            <a:endParaRPr lang="en-US" sz="2010" dirty="0"/>
          </a:p>
        </p:txBody>
      </p:sp>
      <p:sp>
        <p:nvSpPr>
          <p:cNvPr id="1032" name="Shape 28"/>
          <p:cNvSpPr/>
          <p:nvPr/>
        </p:nvSpPr>
        <p:spPr>
          <a:xfrm>
            <a:off x="7893041" y="5099510"/>
            <a:ext cx="2624604" cy="1164130"/>
          </a:xfrm>
          <a:prstGeom prst="roundRect">
            <a:avLst>
              <a:gd name="adj" fmla="val 11679"/>
            </a:avLst>
          </a:prstGeom>
          <a:solidFill>
            <a:srgbClr val="F6EBEF"/>
          </a:solidFill>
          <a:ln/>
        </p:spPr>
      </p:sp>
      <p:pic>
        <p:nvPicPr>
          <p:cNvPr id="1033" name="Image 7" descr="preencoded.png">    </p:cNvPr>
          <p:cNvPicPr>
            <a:picLocks noChangeAspect="1"/>
          </p:cNvPicPr>
          <p:nvPr/>
        </p:nvPicPr>
        <p:blipFill>
          <a:blip r:embed="rIdWeb27">
            <a:extLst>
              <a:ext uri="{96DAC541-7B7A-43D3-8B79-37D633B846F1}">
                <asvg:svgBlip xmlns:asvg="http://schemas.microsoft.com/office/drawing/2016/SVG/main" r:embed="rIdWeb28"/>
              </a:ext>
            </a:extLst>
          </a:blip>
          <a:stretch>
            <a:fillRect/>
          </a:stretch>
        </p:blipFill>
        <p:spPr>
          <a:xfrm>
            <a:off x="8079982" y="5443650"/>
            <a:ext cx="475849" cy="475849"/>
          </a:xfrm>
          <a:prstGeom prst="rect">
            <a:avLst/>
          </a:prstGeom>
        </p:spPr>
      </p:pic>
      <p:sp>
        <p:nvSpPr>
          <p:cNvPr id="1034" name="Text 29"/>
          <p:cNvSpPr txBox="1"/>
          <p:nvPr/>
        </p:nvSpPr>
        <p:spPr>
          <a:xfrm>
            <a:off x="8691787" y="5201052"/>
            <a:ext cx="1452603" cy="917709"/>
          </a:xfrm>
          <a:prstGeom prst="rect">
            <a:avLst/>
          </a:prstGeom>
          <a:noFill/>
          <a:ln/>
        </p:spPr>
        <p:txBody>
          <a:bodyPr wrap="none" lIns="0" tIns="0" rIns="0" bIns="0" rtlCol="0" anchor="ctr"/>
          <a:lstStyle/>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Product</a:t>
            </a:r>
            <a:endParaRPr lang="en-US" sz="2010" dirty="0"/>
          </a:p>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Carbon</a:t>
            </a:r>
            <a:endParaRPr lang="en-US" sz="2010" dirty="0"/>
          </a:p>
          <a:p>
            <a:pPr algn="l" indent="0" marL="0">
              <a:lnSpc>
                <a:spcPts val="2410"/>
              </a:lnSpc>
              <a:buNone/>
            </a:pPr>
            <a:r>
              <a:rPr lang="en-US" sz="2010" dirty="0">
                <a:solidFill>
                  <a:srgbClr val="8B1538"/>
                </a:solidFill>
                <a:latin typeface="PP Mori" pitchFamily="34" charset="0"/>
                <a:ea typeface="PP Mori" pitchFamily="34" charset="-122"/>
                <a:cs typeface="PP Mori" pitchFamily="34" charset="-120"/>
              </a:rPr>
              <a:t>Footprints</a:t>
            </a:r>
            <a:endParaRPr lang="en-US" sz="20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CO2 Balance Sheet</a:t>
            </a:r>
            <a:endParaRPr lang="en-US" sz="17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9</a:t>
            </a:fld>
            <a:endParaRPr lang="en-US"/>
          </a:p>
        </p:txBody>
      </p:sp>
      <p:sp>
        <p:nvSpPr>
          <p:cNvPr id="1001" name="Text 4"/>
          <p:cNvSpPr txBox="1"/>
          <p:nvPr/>
        </p:nvSpPr>
        <p:spPr>
          <a:xfrm>
            <a:off x="5275261" y="1101012"/>
            <a:ext cx="1645191"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Semibold" pitchFamily="34" charset="0"/>
                <a:ea typeface="PP Mori Semibold" pitchFamily="34" charset="-122"/>
                <a:cs typeface="PP Mori Semibold" pitchFamily="34" charset="-120"/>
              </a:rPr>
              <a:t>CO2 Balance Sheet</a:t>
            </a:r>
            <a:endParaRPr lang="en-US" sz="1200" dirty="0"/>
          </a:p>
        </p:txBody>
      </p:sp>
      <p:sp>
        <p:nvSpPr>
          <p:cNvPr id="1002" name="Shape 5"/>
          <p:cNvSpPr/>
          <p:nvPr/>
        </p:nvSpPr>
        <p:spPr>
          <a:xfrm>
            <a:off x="2699034" y="1792382"/>
            <a:ext cx="6800029" cy="0"/>
          </a:xfrm>
          <a:prstGeom prst="line">
            <a:avLst/>
          </a:prstGeom>
          <a:noFill/>
          <a:ln w="10160">
            <a:solidFill>
              <a:srgbClr val="0E4D49"/>
            </a:solidFill>
            <a:prstDash val="solid"/>
          </a:ln>
        </p:spPr>
      </p:sp>
      <p:sp>
        <p:nvSpPr>
          <p:cNvPr id="1003" name="Text 6"/>
          <p:cNvSpPr txBox="1"/>
          <p:nvPr/>
        </p:nvSpPr>
        <p:spPr>
          <a:xfrm>
            <a:off x="3579322" y="1489066"/>
            <a:ext cx="1637352"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Semibold" pitchFamily="34" charset="0"/>
                <a:ea typeface="PP Mori Semibold" pitchFamily="34" charset="-122"/>
                <a:cs typeface="PP Mori Semibold" pitchFamily="34" charset="-120"/>
              </a:rPr>
              <a:t>Emissions in Assets</a:t>
            </a:r>
            <a:endParaRPr lang="en-US" sz="1200" dirty="0"/>
          </a:p>
        </p:txBody>
      </p:sp>
      <p:sp>
        <p:nvSpPr>
          <p:cNvPr id="1004" name="Shape 7"/>
          <p:cNvSpPr/>
          <p:nvPr/>
        </p:nvSpPr>
        <p:spPr>
          <a:xfrm>
            <a:off x="2699034" y="2237617"/>
            <a:ext cx="3152232" cy="0"/>
          </a:xfrm>
          <a:prstGeom prst="line">
            <a:avLst/>
          </a:prstGeom>
          <a:noFill/>
          <a:ln w="10160">
            <a:solidFill>
              <a:srgbClr val="0E4D49"/>
            </a:solidFill>
            <a:prstDash val="solid"/>
          </a:ln>
        </p:spPr>
      </p:sp>
      <p:sp>
        <p:nvSpPr>
          <p:cNvPr id="1005" name="Text 8"/>
          <p:cNvSpPr txBox="1"/>
          <p:nvPr/>
        </p:nvSpPr>
        <p:spPr>
          <a:xfrm>
            <a:off x="2699034" y="1972495"/>
            <a:ext cx="16946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06" name="Text 9"/>
          <p:cNvSpPr txBox="1"/>
          <p:nvPr/>
        </p:nvSpPr>
        <p:spPr>
          <a:xfrm>
            <a:off x="2879437" y="1972421"/>
            <a:ext cx="2788446"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pitchFamily="34" charset="0"/>
                <a:ea typeface="PP Mori" pitchFamily="34" charset="-122"/>
                <a:cs typeface="PP Mori" pitchFamily="34" charset="-120"/>
              </a:rPr>
              <a:t>Buildings, Machinery &amp; Equipment</a:t>
            </a:r>
            <a:endParaRPr lang="en-US" sz="1200" dirty="0"/>
          </a:p>
        </p:txBody>
      </p:sp>
      <p:sp>
        <p:nvSpPr>
          <p:cNvPr id="1007" name="Text 10"/>
          <p:cNvSpPr txBox="1"/>
          <p:nvPr/>
        </p:nvSpPr>
        <p:spPr>
          <a:xfrm>
            <a:off x="5769813" y="1972495"/>
            <a:ext cx="16429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08" name="Shape 11"/>
          <p:cNvSpPr/>
          <p:nvPr/>
        </p:nvSpPr>
        <p:spPr>
          <a:xfrm>
            <a:off x="4279840" y="2242382"/>
            <a:ext cx="0" cy="590867"/>
          </a:xfrm>
          <a:prstGeom prst="line">
            <a:avLst/>
          </a:prstGeom>
          <a:noFill/>
          <a:ln w="10160">
            <a:solidFill>
              <a:srgbClr val="0E4D49"/>
            </a:solidFill>
            <a:prstDash val="solid"/>
          </a:ln>
        </p:spPr>
      </p:sp>
      <p:sp>
        <p:nvSpPr>
          <p:cNvPr id="1009" name="Shape 12"/>
          <p:cNvSpPr/>
          <p:nvPr/>
        </p:nvSpPr>
        <p:spPr>
          <a:xfrm>
            <a:off x="3261310" y="2328153"/>
            <a:ext cx="451340" cy="221724"/>
          </a:xfrm>
          <a:prstGeom prst="roundRect">
            <a:avLst>
              <a:gd name="adj" fmla="val 17193"/>
            </a:avLst>
          </a:prstGeom>
          <a:solidFill>
            <a:srgbClr val="B060E0"/>
          </a:solidFill>
          <a:ln/>
        </p:spPr>
      </p:sp>
      <p:sp>
        <p:nvSpPr>
          <p:cNvPr id="1010" name="Text 13"/>
          <p:cNvSpPr txBox="1"/>
          <p:nvPr/>
        </p:nvSpPr>
        <p:spPr>
          <a:xfrm>
            <a:off x="3400638" y="2355455"/>
            <a:ext cx="172684"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A</a:t>
            </a:r>
            <a:endParaRPr lang="en-US" sz="960" dirty="0"/>
          </a:p>
        </p:txBody>
      </p:sp>
      <p:sp>
        <p:nvSpPr>
          <p:cNvPr id="1011" name="Shape 14"/>
          <p:cNvSpPr/>
          <p:nvPr/>
        </p:nvSpPr>
        <p:spPr>
          <a:xfrm>
            <a:off x="4837500" y="2328153"/>
            <a:ext cx="451340" cy="221724"/>
          </a:xfrm>
          <a:prstGeom prst="roundRect">
            <a:avLst>
              <a:gd name="adj" fmla="val 17193"/>
            </a:avLst>
          </a:prstGeom>
          <a:solidFill>
            <a:srgbClr val="20C090"/>
          </a:solidFill>
          <a:ln/>
        </p:spPr>
      </p:sp>
      <p:sp>
        <p:nvSpPr>
          <p:cNvPr id="1012" name="Text 15"/>
          <p:cNvSpPr txBox="1"/>
          <p:nvPr/>
        </p:nvSpPr>
        <p:spPr>
          <a:xfrm>
            <a:off x="4984867" y="2355455"/>
            <a:ext cx="156607"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E</a:t>
            </a:r>
            <a:endParaRPr lang="en-US" sz="960" dirty="0"/>
          </a:p>
        </p:txBody>
      </p:sp>
      <p:sp>
        <p:nvSpPr>
          <p:cNvPr id="1013" name="Shape 16"/>
          <p:cNvSpPr/>
          <p:nvPr/>
        </p:nvSpPr>
        <p:spPr>
          <a:xfrm>
            <a:off x="2699034" y="3273718"/>
            <a:ext cx="3152232" cy="0"/>
          </a:xfrm>
          <a:prstGeom prst="line">
            <a:avLst/>
          </a:prstGeom>
          <a:noFill/>
          <a:ln w="10160">
            <a:solidFill>
              <a:srgbClr val="0E4D49"/>
            </a:solidFill>
            <a:prstDash val="solid"/>
          </a:ln>
        </p:spPr>
      </p:sp>
      <p:sp>
        <p:nvSpPr>
          <p:cNvPr id="1014" name="Text 17"/>
          <p:cNvSpPr txBox="1"/>
          <p:nvPr/>
        </p:nvSpPr>
        <p:spPr>
          <a:xfrm>
            <a:off x="2699034" y="3008596"/>
            <a:ext cx="16946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15" name="Text 18"/>
          <p:cNvSpPr txBox="1"/>
          <p:nvPr/>
        </p:nvSpPr>
        <p:spPr>
          <a:xfrm>
            <a:off x="3875557" y="3008596"/>
            <a:ext cx="803801"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pitchFamily="34" charset="0"/>
                <a:ea typeface="PP Mori" pitchFamily="34" charset="-122"/>
                <a:cs typeface="PP Mori" pitchFamily="34" charset="-120"/>
              </a:rPr>
              <a:t>Materials</a:t>
            </a:r>
            <a:endParaRPr lang="en-US" sz="1200" dirty="0"/>
          </a:p>
        </p:txBody>
      </p:sp>
      <p:sp>
        <p:nvSpPr>
          <p:cNvPr id="1016" name="Text 19"/>
          <p:cNvSpPr txBox="1"/>
          <p:nvPr/>
        </p:nvSpPr>
        <p:spPr>
          <a:xfrm>
            <a:off x="5769813" y="3008596"/>
            <a:ext cx="16429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17" name="Shape 20"/>
          <p:cNvSpPr/>
          <p:nvPr/>
        </p:nvSpPr>
        <p:spPr>
          <a:xfrm>
            <a:off x="4279840" y="3278483"/>
            <a:ext cx="0" cy="590867"/>
          </a:xfrm>
          <a:prstGeom prst="line">
            <a:avLst/>
          </a:prstGeom>
          <a:noFill/>
          <a:ln w="10160">
            <a:solidFill>
              <a:srgbClr val="0E4D49"/>
            </a:solidFill>
            <a:prstDash val="solid"/>
          </a:ln>
        </p:spPr>
      </p:sp>
      <p:sp>
        <p:nvSpPr>
          <p:cNvPr id="1018" name="Shape 21"/>
          <p:cNvSpPr/>
          <p:nvPr/>
        </p:nvSpPr>
        <p:spPr>
          <a:xfrm>
            <a:off x="3261310" y="3364254"/>
            <a:ext cx="451340" cy="221724"/>
          </a:xfrm>
          <a:prstGeom prst="roundRect">
            <a:avLst>
              <a:gd name="adj" fmla="val 17193"/>
            </a:avLst>
          </a:prstGeom>
          <a:solidFill>
            <a:srgbClr val="3060C0"/>
          </a:solidFill>
          <a:ln/>
        </p:spPr>
      </p:sp>
      <p:sp>
        <p:nvSpPr>
          <p:cNvPr id="1019" name="Text 22"/>
          <p:cNvSpPr txBox="1"/>
          <p:nvPr/>
        </p:nvSpPr>
        <p:spPr>
          <a:xfrm>
            <a:off x="3404240" y="3391556"/>
            <a:ext cx="165480"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B</a:t>
            </a:r>
            <a:endParaRPr lang="en-US" sz="960" dirty="0"/>
          </a:p>
        </p:txBody>
      </p:sp>
      <p:sp>
        <p:nvSpPr>
          <p:cNvPr id="1020" name="Shape 23"/>
          <p:cNvSpPr/>
          <p:nvPr/>
        </p:nvSpPr>
        <p:spPr>
          <a:xfrm>
            <a:off x="4837500" y="3364254"/>
            <a:ext cx="451340" cy="221724"/>
          </a:xfrm>
          <a:prstGeom prst="roundRect">
            <a:avLst>
              <a:gd name="adj" fmla="val 17193"/>
            </a:avLst>
          </a:prstGeom>
          <a:solidFill>
            <a:srgbClr val="2080B0"/>
          </a:solidFill>
          <a:ln/>
        </p:spPr>
      </p:sp>
      <p:sp>
        <p:nvSpPr>
          <p:cNvPr id="1021" name="Text 24"/>
          <p:cNvSpPr txBox="1"/>
          <p:nvPr/>
        </p:nvSpPr>
        <p:spPr>
          <a:xfrm>
            <a:off x="4973926" y="3391556"/>
            <a:ext cx="178489"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C</a:t>
            </a:r>
            <a:endParaRPr lang="en-US" sz="960" dirty="0"/>
          </a:p>
        </p:txBody>
      </p:sp>
      <p:sp>
        <p:nvSpPr>
          <p:cNvPr id="1022" name="Shape 25"/>
          <p:cNvSpPr/>
          <p:nvPr/>
        </p:nvSpPr>
        <p:spPr>
          <a:xfrm>
            <a:off x="2699034" y="4309819"/>
            <a:ext cx="3152232" cy="0"/>
          </a:xfrm>
          <a:prstGeom prst="line">
            <a:avLst/>
          </a:prstGeom>
          <a:noFill/>
          <a:ln w="10160">
            <a:solidFill>
              <a:srgbClr val="0E4D49"/>
            </a:solidFill>
            <a:prstDash val="solid"/>
          </a:ln>
        </p:spPr>
      </p:sp>
      <p:sp>
        <p:nvSpPr>
          <p:cNvPr id="1023" name="Text 26"/>
          <p:cNvSpPr txBox="1"/>
          <p:nvPr/>
        </p:nvSpPr>
        <p:spPr>
          <a:xfrm>
            <a:off x="2699034" y="4044698"/>
            <a:ext cx="16946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24" name="Text 27"/>
          <p:cNvSpPr txBox="1"/>
          <p:nvPr/>
        </p:nvSpPr>
        <p:spPr>
          <a:xfrm>
            <a:off x="3553219" y="4044698"/>
            <a:ext cx="1448477"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pitchFamily="34" charset="0"/>
                <a:ea typeface="PP Mori" pitchFamily="34" charset="-122"/>
                <a:cs typeface="PP Mori" pitchFamily="34" charset="-120"/>
              </a:rPr>
              <a:t>Work-in-Process</a:t>
            </a:r>
            <a:endParaRPr lang="en-US" sz="1200" dirty="0"/>
          </a:p>
        </p:txBody>
      </p:sp>
      <p:sp>
        <p:nvSpPr>
          <p:cNvPr id="1025" name="Text 28"/>
          <p:cNvSpPr txBox="1"/>
          <p:nvPr/>
        </p:nvSpPr>
        <p:spPr>
          <a:xfrm>
            <a:off x="5769813" y="4044698"/>
            <a:ext cx="16429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26" name="Shape 29"/>
          <p:cNvSpPr/>
          <p:nvPr/>
        </p:nvSpPr>
        <p:spPr>
          <a:xfrm>
            <a:off x="4279840" y="4314584"/>
            <a:ext cx="0" cy="912954"/>
          </a:xfrm>
          <a:prstGeom prst="line">
            <a:avLst/>
          </a:prstGeom>
          <a:noFill/>
          <a:ln w="10160">
            <a:solidFill>
              <a:srgbClr val="0E4D49"/>
            </a:solidFill>
            <a:prstDash val="solid"/>
          </a:ln>
        </p:spPr>
      </p:sp>
      <p:sp>
        <p:nvSpPr>
          <p:cNvPr id="1027" name="Shape 30"/>
          <p:cNvSpPr/>
          <p:nvPr/>
        </p:nvSpPr>
        <p:spPr>
          <a:xfrm>
            <a:off x="3261310" y="4400355"/>
            <a:ext cx="451340" cy="221724"/>
          </a:xfrm>
          <a:prstGeom prst="roundRect">
            <a:avLst>
              <a:gd name="adj" fmla="val 17193"/>
            </a:avLst>
          </a:prstGeom>
          <a:solidFill>
            <a:srgbClr val="2080B0"/>
          </a:solidFill>
          <a:ln/>
        </p:spPr>
      </p:sp>
      <p:sp>
        <p:nvSpPr>
          <p:cNvPr id="1028" name="Text 31"/>
          <p:cNvSpPr txBox="1"/>
          <p:nvPr/>
        </p:nvSpPr>
        <p:spPr>
          <a:xfrm>
            <a:off x="3397736" y="4427657"/>
            <a:ext cx="178489"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C</a:t>
            </a:r>
            <a:endParaRPr lang="en-US" sz="960" dirty="0"/>
          </a:p>
        </p:txBody>
      </p:sp>
      <p:sp>
        <p:nvSpPr>
          <p:cNvPr id="1029" name="Shape 32"/>
          <p:cNvSpPr/>
          <p:nvPr/>
        </p:nvSpPr>
        <p:spPr>
          <a:xfrm>
            <a:off x="3261310" y="4660200"/>
            <a:ext cx="451340" cy="221724"/>
          </a:xfrm>
          <a:prstGeom prst="roundRect">
            <a:avLst>
              <a:gd name="adj" fmla="val 17193"/>
            </a:avLst>
          </a:prstGeom>
          <a:solidFill>
            <a:srgbClr val="50B0D0"/>
          </a:solidFill>
          <a:ln/>
        </p:spPr>
      </p:sp>
      <p:sp>
        <p:nvSpPr>
          <p:cNvPr id="1030" name="Text 33"/>
          <p:cNvSpPr txBox="1"/>
          <p:nvPr/>
        </p:nvSpPr>
        <p:spPr>
          <a:xfrm>
            <a:off x="3401305" y="4687502"/>
            <a:ext cx="171350"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D</a:t>
            </a:r>
            <a:endParaRPr lang="en-US" sz="960" dirty="0"/>
          </a:p>
        </p:txBody>
      </p:sp>
      <p:sp>
        <p:nvSpPr>
          <p:cNvPr id="1031" name="Shape 34"/>
          <p:cNvSpPr/>
          <p:nvPr/>
        </p:nvSpPr>
        <p:spPr>
          <a:xfrm>
            <a:off x="3261310" y="4920044"/>
            <a:ext cx="451340" cy="221724"/>
          </a:xfrm>
          <a:prstGeom prst="roundRect">
            <a:avLst>
              <a:gd name="adj" fmla="val 17193"/>
            </a:avLst>
          </a:prstGeom>
          <a:solidFill>
            <a:srgbClr val="20C090"/>
          </a:solidFill>
          <a:ln/>
        </p:spPr>
      </p:sp>
      <p:sp>
        <p:nvSpPr>
          <p:cNvPr id="1032" name="Text 35"/>
          <p:cNvSpPr txBox="1"/>
          <p:nvPr/>
        </p:nvSpPr>
        <p:spPr>
          <a:xfrm>
            <a:off x="3408676" y="4947346"/>
            <a:ext cx="156607"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E</a:t>
            </a:r>
            <a:endParaRPr lang="en-US" sz="960" dirty="0"/>
          </a:p>
        </p:txBody>
      </p:sp>
      <p:sp>
        <p:nvSpPr>
          <p:cNvPr id="1033" name="Shape 36"/>
          <p:cNvSpPr/>
          <p:nvPr/>
        </p:nvSpPr>
        <p:spPr>
          <a:xfrm>
            <a:off x="4837500" y="4400355"/>
            <a:ext cx="451340" cy="221724"/>
          </a:xfrm>
          <a:prstGeom prst="roundRect">
            <a:avLst>
              <a:gd name="adj" fmla="val 17193"/>
            </a:avLst>
          </a:prstGeom>
          <a:solidFill>
            <a:srgbClr val="30A060"/>
          </a:solidFill>
          <a:ln/>
        </p:spPr>
      </p:sp>
      <p:sp>
        <p:nvSpPr>
          <p:cNvPr id="1034" name="Text 37"/>
          <p:cNvSpPr txBox="1"/>
          <p:nvPr/>
        </p:nvSpPr>
        <p:spPr>
          <a:xfrm>
            <a:off x="4985433" y="4427657"/>
            <a:ext cx="155473"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F</a:t>
            </a:r>
            <a:endParaRPr lang="en-US" sz="960" dirty="0"/>
          </a:p>
        </p:txBody>
      </p:sp>
      <p:sp>
        <p:nvSpPr>
          <p:cNvPr id="1035" name="Shape 38"/>
          <p:cNvSpPr/>
          <p:nvPr/>
        </p:nvSpPr>
        <p:spPr>
          <a:xfrm>
            <a:off x="2699034" y="5668008"/>
            <a:ext cx="3152232" cy="0"/>
          </a:xfrm>
          <a:prstGeom prst="line">
            <a:avLst/>
          </a:prstGeom>
          <a:noFill/>
          <a:ln w="10160">
            <a:solidFill>
              <a:srgbClr val="0E4D49"/>
            </a:solidFill>
            <a:prstDash val="solid"/>
          </a:ln>
        </p:spPr>
      </p:sp>
      <p:sp>
        <p:nvSpPr>
          <p:cNvPr id="1036" name="Text 39"/>
          <p:cNvSpPr txBox="1"/>
          <p:nvPr/>
        </p:nvSpPr>
        <p:spPr>
          <a:xfrm>
            <a:off x="2699034" y="5402887"/>
            <a:ext cx="16946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37" name="Text 40"/>
          <p:cNvSpPr txBox="1"/>
          <p:nvPr/>
        </p:nvSpPr>
        <p:spPr>
          <a:xfrm>
            <a:off x="3615942" y="5402812"/>
            <a:ext cx="1315139"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pitchFamily="34" charset="0"/>
                <a:ea typeface="PP Mori" pitchFamily="34" charset="-122"/>
                <a:cs typeface="PP Mori" pitchFamily="34" charset="-120"/>
              </a:rPr>
              <a:t>Finished Goods</a:t>
            </a:r>
            <a:endParaRPr lang="en-US" sz="1200" dirty="0"/>
          </a:p>
        </p:txBody>
      </p:sp>
      <p:sp>
        <p:nvSpPr>
          <p:cNvPr id="1038" name="Text 41"/>
          <p:cNvSpPr txBox="1"/>
          <p:nvPr/>
        </p:nvSpPr>
        <p:spPr>
          <a:xfrm>
            <a:off x="5769813" y="5402887"/>
            <a:ext cx="16429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39" name="Shape 42"/>
          <p:cNvSpPr/>
          <p:nvPr/>
        </p:nvSpPr>
        <p:spPr>
          <a:xfrm>
            <a:off x="4279840" y="5672773"/>
            <a:ext cx="0" cy="590867"/>
          </a:xfrm>
          <a:prstGeom prst="line">
            <a:avLst/>
          </a:prstGeom>
          <a:noFill/>
          <a:ln w="10160">
            <a:solidFill>
              <a:srgbClr val="0E4D49"/>
            </a:solidFill>
            <a:prstDash val="solid"/>
          </a:ln>
        </p:spPr>
      </p:sp>
      <p:sp>
        <p:nvSpPr>
          <p:cNvPr id="1040" name="Shape 43"/>
          <p:cNvSpPr/>
          <p:nvPr/>
        </p:nvSpPr>
        <p:spPr>
          <a:xfrm>
            <a:off x="3261310" y="5758544"/>
            <a:ext cx="451340" cy="221724"/>
          </a:xfrm>
          <a:prstGeom prst="roundRect">
            <a:avLst>
              <a:gd name="adj" fmla="val 17193"/>
            </a:avLst>
          </a:prstGeom>
          <a:solidFill>
            <a:srgbClr val="30A060"/>
          </a:solidFill>
          <a:ln/>
        </p:spPr>
      </p:sp>
      <p:sp>
        <p:nvSpPr>
          <p:cNvPr id="1041" name="Text 44"/>
          <p:cNvSpPr txBox="1"/>
          <p:nvPr/>
        </p:nvSpPr>
        <p:spPr>
          <a:xfrm>
            <a:off x="3409243" y="5785846"/>
            <a:ext cx="155473"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F</a:t>
            </a:r>
            <a:endParaRPr lang="en-US" sz="960" dirty="0"/>
          </a:p>
        </p:txBody>
      </p:sp>
      <p:sp>
        <p:nvSpPr>
          <p:cNvPr id="1042" name="Shape 45"/>
          <p:cNvSpPr/>
          <p:nvPr/>
        </p:nvSpPr>
        <p:spPr>
          <a:xfrm>
            <a:off x="4837500" y="5758544"/>
            <a:ext cx="451340" cy="221724"/>
          </a:xfrm>
          <a:prstGeom prst="roundRect">
            <a:avLst>
              <a:gd name="adj" fmla="val 17193"/>
            </a:avLst>
          </a:prstGeom>
          <a:solidFill>
            <a:srgbClr val="E04040"/>
          </a:solidFill>
          <a:ln/>
        </p:spPr>
      </p:sp>
      <p:sp>
        <p:nvSpPr>
          <p:cNvPr id="1043" name="Text 46"/>
          <p:cNvSpPr txBox="1"/>
          <p:nvPr/>
        </p:nvSpPr>
        <p:spPr>
          <a:xfrm>
            <a:off x="5008516" y="5785846"/>
            <a:ext cx="109309"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I</a:t>
            </a:r>
            <a:endParaRPr lang="en-US" sz="960" dirty="0"/>
          </a:p>
        </p:txBody>
      </p:sp>
      <p:sp>
        <p:nvSpPr>
          <p:cNvPr id="1044" name="Shape 47"/>
          <p:cNvSpPr/>
          <p:nvPr/>
        </p:nvSpPr>
        <p:spPr>
          <a:xfrm>
            <a:off x="6103813" y="1485334"/>
            <a:ext cx="0" cy="4778306"/>
          </a:xfrm>
          <a:prstGeom prst="line">
            <a:avLst/>
          </a:prstGeom>
          <a:noFill/>
          <a:ln w="10160">
            <a:solidFill>
              <a:srgbClr val="0E4D49"/>
            </a:solidFill>
            <a:prstDash val="solid"/>
          </a:ln>
        </p:spPr>
      </p:sp>
      <p:sp>
        <p:nvSpPr>
          <p:cNvPr id="1045" name="Text 48"/>
          <p:cNvSpPr txBox="1"/>
          <p:nvPr/>
        </p:nvSpPr>
        <p:spPr>
          <a:xfrm>
            <a:off x="6947039" y="1489066"/>
            <a:ext cx="1706565"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Semibold" pitchFamily="34" charset="0"/>
                <a:ea typeface="PP Mori Semibold" pitchFamily="34" charset="-122"/>
                <a:cs typeface="PP Mori Semibold" pitchFamily="34" charset="-120"/>
              </a:rPr>
              <a:t>Source of Emissions</a:t>
            </a:r>
            <a:endParaRPr lang="en-US" sz="1200" dirty="0"/>
          </a:p>
        </p:txBody>
      </p:sp>
      <p:sp>
        <p:nvSpPr>
          <p:cNvPr id="1046" name="Shape 49"/>
          <p:cNvSpPr/>
          <p:nvPr/>
        </p:nvSpPr>
        <p:spPr>
          <a:xfrm>
            <a:off x="6356361" y="2237617"/>
            <a:ext cx="3142701" cy="0"/>
          </a:xfrm>
          <a:prstGeom prst="line">
            <a:avLst/>
          </a:prstGeom>
          <a:noFill/>
          <a:ln w="10160">
            <a:solidFill>
              <a:srgbClr val="0E4D49"/>
            </a:solidFill>
            <a:prstDash val="solid"/>
          </a:ln>
        </p:spPr>
      </p:sp>
      <p:sp>
        <p:nvSpPr>
          <p:cNvPr id="1047" name="Text 50"/>
          <p:cNvSpPr txBox="1"/>
          <p:nvPr/>
        </p:nvSpPr>
        <p:spPr>
          <a:xfrm>
            <a:off x="6356361" y="1972495"/>
            <a:ext cx="16429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48" name="Text 51"/>
          <p:cNvSpPr txBox="1"/>
          <p:nvPr/>
        </p:nvSpPr>
        <p:spPr>
          <a:xfrm>
            <a:off x="7226351" y="1972421"/>
            <a:ext cx="1393191"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pitchFamily="34" charset="0"/>
                <a:ea typeface="PP Mori" pitchFamily="34" charset="-122"/>
                <a:cs typeface="PP Mori" pitchFamily="34" charset="-120"/>
              </a:rPr>
              <a:t>Direct Emissions</a:t>
            </a:r>
            <a:endParaRPr lang="en-US" sz="1200" dirty="0"/>
          </a:p>
        </p:txBody>
      </p:sp>
      <p:sp>
        <p:nvSpPr>
          <p:cNvPr id="1049" name="Text 52"/>
          <p:cNvSpPr txBox="1"/>
          <p:nvPr/>
        </p:nvSpPr>
        <p:spPr>
          <a:xfrm>
            <a:off x="9412994" y="1972495"/>
            <a:ext cx="16946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50" name="Shape 53"/>
          <p:cNvSpPr/>
          <p:nvPr/>
        </p:nvSpPr>
        <p:spPr>
          <a:xfrm>
            <a:off x="7932402" y="2242382"/>
            <a:ext cx="0" cy="590867"/>
          </a:xfrm>
          <a:prstGeom prst="line">
            <a:avLst/>
          </a:prstGeom>
          <a:noFill/>
          <a:ln w="10160">
            <a:solidFill>
              <a:srgbClr val="0E4D49"/>
            </a:solidFill>
            <a:prstDash val="solid"/>
          </a:ln>
        </p:spPr>
      </p:sp>
      <p:sp>
        <p:nvSpPr>
          <p:cNvPr id="1051" name="Shape 54"/>
          <p:cNvSpPr/>
          <p:nvPr/>
        </p:nvSpPr>
        <p:spPr>
          <a:xfrm>
            <a:off x="8487680" y="2328153"/>
            <a:ext cx="451340" cy="221724"/>
          </a:xfrm>
          <a:prstGeom prst="roundRect">
            <a:avLst>
              <a:gd name="adj" fmla="val 17193"/>
            </a:avLst>
          </a:prstGeom>
          <a:solidFill>
            <a:srgbClr val="50B0D0"/>
          </a:solidFill>
          <a:ln/>
        </p:spPr>
      </p:sp>
      <p:sp>
        <p:nvSpPr>
          <p:cNvPr id="1052" name="Text 55"/>
          <p:cNvSpPr txBox="1"/>
          <p:nvPr/>
        </p:nvSpPr>
        <p:spPr>
          <a:xfrm>
            <a:off x="8627675" y="2355455"/>
            <a:ext cx="171350"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D</a:t>
            </a:r>
            <a:endParaRPr lang="en-US" sz="960" dirty="0"/>
          </a:p>
        </p:txBody>
      </p:sp>
      <p:sp>
        <p:nvSpPr>
          <p:cNvPr id="1053" name="Shape 56"/>
          <p:cNvSpPr/>
          <p:nvPr/>
        </p:nvSpPr>
        <p:spPr>
          <a:xfrm>
            <a:off x="6356361" y="3273718"/>
            <a:ext cx="3142701" cy="0"/>
          </a:xfrm>
          <a:prstGeom prst="line">
            <a:avLst/>
          </a:prstGeom>
          <a:noFill/>
          <a:ln w="10160">
            <a:solidFill>
              <a:srgbClr val="0E4D49"/>
            </a:solidFill>
            <a:prstDash val="solid"/>
          </a:ln>
        </p:spPr>
      </p:sp>
      <p:sp>
        <p:nvSpPr>
          <p:cNvPr id="1054" name="Text 57"/>
          <p:cNvSpPr txBox="1"/>
          <p:nvPr/>
        </p:nvSpPr>
        <p:spPr>
          <a:xfrm>
            <a:off x="6356361" y="3008596"/>
            <a:ext cx="16429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55" name="Text 58"/>
          <p:cNvSpPr txBox="1"/>
          <p:nvPr/>
        </p:nvSpPr>
        <p:spPr>
          <a:xfrm>
            <a:off x="7226557" y="3008522"/>
            <a:ext cx="1389355"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pitchFamily="34" charset="0"/>
                <a:ea typeface="PP Mori" pitchFamily="34" charset="-122"/>
                <a:cs typeface="PP Mori" pitchFamily="34" charset="-120"/>
              </a:rPr>
              <a:t>Direct Removals</a:t>
            </a:r>
            <a:endParaRPr lang="en-US" sz="1200" dirty="0"/>
          </a:p>
        </p:txBody>
      </p:sp>
      <p:sp>
        <p:nvSpPr>
          <p:cNvPr id="1056" name="Text 59"/>
          <p:cNvSpPr txBox="1"/>
          <p:nvPr/>
        </p:nvSpPr>
        <p:spPr>
          <a:xfrm>
            <a:off x="9412994" y="3008596"/>
            <a:ext cx="16946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57" name="Shape 60"/>
          <p:cNvSpPr/>
          <p:nvPr/>
        </p:nvSpPr>
        <p:spPr>
          <a:xfrm>
            <a:off x="7932402" y="3278483"/>
            <a:ext cx="0" cy="590867"/>
          </a:xfrm>
          <a:prstGeom prst="line">
            <a:avLst/>
          </a:prstGeom>
          <a:noFill/>
          <a:ln w="10160">
            <a:solidFill>
              <a:srgbClr val="0E4D49"/>
            </a:solidFill>
            <a:prstDash val="solid"/>
          </a:ln>
        </p:spPr>
      </p:sp>
      <p:sp>
        <p:nvSpPr>
          <p:cNvPr id="1058" name="Shape 61"/>
          <p:cNvSpPr/>
          <p:nvPr/>
        </p:nvSpPr>
        <p:spPr>
          <a:xfrm>
            <a:off x="6916255" y="3364254"/>
            <a:ext cx="451340" cy="221724"/>
          </a:xfrm>
          <a:prstGeom prst="roundRect">
            <a:avLst>
              <a:gd name="adj" fmla="val 17193"/>
            </a:avLst>
          </a:prstGeom>
          <a:solidFill>
            <a:srgbClr val="D06020"/>
          </a:solidFill>
          <a:ln/>
        </p:spPr>
      </p:sp>
      <p:sp>
        <p:nvSpPr>
          <p:cNvPr id="1059" name="Text 62"/>
          <p:cNvSpPr txBox="1"/>
          <p:nvPr/>
        </p:nvSpPr>
        <p:spPr>
          <a:xfrm>
            <a:off x="7052847" y="3391556"/>
            <a:ext cx="178155"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H</a:t>
            </a:r>
            <a:endParaRPr lang="en-US" sz="960" dirty="0"/>
          </a:p>
        </p:txBody>
      </p:sp>
      <p:sp>
        <p:nvSpPr>
          <p:cNvPr id="1060" name="Shape 63"/>
          <p:cNvSpPr/>
          <p:nvPr/>
        </p:nvSpPr>
        <p:spPr>
          <a:xfrm>
            <a:off x="6356361" y="4309819"/>
            <a:ext cx="3142701" cy="0"/>
          </a:xfrm>
          <a:prstGeom prst="line">
            <a:avLst/>
          </a:prstGeom>
          <a:noFill/>
          <a:ln w="10160">
            <a:solidFill>
              <a:srgbClr val="0E4D49"/>
            </a:solidFill>
            <a:prstDash val="solid"/>
          </a:ln>
        </p:spPr>
      </p:sp>
      <p:sp>
        <p:nvSpPr>
          <p:cNvPr id="1061" name="Text 64"/>
          <p:cNvSpPr txBox="1"/>
          <p:nvPr/>
        </p:nvSpPr>
        <p:spPr>
          <a:xfrm>
            <a:off x="6356361" y="4044698"/>
            <a:ext cx="16429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62" name="Text 65"/>
          <p:cNvSpPr txBox="1"/>
          <p:nvPr/>
        </p:nvSpPr>
        <p:spPr>
          <a:xfrm>
            <a:off x="7076669" y="4044623"/>
            <a:ext cx="1696725"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pitchFamily="34" charset="0"/>
                <a:ea typeface="PP Mori" pitchFamily="34" charset="-122"/>
                <a:cs typeface="PP Mori" pitchFamily="34" charset="-120"/>
              </a:rPr>
              <a:t>Upstream Emissions</a:t>
            </a:r>
            <a:endParaRPr lang="en-US" sz="1200" dirty="0"/>
          </a:p>
        </p:txBody>
      </p:sp>
      <p:sp>
        <p:nvSpPr>
          <p:cNvPr id="1063" name="Text 66"/>
          <p:cNvSpPr txBox="1"/>
          <p:nvPr/>
        </p:nvSpPr>
        <p:spPr>
          <a:xfrm>
            <a:off x="9412994" y="4044698"/>
            <a:ext cx="16946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64" name="Shape 67"/>
          <p:cNvSpPr/>
          <p:nvPr/>
        </p:nvSpPr>
        <p:spPr>
          <a:xfrm>
            <a:off x="7932402" y="4314584"/>
            <a:ext cx="0" cy="912954"/>
          </a:xfrm>
          <a:prstGeom prst="line">
            <a:avLst/>
          </a:prstGeom>
          <a:noFill/>
          <a:ln w="10160">
            <a:solidFill>
              <a:srgbClr val="0E4D49"/>
            </a:solidFill>
            <a:prstDash val="solid"/>
          </a:ln>
        </p:spPr>
      </p:sp>
      <p:sp>
        <p:nvSpPr>
          <p:cNvPr id="1065" name="Shape 68"/>
          <p:cNvSpPr/>
          <p:nvPr/>
        </p:nvSpPr>
        <p:spPr>
          <a:xfrm>
            <a:off x="8487680" y="4400355"/>
            <a:ext cx="451340" cy="221724"/>
          </a:xfrm>
          <a:prstGeom prst="roundRect">
            <a:avLst>
              <a:gd name="adj" fmla="val 17193"/>
            </a:avLst>
          </a:prstGeom>
          <a:solidFill>
            <a:srgbClr val="B060E0"/>
          </a:solidFill>
          <a:ln/>
        </p:spPr>
      </p:sp>
      <p:sp>
        <p:nvSpPr>
          <p:cNvPr id="1066" name="Text 69"/>
          <p:cNvSpPr txBox="1"/>
          <p:nvPr/>
        </p:nvSpPr>
        <p:spPr>
          <a:xfrm>
            <a:off x="8627008" y="4427657"/>
            <a:ext cx="172684"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A</a:t>
            </a:r>
            <a:endParaRPr lang="en-US" sz="960" dirty="0"/>
          </a:p>
        </p:txBody>
      </p:sp>
      <p:sp>
        <p:nvSpPr>
          <p:cNvPr id="1067" name="Shape 70"/>
          <p:cNvSpPr/>
          <p:nvPr/>
        </p:nvSpPr>
        <p:spPr>
          <a:xfrm>
            <a:off x="8487680" y="4660200"/>
            <a:ext cx="451340" cy="221724"/>
          </a:xfrm>
          <a:prstGeom prst="roundRect">
            <a:avLst>
              <a:gd name="adj" fmla="val 17193"/>
            </a:avLst>
          </a:prstGeom>
          <a:solidFill>
            <a:srgbClr val="3060C0"/>
          </a:solidFill>
          <a:ln/>
        </p:spPr>
      </p:sp>
      <p:sp>
        <p:nvSpPr>
          <p:cNvPr id="1068" name="Text 71"/>
          <p:cNvSpPr txBox="1"/>
          <p:nvPr/>
        </p:nvSpPr>
        <p:spPr>
          <a:xfrm>
            <a:off x="8630610" y="4687502"/>
            <a:ext cx="165479"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B</a:t>
            </a:r>
            <a:endParaRPr lang="en-US" sz="960" dirty="0"/>
          </a:p>
        </p:txBody>
      </p:sp>
      <p:sp>
        <p:nvSpPr>
          <p:cNvPr id="1069" name="Shape 72"/>
          <p:cNvSpPr/>
          <p:nvPr/>
        </p:nvSpPr>
        <p:spPr>
          <a:xfrm>
            <a:off x="8487680" y="4920044"/>
            <a:ext cx="451340" cy="221724"/>
          </a:xfrm>
          <a:prstGeom prst="roundRect">
            <a:avLst>
              <a:gd name="adj" fmla="val 17193"/>
            </a:avLst>
          </a:prstGeom>
          <a:solidFill>
            <a:srgbClr val="E08820"/>
          </a:solidFill>
          <a:ln/>
        </p:spPr>
      </p:sp>
      <p:sp>
        <p:nvSpPr>
          <p:cNvPr id="1070" name="Text 73"/>
          <p:cNvSpPr txBox="1"/>
          <p:nvPr/>
        </p:nvSpPr>
        <p:spPr>
          <a:xfrm>
            <a:off x="8622971" y="4947346"/>
            <a:ext cx="180757"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G</a:t>
            </a:r>
            <a:endParaRPr lang="en-US" sz="960" dirty="0"/>
          </a:p>
        </p:txBody>
      </p:sp>
      <p:sp>
        <p:nvSpPr>
          <p:cNvPr id="1071" name="Shape 74"/>
          <p:cNvSpPr/>
          <p:nvPr/>
        </p:nvSpPr>
        <p:spPr>
          <a:xfrm>
            <a:off x="6356361" y="5668008"/>
            <a:ext cx="3142701" cy="0"/>
          </a:xfrm>
          <a:prstGeom prst="line">
            <a:avLst/>
          </a:prstGeom>
          <a:noFill/>
          <a:ln w="10160">
            <a:solidFill>
              <a:srgbClr val="0E4D49"/>
            </a:solidFill>
            <a:prstDash val="solid"/>
          </a:ln>
        </p:spPr>
      </p:sp>
      <p:sp>
        <p:nvSpPr>
          <p:cNvPr id="1072" name="Text 75"/>
          <p:cNvSpPr txBox="1"/>
          <p:nvPr/>
        </p:nvSpPr>
        <p:spPr>
          <a:xfrm>
            <a:off x="6356361" y="5402887"/>
            <a:ext cx="16429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73" name="Text 76"/>
          <p:cNvSpPr txBox="1"/>
          <p:nvPr/>
        </p:nvSpPr>
        <p:spPr>
          <a:xfrm>
            <a:off x="7172866" y="5402812"/>
            <a:ext cx="1502096" cy="182978"/>
          </a:xfrm>
          <a:prstGeom prst="rect">
            <a:avLst/>
          </a:prstGeom>
          <a:noFill/>
          <a:ln/>
        </p:spPr>
        <p:txBody>
          <a:bodyPr wrap="none" lIns="0" tIns="0" rIns="0" bIns="0" rtlCol="0" anchor="ctr"/>
          <a:lstStyle/>
          <a:p>
            <a:pPr algn="ctr" indent="0" marL="0">
              <a:lnSpc>
                <a:spcPts val="1440"/>
              </a:lnSpc>
              <a:buNone/>
            </a:pPr>
            <a:r>
              <a:rPr lang="en-US" sz="1200" dirty="0">
                <a:solidFill>
                  <a:srgbClr val="0E4D49"/>
                </a:solidFill>
                <a:latin typeface="PP Mori" pitchFamily="34" charset="0"/>
                <a:ea typeface="PP Mori" pitchFamily="34" charset="-122"/>
                <a:cs typeface="PP Mori" pitchFamily="34" charset="-120"/>
              </a:rPr>
              <a:t>Legacy Emissions</a:t>
            </a:r>
            <a:endParaRPr lang="en-US" sz="1200" dirty="0"/>
          </a:p>
        </p:txBody>
      </p:sp>
      <p:sp>
        <p:nvSpPr>
          <p:cNvPr id="1074" name="Text 77"/>
          <p:cNvSpPr txBox="1"/>
          <p:nvPr/>
        </p:nvSpPr>
        <p:spPr>
          <a:xfrm>
            <a:off x="9412994" y="5402887"/>
            <a:ext cx="169466" cy="182978"/>
          </a:xfrm>
          <a:prstGeom prst="rect">
            <a:avLst/>
          </a:prstGeom>
          <a:noFill/>
          <a:ln/>
        </p:spPr>
        <p:txBody>
          <a:bodyPr wrap="none" lIns="0" tIns="0" rIns="0" bIns="0" rtlCol="0" anchor="ctr"/>
          <a:lstStyle/>
          <a:p>
            <a:pPr algn="l" indent="0" marL="0">
              <a:lnSpc>
                <a:spcPts val="1440"/>
              </a:lnSpc>
              <a:buNone/>
            </a:pPr>
            <a:r>
              <a:rPr lang="en-US" sz="1200" dirty="0">
                <a:solidFill>
                  <a:srgbClr val="0E4D49"/>
                </a:solidFill>
                <a:latin typeface="PP Mori" pitchFamily="34" charset="0"/>
                <a:ea typeface="PP Mori" pitchFamily="34" charset="-122"/>
                <a:cs typeface="PP Mori" pitchFamily="34" charset="-120"/>
              </a:rPr>
              <a:t>+</a:t>
            </a:r>
            <a:endParaRPr lang="en-US" sz="1200" dirty="0"/>
          </a:p>
        </p:txBody>
      </p:sp>
      <p:sp>
        <p:nvSpPr>
          <p:cNvPr id="1075" name="Shape 78"/>
          <p:cNvSpPr/>
          <p:nvPr/>
        </p:nvSpPr>
        <p:spPr>
          <a:xfrm>
            <a:off x="7932402" y="5672773"/>
            <a:ext cx="0" cy="590867"/>
          </a:xfrm>
          <a:prstGeom prst="line">
            <a:avLst/>
          </a:prstGeom>
          <a:noFill/>
          <a:ln w="10160">
            <a:solidFill>
              <a:srgbClr val="0E4D49"/>
            </a:solidFill>
            <a:prstDash val="solid"/>
          </a:ln>
        </p:spPr>
      </p:sp>
      <p:sp>
        <p:nvSpPr>
          <p:cNvPr id="1076" name="Shape 79"/>
          <p:cNvSpPr/>
          <p:nvPr/>
        </p:nvSpPr>
        <p:spPr>
          <a:xfrm>
            <a:off x="6916255" y="5758544"/>
            <a:ext cx="451340" cy="221724"/>
          </a:xfrm>
          <a:prstGeom prst="roundRect">
            <a:avLst>
              <a:gd name="adj" fmla="val 17193"/>
            </a:avLst>
          </a:prstGeom>
          <a:solidFill>
            <a:srgbClr val="C04080"/>
          </a:solidFill>
          <a:ln/>
        </p:spPr>
      </p:sp>
      <p:sp>
        <p:nvSpPr>
          <p:cNvPr id="1077" name="Text 80"/>
          <p:cNvSpPr txBox="1"/>
          <p:nvPr/>
        </p:nvSpPr>
        <p:spPr>
          <a:xfrm>
            <a:off x="7065122" y="5785846"/>
            <a:ext cx="153605" cy="146382"/>
          </a:xfrm>
          <a:prstGeom prst="rect">
            <a:avLst/>
          </a:prstGeom>
          <a:noFill/>
          <a:ln/>
        </p:spPr>
        <p:txBody>
          <a:bodyPr wrap="none" lIns="0" tIns="0" rIns="0" bIns="0" rtlCol="0" anchor="ctr"/>
          <a:lstStyle/>
          <a:p>
            <a:pPr algn="ctr" indent="0" marL="0">
              <a:lnSpc>
                <a:spcPts val="1150"/>
              </a:lnSpc>
              <a:buNone/>
            </a:pPr>
            <a:r>
              <a:rPr lang="en-US" sz="960" dirty="0">
                <a:solidFill>
                  <a:srgbClr val="FFFFFF"/>
                </a:solidFill>
                <a:latin typeface="PP Mori Semibold" pitchFamily="34" charset="0"/>
                <a:ea typeface="PP Mori Semibold" pitchFamily="34" charset="-122"/>
                <a:cs typeface="PP Mori Semibold" pitchFamily="34" charset="-120"/>
              </a:rPr>
              <a:t>J</a:t>
            </a:r>
            <a:endParaRPr lang="en-US" sz="9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Strong Incentives</a:t>
            </a:r>
            <a:endParaRPr lang="en-US" sz="17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10</a:t>
            </a:fld>
            <a:endParaRPr lang="en-US"/>
          </a:p>
        </p:txBody>
      </p:sp>
      <p:sp>
        <p:nvSpPr>
          <p:cNvPr id="1001" name="Text 4"/>
          <p:cNvSpPr txBox="1"/>
          <p:nvPr/>
        </p:nvSpPr>
        <p:spPr>
          <a:xfrm>
            <a:off x="1069848" y="1720598"/>
            <a:ext cx="2107122" cy="270656"/>
          </a:xfrm>
          <a:prstGeom prst="rect">
            <a:avLst/>
          </a:prstGeom>
          <a:noFill/>
          <a:ln/>
        </p:spPr>
        <p:txBody>
          <a:bodyPr wrap="none" lIns="0" tIns="0" rIns="0" bIns="0" rtlCol="0" anchor="ctr"/>
          <a:lstStyle/>
          <a:p>
            <a:pPr algn="l" indent="0" marL="0">
              <a:lnSpc>
                <a:spcPts val="2130"/>
              </a:lnSpc>
              <a:buNone/>
            </a:pPr>
            <a:r>
              <a:rPr lang="en-US" sz="1780" dirty="0">
                <a:solidFill>
                  <a:srgbClr val="0E4D49"/>
                </a:solidFill>
                <a:latin typeface="PP Mori" pitchFamily="34" charset="0"/>
                <a:ea typeface="PP Mori" pitchFamily="34" charset="-122"/>
                <a:cs typeface="PP Mori" pitchFamily="34" charset="-120"/>
              </a:rPr>
              <a:t>Iron ore producer</a:t>
            </a:r>
            <a:endParaRPr lang="en-US" sz="1780" dirty="0"/>
          </a:p>
        </p:txBody>
      </p:sp>
      <p:sp>
        <p:nvSpPr>
          <p:cNvPr id="1002" name="Shape 5"/>
          <p:cNvSpPr/>
          <p:nvPr/>
        </p:nvSpPr>
        <p:spPr>
          <a:xfrm>
            <a:off x="6029446" y="1614200"/>
            <a:ext cx="2347092" cy="522017"/>
          </a:xfrm>
          <a:prstGeom prst="roundRect">
            <a:avLst>
              <a:gd name="adj" fmla="val 20253"/>
            </a:avLst>
          </a:prstGeom>
          <a:solidFill>
            <a:srgbClr val="FFFFFF"/>
          </a:solidFill>
          <a:ln w="13970">
            <a:solidFill>
              <a:srgbClr val="0E4D49"/>
            </a:solidFill>
            <a:prstDash val="solid"/>
          </a:ln>
        </p:spPr>
      </p:sp>
      <p:sp>
        <p:nvSpPr>
          <p:cNvPr id="1003" name="Text 6"/>
          <p:cNvSpPr txBox="1"/>
          <p:nvPr/>
        </p:nvSpPr>
        <p:spPr>
          <a:xfrm>
            <a:off x="6831219" y="1729978"/>
            <a:ext cx="743545" cy="254416"/>
          </a:xfrm>
          <a:prstGeom prst="rect">
            <a:avLst/>
          </a:prstGeom>
          <a:noFill/>
          <a:ln/>
        </p:spPr>
        <p:txBody>
          <a:bodyPr wrap="none" lIns="0" tIns="0" rIns="0" bIns="0" rtlCol="0" anchor="ctr"/>
          <a:lstStyle/>
          <a:p>
            <a:pPr algn="ctr" indent="0" marL="0">
              <a:lnSpc>
                <a:spcPts val="2000"/>
              </a:lnSpc>
              <a:buNone/>
            </a:pPr>
            <a:r>
              <a:rPr lang="en-US" sz="1670" dirty="0">
                <a:solidFill>
                  <a:srgbClr val="0E4D49"/>
                </a:solidFill>
                <a:latin typeface="PP Mori" pitchFamily="34" charset="0"/>
                <a:ea typeface="PP Mori" pitchFamily="34" charset="-122"/>
                <a:cs typeface="PP Mori" pitchFamily="34" charset="-120"/>
              </a:rPr>
              <a:t>Direct</a:t>
            </a:r>
            <a:endParaRPr lang="en-US" sz="1670" dirty="0"/>
          </a:p>
        </p:txBody>
      </p:sp>
      <p:sp>
        <p:nvSpPr>
          <p:cNvPr id="1004" name="Text 7"/>
          <p:cNvSpPr txBox="1"/>
          <p:nvPr/>
        </p:nvSpPr>
        <p:spPr>
          <a:xfrm>
            <a:off x="8466418" y="1720709"/>
            <a:ext cx="217590"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05" name="Shape 8"/>
          <p:cNvSpPr/>
          <p:nvPr/>
        </p:nvSpPr>
        <p:spPr>
          <a:xfrm>
            <a:off x="8766839" y="1607151"/>
            <a:ext cx="2361409" cy="536113"/>
          </a:xfrm>
          <a:prstGeom prst="roundRect">
            <a:avLst>
              <a:gd name="adj" fmla="val 21035"/>
            </a:avLst>
          </a:prstGeom>
          <a:solidFill>
            <a:srgbClr val="A75F26"/>
          </a:solidFill>
          <a:ln/>
        </p:spPr>
      </p:sp>
      <p:sp>
        <p:nvSpPr>
          <p:cNvPr id="1006" name="Text 9"/>
          <p:cNvSpPr txBox="1"/>
          <p:nvPr/>
        </p:nvSpPr>
        <p:spPr>
          <a:xfrm>
            <a:off x="9425501" y="1729758"/>
            <a:ext cx="1041662"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PCF Iron</a:t>
            </a:r>
            <a:endParaRPr lang="en-US" sz="1670" dirty="0"/>
          </a:p>
        </p:txBody>
      </p:sp>
      <p:sp>
        <p:nvSpPr>
          <p:cNvPr id="1007" name="Shape 10"/>
          <p:cNvSpPr/>
          <p:nvPr/>
        </p:nvSpPr>
        <p:spPr>
          <a:xfrm>
            <a:off x="9940605" y="2143264"/>
            <a:ext cx="0" cy="183256"/>
          </a:xfrm>
          <a:prstGeom prst="line">
            <a:avLst/>
          </a:prstGeom>
          <a:noFill/>
          <a:ln w="13970">
            <a:solidFill>
              <a:srgbClr val="0E4D49"/>
            </a:solidFill>
            <a:prstDash val="solid"/>
          </a:ln>
        </p:spPr>
      </p:sp>
      <p:sp>
        <p:nvSpPr>
          <p:cNvPr id="1008" name="Shape 11"/>
          <p:cNvSpPr/>
          <p:nvPr/>
        </p:nvSpPr>
        <p:spPr>
          <a:xfrm>
            <a:off x="4458550" y="2319473"/>
            <a:ext cx="5489103" cy="0"/>
          </a:xfrm>
          <a:prstGeom prst="line">
            <a:avLst/>
          </a:prstGeom>
          <a:noFill/>
          <a:ln w="13970">
            <a:solidFill>
              <a:srgbClr val="0E4D49"/>
            </a:solidFill>
            <a:prstDash val="solid"/>
          </a:ln>
        </p:spPr>
      </p:sp>
      <p:sp>
        <p:nvSpPr>
          <p:cNvPr id="1009" name="Shape 12"/>
          <p:cNvSpPr/>
          <p:nvPr/>
        </p:nvSpPr>
        <p:spPr>
          <a:xfrm>
            <a:off x="4465599" y="2326521"/>
            <a:ext cx="0" cy="183256"/>
          </a:xfrm>
          <a:prstGeom prst="line">
            <a:avLst/>
          </a:prstGeom>
          <a:noFill/>
          <a:ln w="13970">
            <a:solidFill>
              <a:srgbClr val="0E4D49"/>
            </a:solidFill>
            <a:prstDash val="solid"/>
          </a:ln>
        </p:spPr>
      </p:sp>
      <p:sp>
        <p:nvSpPr>
          <p:cNvPr id="1010" name="Text 13"/>
          <p:cNvSpPr txBox="1"/>
          <p:nvPr/>
        </p:nvSpPr>
        <p:spPr>
          <a:xfrm>
            <a:off x="1069848" y="2623224"/>
            <a:ext cx="1819234" cy="270656"/>
          </a:xfrm>
          <a:prstGeom prst="rect">
            <a:avLst/>
          </a:prstGeom>
          <a:noFill/>
          <a:ln/>
        </p:spPr>
        <p:txBody>
          <a:bodyPr wrap="none" lIns="0" tIns="0" rIns="0" bIns="0" rtlCol="0" anchor="ctr"/>
          <a:lstStyle/>
          <a:p>
            <a:pPr algn="l" indent="0" marL="0">
              <a:lnSpc>
                <a:spcPts val="2130"/>
              </a:lnSpc>
              <a:buNone/>
            </a:pPr>
            <a:r>
              <a:rPr lang="en-US" sz="1780" dirty="0">
                <a:solidFill>
                  <a:srgbClr val="0E4D49"/>
                </a:solidFill>
                <a:latin typeface="PP Mori" pitchFamily="34" charset="0"/>
                <a:ea typeface="PP Mori" pitchFamily="34" charset="-122"/>
                <a:cs typeface="PP Mori" pitchFamily="34" charset="-120"/>
              </a:rPr>
              <a:t>Steel producer</a:t>
            </a:r>
            <a:endParaRPr lang="en-US" sz="1780" dirty="0"/>
          </a:p>
        </p:txBody>
      </p:sp>
      <p:sp>
        <p:nvSpPr>
          <p:cNvPr id="1011" name="Shape 14"/>
          <p:cNvSpPr/>
          <p:nvPr/>
        </p:nvSpPr>
        <p:spPr>
          <a:xfrm>
            <a:off x="3277956" y="2509777"/>
            <a:ext cx="2361189" cy="536113"/>
          </a:xfrm>
          <a:prstGeom prst="roundRect">
            <a:avLst>
              <a:gd name="adj" fmla="val 21035"/>
            </a:avLst>
          </a:prstGeom>
          <a:solidFill>
            <a:srgbClr val="A75F26"/>
          </a:solidFill>
          <a:ln/>
        </p:spPr>
      </p:sp>
      <p:sp>
        <p:nvSpPr>
          <p:cNvPr id="1012" name="Text 15"/>
          <p:cNvSpPr txBox="1"/>
          <p:nvPr/>
        </p:nvSpPr>
        <p:spPr>
          <a:xfrm>
            <a:off x="3936631" y="2632384"/>
            <a:ext cx="1041416"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PCF Iron</a:t>
            </a:r>
            <a:endParaRPr lang="en-US" sz="1670" dirty="0"/>
          </a:p>
        </p:txBody>
      </p:sp>
      <p:sp>
        <p:nvSpPr>
          <p:cNvPr id="1013" name="Text 16"/>
          <p:cNvSpPr txBox="1"/>
          <p:nvPr/>
        </p:nvSpPr>
        <p:spPr>
          <a:xfrm>
            <a:off x="5722963" y="2623335"/>
            <a:ext cx="215616"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14" name="Shape 17"/>
          <p:cNvSpPr/>
          <p:nvPr/>
        </p:nvSpPr>
        <p:spPr>
          <a:xfrm>
            <a:off x="6029446" y="2516826"/>
            <a:ext cx="2347092" cy="522017"/>
          </a:xfrm>
          <a:prstGeom prst="roundRect">
            <a:avLst>
              <a:gd name="adj" fmla="val 20253"/>
            </a:avLst>
          </a:prstGeom>
          <a:solidFill>
            <a:srgbClr val="FFFFFF"/>
          </a:solidFill>
          <a:ln w="13970">
            <a:solidFill>
              <a:srgbClr val="0E4D49"/>
            </a:solidFill>
            <a:prstDash val="solid"/>
          </a:ln>
        </p:spPr>
      </p:sp>
      <p:sp>
        <p:nvSpPr>
          <p:cNvPr id="1015" name="Text 18"/>
          <p:cNvSpPr txBox="1"/>
          <p:nvPr/>
        </p:nvSpPr>
        <p:spPr>
          <a:xfrm>
            <a:off x="6831219" y="2632605"/>
            <a:ext cx="743545" cy="254416"/>
          </a:xfrm>
          <a:prstGeom prst="rect">
            <a:avLst/>
          </a:prstGeom>
          <a:noFill/>
          <a:ln/>
        </p:spPr>
        <p:txBody>
          <a:bodyPr wrap="none" lIns="0" tIns="0" rIns="0" bIns="0" rtlCol="0" anchor="ctr"/>
          <a:lstStyle/>
          <a:p>
            <a:pPr algn="ctr" indent="0" marL="0">
              <a:lnSpc>
                <a:spcPts val="2000"/>
              </a:lnSpc>
              <a:buNone/>
            </a:pPr>
            <a:r>
              <a:rPr lang="en-US" sz="1670" dirty="0">
                <a:solidFill>
                  <a:srgbClr val="0E4D49"/>
                </a:solidFill>
                <a:latin typeface="PP Mori" pitchFamily="34" charset="0"/>
                <a:ea typeface="PP Mori" pitchFamily="34" charset="-122"/>
                <a:cs typeface="PP Mori" pitchFamily="34" charset="-120"/>
              </a:rPr>
              <a:t>Direct</a:t>
            </a:r>
            <a:endParaRPr lang="en-US" sz="1670" dirty="0"/>
          </a:p>
        </p:txBody>
      </p:sp>
      <p:sp>
        <p:nvSpPr>
          <p:cNvPr id="1016" name="Text 19"/>
          <p:cNvSpPr txBox="1"/>
          <p:nvPr/>
        </p:nvSpPr>
        <p:spPr>
          <a:xfrm>
            <a:off x="8466418" y="2623335"/>
            <a:ext cx="217590"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17" name="Shape 20"/>
          <p:cNvSpPr/>
          <p:nvPr/>
        </p:nvSpPr>
        <p:spPr>
          <a:xfrm>
            <a:off x="8766839" y="2509777"/>
            <a:ext cx="2361409" cy="536113"/>
          </a:xfrm>
          <a:prstGeom prst="roundRect">
            <a:avLst>
              <a:gd name="adj" fmla="val 21035"/>
            </a:avLst>
          </a:prstGeom>
          <a:solidFill>
            <a:srgbClr val="1A6685"/>
          </a:solidFill>
          <a:ln/>
        </p:spPr>
      </p:sp>
      <p:sp>
        <p:nvSpPr>
          <p:cNvPr id="1018" name="Text 21"/>
          <p:cNvSpPr txBox="1"/>
          <p:nvPr/>
        </p:nvSpPr>
        <p:spPr>
          <a:xfrm>
            <a:off x="9346903" y="2632384"/>
            <a:ext cx="1193131"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PCF Steel</a:t>
            </a:r>
            <a:endParaRPr lang="en-US" sz="1670" dirty="0"/>
          </a:p>
        </p:txBody>
      </p:sp>
      <p:sp>
        <p:nvSpPr>
          <p:cNvPr id="1019" name="Shape 22"/>
          <p:cNvSpPr/>
          <p:nvPr/>
        </p:nvSpPr>
        <p:spPr>
          <a:xfrm>
            <a:off x="9940605" y="3045891"/>
            <a:ext cx="0" cy="183256"/>
          </a:xfrm>
          <a:prstGeom prst="line">
            <a:avLst/>
          </a:prstGeom>
          <a:noFill/>
          <a:ln w="13970">
            <a:solidFill>
              <a:srgbClr val="0E4D49"/>
            </a:solidFill>
            <a:prstDash val="solid"/>
          </a:ln>
        </p:spPr>
      </p:sp>
      <p:sp>
        <p:nvSpPr>
          <p:cNvPr id="1020" name="Shape 23"/>
          <p:cNvSpPr/>
          <p:nvPr/>
        </p:nvSpPr>
        <p:spPr>
          <a:xfrm>
            <a:off x="4458550" y="3222099"/>
            <a:ext cx="5489103" cy="0"/>
          </a:xfrm>
          <a:prstGeom prst="line">
            <a:avLst/>
          </a:prstGeom>
          <a:noFill/>
          <a:ln w="13970">
            <a:solidFill>
              <a:srgbClr val="0E4D49"/>
            </a:solidFill>
            <a:prstDash val="solid"/>
          </a:ln>
        </p:spPr>
      </p:sp>
      <p:sp>
        <p:nvSpPr>
          <p:cNvPr id="1021" name="Shape 24"/>
          <p:cNvSpPr/>
          <p:nvPr/>
        </p:nvSpPr>
        <p:spPr>
          <a:xfrm>
            <a:off x="4465599" y="3229147"/>
            <a:ext cx="0" cy="183256"/>
          </a:xfrm>
          <a:prstGeom prst="line">
            <a:avLst/>
          </a:prstGeom>
          <a:noFill/>
          <a:ln w="13970">
            <a:solidFill>
              <a:srgbClr val="0E4D49"/>
            </a:solidFill>
            <a:prstDash val="solid"/>
          </a:ln>
        </p:spPr>
      </p:sp>
      <p:sp>
        <p:nvSpPr>
          <p:cNvPr id="1022" name="Text 25"/>
          <p:cNvSpPr txBox="1"/>
          <p:nvPr/>
        </p:nvSpPr>
        <p:spPr>
          <a:xfrm>
            <a:off x="1069848" y="3525851"/>
            <a:ext cx="1834775" cy="270656"/>
          </a:xfrm>
          <a:prstGeom prst="rect">
            <a:avLst/>
          </a:prstGeom>
          <a:noFill/>
          <a:ln/>
        </p:spPr>
        <p:txBody>
          <a:bodyPr wrap="none" lIns="0" tIns="0" rIns="0" bIns="0" rtlCol="0" anchor="ctr"/>
          <a:lstStyle/>
          <a:p>
            <a:pPr algn="l" indent="0" marL="0">
              <a:lnSpc>
                <a:spcPts val="2130"/>
              </a:lnSpc>
              <a:buNone/>
            </a:pPr>
            <a:r>
              <a:rPr lang="en-US" sz="1780" dirty="0">
                <a:solidFill>
                  <a:srgbClr val="0E4D49"/>
                </a:solidFill>
                <a:latin typeface="PP Mori" pitchFamily="34" charset="0"/>
                <a:ea typeface="PP Mori" pitchFamily="34" charset="-122"/>
                <a:cs typeface="PP Mori" pitchFamily="34" charset="-120"/>
              </a:rPr>
              <a:t>Body producer</a:t>
            </a:r>
            <a:endParaRPr lang="en-US" sz="1780" dirty="0"/>
          </a:p>
        </p:txBody>
      </p:sp>
      <p:sp>
        <p:nvSpPr>
          <p:cNvPr id="1023" name="Shape 26"/>
          <p:cNvSpPr/>
          <p:nvPr/>
        </p:nvSpPr>
        <p:spPr>
          <a:xfrm>
            <a:off x="3277956" y="3412403"/>
            <a:ext cx="2361189" cy="536113"/>
          </a:xfrm>
          <a:prstGeom prst="roundRect">
            <a:avLst>
              <a:gd name="adj" fmla="val 21035"/>
            </a:avLst>
          </a:prstGeom>
          <a:solidFill>
            <a:srgbClr val="1A6685"/>
          </a:solidFill>
          <a:ln/>
        </p:spPr>
      </p:sp>
      <p:sp>
        <p:nvSpPr>
          <p:cNvPr id="1024" name="Text 27"/>
          <p:cNvSpPr txBox="1"/>
          <p:nvPr/>
        </p:nvSpPr>
        <p:spPr>
          <a:xfrm>
            <a:off x="3858034" y="3535010"/>
            <a:ext cx="1192884"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PCF Steel</a:t>
            </a:r>
            <a:endParaRPr lang="en-US" sz="1670" dirty="0"/>
          </a:p>
        </p:txBody>
      </p:sp>
      <p:sp>
        <p:nvSpPr>
          <p:cNvPr id="1025" name="Text 28"/>
          <p:cNvSpPr txBox="1"/>
          <p:nvPr/>
        </p:nvSpPr>
        <p:spPr>
          <a:xfrm>
            <a:off x="5722963" y="3525961"/>
            <a:ext cx="215616"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26" name="Shape 29"/>
          <p:cNvSpPr/>
          <p:nvPr/>
        </p:nvSpPr>
        <p:spPr>
          <a:xfrm>
            <a:off x="6029446" y="3419452"/>
            <a:ext cx="2347092" cy="522017"/>
          </a:xfrm>
          <a:prstGeom prst="roundRect">
            <a:avLst>
              <a:gd name="adj" fmla="val 20253"/>
            </a:avLst>
          </a:prstGeom>
          <a:solidFill>
            <a:srgbClr val="FFFFFF"/>
          </a:solidFill>
          <a:ln w="13970">
            <a:solidFill>
              <a:srgbClr val="0E4D49"/>
            </a:solidFill>
            <a:prstDash val="solid"/>
          </a:ln>
        </p:spPr>
      </p:sp>
      <p:sp>
        <p:nvSpPr>
          <p:cNvPr id="1027" name="Text 30"/>
          <p:cNvSpPr txBox="1"/>
          <p:nvPr/>
        </p:nvSpPr>
        <p:spPr>
          <a:xfrm>
            <a:off x="6831219" y="3535231"/>
            <a:ext cx="743545" cy="254416"/>
          </a:xfrm>
          <a:prstGeom prst="rect">
            <a:avLst/>
          </a:prstGeom>
          <a:noFill/>
          <a:ln/>
        </p:spPr>
        <p:txBody>
          <a:bodyPr wrap="none" lIns="0" tIns="0" rIns="0" bIns="0" rtlCol="0" anchor="ctr"/>
          <a:lstStyle/>
          <a:p>
            <a:pPr algn="ctr" indent="0" marL="0">
              <a:lnSpc>
                <a:spcPts val="2000"/>
              </a:lnSpc>
              <a:buNone/>
            </a:pPr>
            <a:r>
              <a:rPr lang="en-US" sz="1670" dirty="0">
                <a:solidFill>
                  <a:srgbClr val="0E4D49"/>
                </a:solidFill>
                <a:latin typeface="PP Mori" pitchFamily="34" charset="0"/>
                <a:ea typeface="PP Mori" pitchFamily="34" charset="-122"/>
                <a:cs typeface="PP Mori" pitchFamily="34" charset="-120"/>
              </a:rPr>
              <a:t>Direct</a:t>
            </a:r>
            <a:endParaRPr lang="en-US" sz="1670" dirty="0"/>
          </a:p>
        </p:txBody>
      </p:sp>
      <p:sp>
        <p:nvSpPr>
          <p:cNvPr id="1028" name="Text 31"/>
          <p:cNvSpPr txBox="1"/>
          <p:nvPr/>
        </p:nvSpPr>
        <p:spPr>
          <a:xfrm>
            <a:off x="8466418" y="3525961"/>
            <a:ext cx="217590"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29" name="Shape 32"/>
          <p:cNvSpPr/>
          <p:nvPr/>
        </p:nvSpPr>
        <p:spPr>
          <a:xfrm>
            <a:off x="8766839" y="3412403"/>
            <a:ext cx="2361409" cy="536113"/>
          </a:xfrm>
          <a:prstGeom prst="roundRect">
            <a:avLst>
              <a:gd name="adj" fmla="val 21035"/>
            </a:avLst>
          </a:prstGeom>
          <a:solidFill>
            <a:srgbClr val="17876F"/>
          </a:solidFill>
          <a:ln/>
        </p:spPr>
      </p:sp>
      <p:sp>
        <p:nvSpPr>
          <p:cNvPr id="1030" name="Text 33"/>
          <p:cNvSpPr txBox="1"/>
          <p:nvPr/>
        </p:nvSpPr>
        <p:spPr>
          <a:xfrm>
            <a:off x="9346520" y="3535010"/>
            <a:ext cx="1200285"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PCF Body</a:t>
            </a:r>
            <a:endParaRPr lang="en-US" sz="1670" dirty="0"/>
          </a:p>
        </p:txBody>
      </p:sp>
      <p:sp>
        <p:nvSpPr>
          <p:cNvPr id="1031" name="Shape 34"/>
          <p:cNvSpPr/>
          <p:nvPr/>
        </p:nvSpPr>
        <p:spPr>
          <a:xfrm>
            <a:off x="9940605" y="3948517"/>
            <a:ext cx="0" cy="183256"/>
          </a:xfrm>
          <a:prstGeom prst="line">
            <a:avLst/>
          </a:prstGeom>
          <a:noFill/>
          <a:ln w="13970">
            <a:solidFill>
              <a:srgbClr val="0E4D49"/>
            </a:solidFill>
            <a:prstDash val="solid"/>
          </a:ln>
        </p:spPr>
      </p:sp>
      <p:sp>
        <p:nvSpPr>
          <p:cNvPr id="1032" name="Shape 35"/>
          <p:cNvSpPr/>
          <p:nvPr/>
        </p:nvSpPr>
        <p:spPr>
          <a:xfrm>
            <a:off x="4458550" y="4124725"/>
            <a:ext cx="5489103" cy="0"/>
          </a:xfrm>
          <a:prstGeom prst="line">
            <a:avLst/>
          </a:prstGeom>
          <a:noFill/>
          <a:ln w="13970">
            <a:solidFill>
              <a:srgbClr val="0E4D49"/>
            </a:solidFill>
            <a:prstDash val="solid"/>
          </a:ln>
        </p:spPr>
      </p:sp>
      <p:sp>
        <p:nvSpPr>
          <p:cNvPr id="1033" name="Shape 36"/>
          <p:cNvSpPr/>
          <p:nvPr/>
        </p:nvSpPr>
        <p:spPr>
          <a:xfrm>
            <a:off x="4465599" y="4131773"/>
            <a:ext cx="0" cy="183256"/>
          </a:xfrm>
          <a:prstGeom prst="line">
            <a:avLst/>
          </a:prstGeom>
          <a:noFill/>
          <a:ln w="13970">
            <a:solidFill>
              <a:srgbClr val="0E4D49"/>
            </a:solidFill>
            <a:prstDash val="solid"/>
          </a:ln>
        </p:spPr>
      </p:sp>
      <p:sp>
        <p:nvSpPr>
          <p:cNvPr id="1034" name="Text 37"/>
          <p:cNvSpPr txBox="1"/>
          <p:nvPr/>
        </p:nvSpPr>
        <p:spPr>
          <a:xfrm>
            <a:off x="1069848" y="4428477"/>
            <a:ext cx="2198892" cy="270656"/>
          </a:xfrm>
          <a:prstGeom prst="rect">
            <a:avLst/>
          </a:prstGeom>
          <a:noFill/>
          <a:ln/>
        </p:spPr>
        <p:txBody>
          <a:bodyPr wrap="none" lIns="0" tIns="0" rIns="0" bIns="0" rtlCol="0" anchor="ctr"/>
          <a:lstStyle/>
          <a:p>
            <a:pPr algn="l" indent="0" marL="0">
              <a:lnSpc>
                <a:spcPts val="2130"/>
              </a:lnSpc>
              <a:buNone/>
            </a:pPr>
            <a:r>
              <a:rPr lang="en-US" sz="1780" dirty="0">
                <a:solidFill>
                  <a:srgbClr val="0E4D49"/>
                </a:solidFill>
                <a:latin typeface="PP Mori" pitchFamily="34" charset="0"/>
                <a:ea typeface="PP Mori" pitchFamily="34" charset="-122"/>
                <a:cs typeface="PP Mori" pitchFamily="34" charset="-120"/>
              </a:rPr>
              <a:t>Car manufacturer</a:t>
            </a:r>
            <a:endParaRPr lang="en-US" sz="1780" dirty="0"/>
          </a:p>
        </p:txBody>
      </p:sp>
      <p:sp>
        <p:nvSpPr>
          <p:cNvPr id="1035" name="Shape 38"/>
          <p:cNvSpPr/>
          <p:nvPr/>
        </p:nvSpPr>
        <p:spPr>
          <a:xfrm>
            <a:off x="3277956" y="4315029"/>
            <a:ext cx="2361189" cy="536113"/>
          </a:xfrm>
          <a:prstGeom prst="roundRect">
            <a:avLst>
              <a:gd name="adj" fmla="val 21035"/>
            </a:avLst>
          </a:prstGeom>
          <a:solidFill>
            <a:srgbClr val="17876F"/>
          </a:solidFill>
          <a:ln/>
        </p:spPr>
      </p:sp>
      <p:sp>
        <p:nvSpPr>
          <p:cNvPr id="1036" name="Text 39"/>
          <p:cNvSpPr txBox="1"/>
          <p:nvPr/>
        </p:nvSpPr>
        <p:spPr>
          <a:xfrm>
            <a:off x="3857650" y="4437637"/>
            <a:ext cx="1200038"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PCF Body</a:t>
            </a:r>
            <a:endParaRPr lang="en-US" sz="1670" dirty="0"/>
          </a:p>
        </p:txBody>
      </p:sp>
      <p:sp>
        <p:nvSpPr>
          <p:cNvPr id="1037" name="Text 40"/>
          <p:cNvSpPr txBox="1"/>
          <p:nvPr/>
        </p:nvSpPr>
        <p:spPr>
          <a:xfrm>
            <a:off x="5722963" y="4428587"/>
            <a:ext cx="215616"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38" name="Shape 41"/>
          <p:cNvSpPr/>
          <p:nvPr/>
        </p:nvSpPr>
        <p:spPr>
          <a:xfrm>
            <a:off x="6029446" y="4322078"/>
            <a:ext cx="2347092" cy="522017"/>
          </a:xfrm>
          <a:prstGeom prst="roundRect">
            <a:avLst>
              <a:gd name="adj" fmla="val 20253"/>
            </a:avLst>
          </a:prstGeom>
          <a:solidFill>
            <a:srgbClr val="FFFFFF"/>
          </a:solidFill>
          <a:ln w="13970">
            <a:solidFill>
              <a:srgbClr val="0E4D49"/>
            </a:solidFill>
            <a:prstDash val="solid"/>
          </a:ln>
        </p:spPr>
      </p:sp>
      <p:sp>
        <p:nvSpPr>
          <p:cNvPr id="1039" name="Text 42"/>
          <p:cNvSpPr txBox="1"/>
          <p:nvPr/>
        </p:nvSpPr>
        <p:spPr>
          <a:xfrm>
            <a:off x="6831219" y="4437857"/>
            <a:ext cx="743545" cy="254416"/>
          </a:xfrm>
          <a:prstGeom prst="rect">
            <a:avLst/>
          </a:prstGeom>
          <a:noFill/>
          <a:ln/>
        </p:spPr>
        <p:txBody>
          <a:bodyPr wrap="none" lIns="0" tIns="0" rIns="0" bIns="0" rtlCol="0" anchor="ctr"/>
          <a:lstStyle/>
          <a:p>
            <a:pPr algn="ctr" indent="0" marL="0">
              <a:lnSpc>
                <a:spcPts val="2000"/>
              </a:lnSpc>
              <a:buNone/>
            </a:pPr>
            <a:r>
              <a:rPr lang="en-US" sz="1670" dirty="0">
                <a:solidFill>
                  <a:srgbClr val="0E4D49"/>
                </a:solidFill>
                <a:latin typeface="PP Mori" pitchFamily="34" charset="0"/>
                <a:ea typeface="PP Mori" pitchFamily="34" charset="-122"/>
                <a:cs typeface="PP Mori" pitchFamily="34" charset="-120"/>
              </a:rPr>
              <a:t>Direct</a:t>
            </a:r>
            <a:endParaRPr lang="en-US" sz="1670" dirty="0"/>
          </a:p>
        </p:txBody>
      </p:sp>
      <p:sp>
        <p:nvSpPr>
          <p:cNvPr id="1040" name="Text 43"/>
          <p:cNvSpPr txBox="1"/>
          <p:nvPr/>
        </p:nvSpPr>
        <p:spPr>
          <a:xfrm>
            <a:off x="8466418" y="4428587"/>
            <a:ext cx="217590"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41" name="Shape 44"/>
          <p:cNvSpPr/>
          <p:nvPr/>
        </p:nvSpPr>
        <p:spPr>
          <a:xfrm>
            <a:off x="8766839" y="4315029"/>
            <a:ext cx="2361409" cy="536113"/>
          </a:xfrm>
          <a:prstGeom prst="roundRect">
            <a:avLst>
              <a:gd name="adj" fmla="val 21035"/>
            </a:avLst>
          </a:prstGeom>
          <a:solidFill>
            <a:srgbClr val="2A7A4B"/>
          </a:solidFill>
          <a:ln/>
        </p:spPr>
      </p:sp>
      <p:sp>
        <p:nvSpPr>
          <p:cNvPr id="1042" name="Text 45"/>
          <p:cNvSpPr txBox="1"/>
          <p:nvPr/>
        </p:nvSpPr>
        <p:spPr>
          <a:xfrm>
            <a:off x="9425831" y="4437637"/>
            <a:ext cx="1035495"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PCF Car</a:t>
            </a:r>
            <a:endParaRPr lang="en-US" sz="1670" dirty="0"/>
          </a:p>
        </p:txBody>
      </p:sp>
      <p:sp>
        <p:nvSpPr>
          <p:cNvPr id="1043" name="Shape 46"/>
          <p:cNvSpPr/>
          <p:nvPr/>
        </p:nvSpPr>
        <p:spPr>
          <a:xfrm>
            <a:off x="9940605" y="4851143"/>
            <a:ext cx="0" cy="183256"/>
          </a:xfrm>
          <a:prstGeom prst="line">
            <a:avLst/>
          </a:prstGeom>
          <a:noFill/>
          <a:ln w="13970">
            <a:solidFill>
              <a:srgbClr val="0E4D49"/>
            </a:solidFill>
            <a:prstDash val="solid"/>
          </a:ln>
        </p:spPr>
      </p:sp>
      <p:sp>
        <p:nvSpPr>
          <p:cNvPr id="1044" name="Shape 47"/>
          <p:cNvSpPr/>
          <p:nvPr/>
        </p:nvSpPr>
        <p:spPr>
          <a:xfrm>
            <a:off x="4458550" y="5027351"/>
            <a:ext cx="5489103" cy="0"/>
          </a:xfrm>
          <a:prstGeom prst="line">
            <a:avLst/>
          </a:prstGeom>
          <a:noFill/>
          <a:ln w="13970">
            <a:solidFill>
              <a:srgbClr val="0E4D49"/>
            </a:solidFill>
            <a:prstDash val="solid"/>
          </a:ln>
        </p:spPr>
      </p:sp>
      <p:sp>
        <p:nvSpPr>
          <p:cNvPr id="1045" name="Shape 48"/>
          <p:cNvSpPr/>
          <p:nvPr/>
        </p:nvSpPr>
        <p:spPr>
          <a:xfrm>
            <a:off x="4465599" y="5034399"/>
            <a:ext cx="0" cy="183256"/>
          </a:xfrm>
          <a:prstGeom prst="line">
            <a:avLst/>
          </a:prstGeom>
          <a:noFill/>
          <a:ln w="13970">
            <a:solidFill>
              <a:srgbClr val="0E4D49"/>
            </a:solidFill>
            <a:prstDash val="solid"/>
          </a:ln>
        </p:spPr>
      </p:sp>
      <p:sp>
        <p:nvSpPr>
          <p:cNvPr id="1046" name="Shape 49"/>
          <p:cNvSpPr/>
          <p:nvPr/>
        </p:nvSpPr>
        <p:spPr>
          <a:xfrm>
            <a:off x="3277956" y="5217656"/>
            <a:ext cx="2361189" cy="536113"/>
          </a:xfrm>
          <a:prstGeom prst="roundRect">
            <a:avLst>
              <a:gd name="adj" fmla="val 21035"/>
            </a:avLst>
          </a:prstGeom>
          <a:solidFill>
            <a:srgbClr val="2A7A4B"/>
          </a:solidFill>
          <a:ln/>
        </p:spPr>
      </p:sp>
      <p:sp>
        <p:nvSpPr>
          <p:cNvPr id="1047" name="Text 50"/>
          <p:cNvSpPr txBox="1"/>
          <p:nvPr/>
        </p:nvSpPr>
        <p:spPr>
          <a:xfrm>
            <a:off x="3936948" y="5340263"/>
            <a:ext cx="1035495"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PCF Car</a:t>
            </a:r>
            <a:endParaRPr lang="en-US" sz="1670" dirty="0"/>
          </a:p>
        </p:txBody>
      </p:sp>
      <p:sp>
        <p:nvSpPr>
          <p:cNvPr id="1048" name="Text 51"/>
          <p:cNvSpPr txBox="1"/>
          <p:nvPr/>
        </p:nvSpPr>
        <p:spPr>
          <a:xfrm>
            <a:off x="5722963" y="5331213"/>
            <a:ext cx="215616"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49" name="Shape 52"/>
          <p:cNvSpPr/>
          <p:nvPr/>
        </p:nvSpPr>
        <p:spPr>
          <a:xfrm>
            <a:off x="6029446" y="5224704"/>
            <a:ext cx="2347092" cy="522017"/>
          </a:xfrm>
          <a:prstGeom prst="roundRect">
            <a:avLst>
              <a:gd name="adj" fmla="val 20253"/>
            </a:avLst>
          </a:prstGeom>
          <a:solidFill>
            <a:srgbClr val="FFFFFF"/>
          </a:solidFill>
          <a:ln w="13970">
            <a:solidFill>
              <a:srgbClr val="0E4D49"/>
            </a:solidFill>
            <a:prstDash val="solid"/>
          </a:ln>
        </p:spPr>
      </p:sp>
      <p:sp>
        <p:nvSpPr>
          <p:cNvPr id="1050" name="Text 53"/>
          <p:cNvSpPr txBox="1"/>
          <p:nvPr/>
        </p:nvSpPr>
        <p:spPr>
          <a:xfrm>
            <a:off x="6002561" y="5340263"/>
            <a:ext cx="2392051" cy="254416"/>
          </a:xfrm>
          <a:prstGeom prst="rect">
            <a:avLst/>
          </a:prstGeom>
          <a:noFill/>
          <a:ln/>
        </p:spPr>
        <p:txBody>
          <a:bodyPr wrap="none" lIns="0" tIns="0" rIns="0" bIns="0" rtlCol="0" anchor="ctr"/>
          <a:lstStyle/>
          <a:p>
            <a:pPr algn="ctr" indent="0" marL="0">
              <a:lnSpc>
                <a:spcPts val="2000"/>
              </a:lnSpc>
              <a:buNone/>
            </a:pPr>
            <a:r>
              <a:rPr lang="en-US" sz="1670" dirty="0">
                <a:solidFill>
                  <a:srgbClr val="0E4D49"/>
                </a:solidFill>
                <a:latin typeface="PP Mori" pitchFamily="34" charset="0"/>
                <a:ea typeface="PP Mori" pitchFamily="34" charset="-122"/>
                <a:cs typeface="PP Mori" pitchFamily="34" charset="-120"/>
              </a:rPr>
              <a:t>Downstream Indirect</a:t>
            </a:r>
            <a:endParaRPr lang="en-US" sz="1670" dirty="0"/>
          </a:p>
        </p:txBody>
      </p:sp>
      <p:sp>
        <p:nvSpPr>
          <p:cNvPr id="1051" name="Text 54"/>
          <p:cNvSpPr txBox="1"/>
          <p:nvPr/>
        </p:nvSpPr>
        <p:spPr>
          <a:xfrm>
            <a:off x="8466418" y="5331213"/>
            <a:ext cx="217590" cy="270656"/>
          </a:xfrm>
          <a:prstGeom prst="rect">
            <a:avLst/>
          </a:prstGeom>
          <a:noFill/>
          <a:ln/>
        </p:spPr>
        <p:txBody>
          <a:bodyPr wrap="none" lIns="0" tIns="0" rIns="0" bIns="0" rtlCol="0" anchor="ctr"/>
          <a:lstStyle/>
          <a:p>
            <a:pPr algn="ctr" indent="0" marL="0">
              <a:lnSpc>
                <a:spcPts val="2130"/>
              </a:lnSpc>
              <a:buNone/>
            </a:pPr>
            <a:r>
              <a:rPr lang="en-US" sz="1780" dirty="0">
                <a:solidFill>
                  <a:srgbClr val="0E4D49"/>
                </a:solidFill>
                <a:latin typeface="PP Mori" pitchFamily="34" charset="0"/>
                <a:ea typeface="PP Mori" pitchFamily="34" charset="-122"/>
                <a:cs typeface="PP Mori" pitchFamily="34" charset="-120"/>
              </a:rPr>
              <a:t>=</a:t>
            </a:r>
            <a:endParaRPr lang="en-US" sz="1780" dirty="0"/>
          </a:p>
        </p:txBody>
      </p:sp>
      <p:sp>
        <p:nvSpPr>
          <p:cNvPr id="1052" name="Shape 55"/>
          <p:cNvSpPr/>
          <p:nvPr/>
        </p:nvSpPr>
        <p:spPr>
          <a:xfrm>
            <a:off x="8766839" y="5217656"/>
            <a:ext cx="2361409" cy="536113"/>
          </a:xfrm>
          <a:prstGeom prst="roundRect">
            <a:avLst>
              <a:gd name="adj" fmla="val 21035"/>
            </a:avLst>
          </a:prstGeom>
          <a:solidFill>
            <a:srgbClr val="85499E"/>
          </a:solidFill>
          <a:ln/>
        </p:spPr>
      </p:sp>
      <p:sp>
        <p:nvSpPr>
          <p:cNvPr id="1053" name="Text 56"/>
          <p:cNvSpPr txBox="1"/>
          <p:nvPr/>
        </p:nvSpPr>
        <p:spPr>
          <a:xfrm>
            <a:off x="8841217" y="5340263"/>
            <a:ext cx="2212213" cy="254416"/>
          </a:xfrm>
          <a:prstGeom prst="rect">
            <a:avLst/>
          </a:prstGeom>
          <a:noFill/>
          <a:ln/>
        </p:spPr>
        <p:txBody>
          <a:bodyPr wrap="none" lIns="0" tIns="0" rIns="0" bIns="0" rtlCol="0" anchor="ctr"/>
          <a:lstStyle/>
          <a:p>
            <a:pPr algn="ctr" indent="0" marL="0">
              <a:lnSpc>
                <a:spcPts val="2000"/>
              </a:lnSpc>
              <a:buNone/>
            </a:pPr>
            <a:r>
              <a:rPr lang="en-US" sz="1670" dirty="0">
                <a:solidFill>
                  <a:srgbClr val="FFFFFF"/>
                </a:solidFill>
                <a:latin typeface="PP Mori" pitchFamily="34" charset="0"/>
                <a:ea typeface="PP Mori" pitchFamily="34" charset="-122"/>
                <a:cs typeface="PP Mori" pitchFamily="34" charset="-120"/>
              </a:rPr>
              <a:t>Life-cycle PCF Car</a:t>
            </a:r>
            <a:endParaRPr lang="en-US" sz="16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66399" cy="384048"/>
          </a:xfrm>
          <a:prstGeom prst="rect">
            <a:avLst/>
          </a:prstGeom>
          <a:noFill/>
          <a:ln/>
        </p:spPr>
        <p:txBody>
          <a:bodyPr wrap="square" lIns="0" tIns="0" rIns="0" bIns="0" rtlCol="0" anchor="t"/>
          <a:lstStyle/>
          <a:p>
            <a:pPr algn="l" indent="0" marL="0">
              <a:buNone/>
            </a:pPr>
            <a:r>
              <a:rPr lang="en-US" sz="1700" dirty="0">
                <a:solidFill>
                  <a:srgbClr val="0E4D49"/>
                </a:solidFill>
                <a:latin typeface="PP Mori Semibold" pitchFamily="34" charset="0"/>
                <a:ea typeface="PP Mori Semibold" pitchFamily="34" charset="-122"/>
                <a:cs typeface="PP Mori Semibold" pitchFamily="34" charset="-120"/>
              </a:rPr>
              <a:t>Lower Cost</a:t>
            </a:r>
            <a:endParaRPr lang="en-US" sz="1700" dirty="0"/>
          </a:p>
        </p:txBody>
      </p:sp>
      <p:sp>
        <p:nvSpPr>
          <p:cNvPr id="25" name="Slide Number Placeholder 0"/>
          <p:cNvSpPr>
            <a:spLocks noGrp="1"/>
          </p:cNvSpPr>
          <p:nvPr>
            <p:ph type="sldNum" sz="quarter" idx="4294967295"/>
          </p:nvPr>
        </p:nvSpPr>
        <p:spPr>
          <a:xfrm>
            <a:off x="10207447" y="6464808"/>
            <a:ext cx="1371600" cy="182880"/>
          </a:xfrm>
          <a:prstGeom prst="rect">
            <a:avLst/>
          </a:prstGeom>
          <a:extLst>
            <a:ext uri="{C572A759-6A51-4108-AA02-DFA0A04FC94B}">
              <ma14:wrappingTextBoxFlag xmlns:ma14="http://schemas.microsoft.com/office/mac/drawingml/2011/main" val="0"/>
            </a:ext>
          </a:extLst>
        </p:spPr>
        <p:txBody>
          <a:bodyPr lIns="0" tIns="0" rIns="0" bIns="0" anchor="t"/>
          <a:lstStyle>
            <a:lvl1pPr>
              <a:defRPr sz="750">
                <a:solidFill>
                  <a:srgbClr val="5F7471"/>
                </a:solidFill>
                <a:latin typeface="PP Mori"/>
                <a:ea typeface="PP Mori"/>
                <a:cs typeface="PP Mori"/>
              </a:defRPr>
            </a:lvl1pPr>
          </a:lstStyle>
          <a:p>
            <a:pPr algn="r"/>
            <a:fld id="{F7021451-1387-4CA6-816F-3879F97B5CBC}" type="slidenum">
              <a:rPr b="0" lang="en-US"/>
              <a:t>11</a:t>
            </a:fld>
            <a:endParaRPr lang="en-US"/>
          </a:p>
        </p:txBody>
      </p:sp>
      <p:sp>
        <p:nvSpPr>
          <p:cNvPr id="1001" name="Shape 4"/>
          <p:cNvSpPr/>
          <p:nvPr/>
        </p:nvSpPr>
        <p:spPr>
          <a:xfrm>
            <a:off x="2433020" y="1097280"/>
            <a:ext cx="5218545" cy="5166360"/>
          </a:xfrm>
          <a:prstGeom prst="roundRect">
            <a:avLst>
              <a:gd name="adj" fmla="val 6061"/>
            </a:avLst>
          </a:prstGeom>
          <a:solidFill>
            <a:srgbClr val="0E4D49"/>
          </a:solidFill>
          <a:ln/>
        </p:spPr>
      </p:sp>
      <p:sp>
        <p:nvSpPr>
          <p:cNvPr id="1002" name="Shape 5"/>
          <p:cNvSpPr/>
          <p:nvPr/>
        </p:nvSpPr>
        <p:spPr>
          <a:xfrm>
            <a:off x="4898783" y="3882679"/>
            <a:ext cx="169603" cy="0"/>
          </a:xfrm>
          <a:prstGeom prst="line">
            <a:avLst/>
          </a:prstGeom>
          <a:noFill/>
          <a:ln w="12700">
            <a:solidFill>
              <a:srgbClr val="FFFFFF"/>
            </a:solidFill>
            <a:prstDash val="solid"/>
          </a:ln>
        </p:spPr>
      </p:sp>
      <p:sp>
        <p:nvSpPr>
          <p:cNvPr id="1003" name="Shape 6"/>
          <p:cNvSpPr/>
          <p:nvPr/>
        </p:nvSpPr>
        <p:spPr>
          <a:xfrm>
            <a:off x="5074908" y="2349731"/>
            <a:ext cx="0" cy="3065895"/>
          </a:xfrm>
          <a:prstGeom prst="line">
            <a:avLst/>
          </a:prstGeom>
          <a:noFill/>
          <a:ln w="12700">
            <a:solidFill>
              <a:srgbClr val="FFFFFF"/>
            </a:solidFill>
            <a:prstDash val="solid"/>
          </a:ln>
        </p:spPr>
      </p:sp>
      <p:sp>
        <p:nvSpPr>
          <p:cNvPr id="1004" name="Shape 7"/>
          <p:cNvSpPr/>
          <p:nvPr/>
        </p:nvSpPr>
        <p:spPr>
          <a:xfrm>
            <a:off x="5081228" y="2356254"/>
            <a:ext cx="156556" cy="0"/>
          </a:xfrm>
          <a:prstGeom prst="line">
            <a:avLst/>
          </a:prstGeom>
          <a:noFill/>
          <a:ln w="12700">
            <a:solidFill>
              <a:srgbClr val="FFFFFF"/>
            </a:solidFill>
            <a:prstDash val="solid"/>
          </a:ln>
        </p:spPr>
      </p:sp>
      <p:sp>
        <p:nvSpPr>
          <p:cNvPr id="1005" name="Shape 8"/>
          <p:cNvSpPr/>
          <p:nvPr/>
        </p:nvSpPr>
        <p:spPr>
          <a:xfrm>
            <a:off x="5081228" y="3373870"/>
            <a:ext cx="156556" cy="0"/>
          </a:xfrm>
          <a:prstGeom prst="line">
            <a:avLst/>
          </a:prstGeom>
          <a:noFill/>
          <a:ln w="12700">
            <a:solidFill>
              <a:srgbClr val="FFFFFF"/>
            </a:solidFill>
            <a:prstDash val="solid"/>
          </a:ln>
        </p:spPr>
      </p:sp>
      <p:sp>
        <p:nvSpPr>
          <p:cNvPr id="1006" name="Shape 9"/>
          <p:cNvSpPr/>
          <p:nvPr/>
        </p:nvSpPr>
        <p:spPr>
          <a:xfrm>
            <a:off x="5081228" y="4391487"/>
            <a:ext cx="156556" cy="0"/>
          </a:xfrm>
          <a:prstGeom prst="line">
            <a:avLst/>
          </a:prstGeom>
          <a:noFill/>
          <a:ln w="12700">
            <a:solidFill>
              <a:srgbClr val="FFFFFF"/>
            </a:solidFill>
            <a:prstDash val="solid"/>
          </a:ln>
        </p:spPr>
      </p:sp>
      <p:sp>
        <p:nvSpPr>
          <p:cNvPr id="1007" name="Shape 10"/>
          <p:cNvSpPr/>
          <p:nvPr/>
        </p:nvSpPr>
        <p:spPr>
          <a:xfrm>
            <a:off x="5081228" y="5409103"/>
            <a:ext cx="156556" cy="0"/>
          </a:xfrm>
          <a:prstGeom prst="line">
            <a:avLst/>
          </a:prstGeom>
          <a:noFill/>
          <a:ln w="12700">
            <a:solidFill>
              <a:srgbClr val="FFFFFF"/>
            </a:solidFill>
            <a:prstDash val="solid"/>
          </a:ln>
        </p:spPr>
      </p:sp>
      <p:sp>
        <p:nvSpPr>
          <p:cNvPr id="1008" name="Shape 11"/>
          <p:cNvSpPr/>
          <p:nvPr/>
        </p:nvSpPr>
        <p:spPr>
          <a:xfrm>
            <a:off x="7651565" y="3882679"/>
            <a:ext cx="560994" cy="0"/>
          </a:xfrm>
          <a:prstGeom prst="line">
            <a:avLst/>
          </a:prstGeom>
          <a:noFill/>
          <a:ln w="12700">
            <a:solidFill>
              <a:srgbClr val="0E4D49"/>
            </a:solidFill>
            <a:prstDash val="solid"/>
          </a:ln>
        </p:spPr>
      </p:sp>
      <p:sp>
        <p:nvSpPr>
          <p:cNvPr id="1009" name="Shape 12"/>
          <p:cNvSpPr/>
          <p:nvPr/>
        </p:nvSpPr>
        <p:spPr>
          <a:xfrm>
            <a:off x="8218878" y="1762645"/>
            <a:ext cx="0" cy="4240068"/>
          </a:xfrm>
          <a:prstGeom prst="line">
            <a:avLst/>
          </a:prstGeom>
          <a:noFill/>
          <a:ln w="12700">
            <a:solidFill>
              <a:srgbClr val="0E4D49"/>
            </a:solidFill>
            <a:prstDash val="solid"/>
          </a:ln>
        </p:spPr>
      </p:sp>
      <p:sp>
        <p:nvSpPr>
          <p:cNvPr id="1010" name="Shape 13"/>
          <p:cNvSpPr/>
          <p:nvPr/>
        </p:nvSpPr>
        <p:spPr>
          <a:xfrm>
            <a:off x="8225605" y="1769168"/>
            <a:ext cx="182445" cy="0"/>
          </a:xfrm>
          <a:prstGeom prst="line">
            <a:avLst/>
          </a:prstGeom>
          <a:noFill/>
          <a:ln w="12700">
            <a:solidFill>
              <a:srgbClr val="0E4D49"/>
            </a:solidFill>
            <a:prstDash val="solid"/>
          </a:ln>
        </p:spPr>
      </p:sp>
      <p:sp>
        <p:nvSpPr>
          <p:cNvPr id="1011" name="Shape 14"/>
          <p:cNvSpPr/>
          <p:nvPr/>
        </p:nvSpPr>
        <p:spPr>
          <a:xfrm>
            <a:off x="8225605" y="2238837"/>
            <a:ext cx="182445" cy="0"/>
          </a:xfrm>
          <a:prstGeom prst="line">
            <a:avLst/>
          </a:prstGeom>
          <a:noFill/>
          <a:ln w="12700">
            <a:solidFill>
              <a:srgbClr val="0E4D49"/>
            </a:solidFill>
            <a:prstDash val="solid"/>
          </a:ln>
        </p:spPr>
      </p:sp>
      <p:sp>
        <p:nvSpPr>
          <p:cNvPr id="1012" name="Shape 15"/>
          <p:cNvSpPr/>
          <p:nvPr/>
        </p:nvSpPr>
        <p:spPr>
          <a:xfrm>
            <a:off x="8225605" y="2708506"/>
            <a:ext cx="182445" cy="0"/>
          </a:xfrm>
          <a:prstGeom prst="line">
            <a:avLst/>
          </a:prstGeom>
          <a:noFill/>
          <a:ln w="12700">
            <a:solidFill>
              <a:srgbClr val="0E4D49"/>
            </a:solidFill>
            <a:prstDash val="solid"/>
          </a:ln>
        </p:spPr>
      </p:sp>
      <p:sp>
        <p:nvSpPr>
          <p:cNvPr id="1013" name="Shape 16"/>
          <p:cNvSpPr/>
          <p:nvPr/>
        </p:nvSpPr>
        <p:spPr>
          <a:xfrm>
            <a:off x="8225605" y="3178175"/>
            <a:ext cx="182445" cy="0"/>
          </a:xfrm>
          <a:prstGeom prst="line">
            <a:avLst/>
          </a:prstGeom>
          <a:noFill/>
          <a:ln w="12700">
            <a:solidFill>
              <a:srgbClr val="0E4D49"/>
            </a:solidFill>
            <a:prstDash val="solid"/>
          </a:ln>
        </p:spPr>
      </p:sp>
      <p:sp>
        <p:nvSpPr>
          <p:cNvPr id="1014" name="Shape 17"/>
          <p:cNvSpPr/>
          <p:nvPr/>
        </p:nvSpPr>
        <p:spPr>
          <a:xfrm>
            <a:off x="8225605" y="3647844"/>
            <a:ext cx="182445" cy="0"/>
          </a:xfrm>
          <a:prstGeom prst="line">
            <a:avLst/>
          </a:prstGeom>
          <a:noFill/>
          <a:ln w="12700">
            <a:solidFill>
              <a:srgbClr val="0E4D49"/>
            </a:solidFill>
            <a:prstDash val="solid"/>
          </a:ln>
        </p:spPr>
      </p:sp>
      <p:sp>
        <p:nvSpPr>
          <p:cNvPr id="1015" name="Shape 18"/>
          <p:cNvSpPr/>
          <p:nvPr/>
        </p:nvSpPr>
        <p:spPr>
          <a:xfrm>
            <a:off x="8225605" y="4117513"/>
            <a:ext cx="182445" cy="0"/>
          </a:xfrm>
          <a:prstGeom prst="line">
            <a:avLst/>
          </a:prstGeom>
          <a:noFill/>
          <a:ln w="12700">
            <a:solidFill>
              <a:srgbClr val="0E4D49"/>
            </a:solidFill>
            <a:prstDash val="solid"/>
          </a:ln>
        </p:spPr>
      </p:sp>
      <p:sp>
        <p:nvSpPr>
          <p:cNvPr id="1016" name="Shape 19"/>
          <p:cNvSpPr/>
          <p:nvPr/>
        </p:nvSpPr>
        <p:spPr>
          <a:xfrm>
            <a:off x="8225605" y="4587182"/>
            <a:ext cx="182445" cy="0"/>
          </a:xfrm>
          <a:prstGeom prst="line">
            <a:avLst/>
          </a:prstGeom>
          <a:noFill/>
          <a:ln w="12700">
            <a:solidFill>
              <a:srgbClr val="0E4D49"/>
            </a:solidFill>
            <a:prstDash val="solid"/>
          </a:ln>
        </p:spPr>
      </p:sp>
      <p:sp>
        <p:nvSpPr>
          <p:cNvPr id="1017" name="Shape 20"/>
          <p:cNvSpPr/>
          <p:nvPr/>
        </p:nvSpPr>
        <p:spPr>
          <a:xfrm>
            <a:off x="8225605" y="5056851"/>
            <a:ext cx="182445" cy="0"/>
          </a:xfrm>
          <a:prstGeom prst="line">
            <a:avLst/>
          </a:prstGeom>
          <a:noFill/>
          <a:ln w="12700">
            <a:solidFill>
              <a:srgbClr val="0E4D49"/>
            </a:solidFill>
            <a:prstDash val="solid"/>
          </a:ln>
        </p:spPr>
      </p:sp>
      <p:sp>
        <p:nvSpPr>
          <p:cNvPr id="1018" name="Shape 21"/>
          <p:cNvSpPr/>
          <p:nvPr/>
        </p:nvSpPr>
        <p:spPr>
          <a:xfrm>
            <a:off x="8225605" y="5526520"/>
            <a:ext cx="182445" cy="0"/>
          </a:xfrm>
          <a:prstGeom prst="line">
            <a:avLst/>
          </a:prstGeom>
          <a:noFill/>
          <a:ln w="12700">
            <a:solidFill>
              <a:srgbClr val="0E4D49"/>
            </a:solidFill>
            <a:prstDash val="solid"/>
          </a:ln>
        </p:spPr>
      </p:sp>
      <p:sp>
        <p:nvSpPr>
          <p:cNvPr id="1019" name="Shape 22"/>
          <p:cNvSpPr/>
          <p:nvPr/>
        </p:nvSpPr>
        <p:spPr>
          <a:xfrm>
            <a:off x="8225605" y="5996190"/>
            <a:ext cx="182445" cy="0"/>
          </a:xfrm>
          <a:prstGeom prst="line">
            <a:avLst/>
          </a:prstGeom>
          <a:noFill/>
          <a:ln w="12700">
            <a:solidFill>
              <a:srgbClr val="0E4D49"/>
            </a:solidFill>
            <a:prstDash val="solid"/>
          </a:ln>
        </p:spPr>
      </p:sp>
      <p:sp>
        <p:nvSpPr>
          <p:cNvPr id="1020" name="Shape 23"/>
          <p:cNvSpPr/>
          <p:nvPr/>
        </p:nvSpPr>
        <p:spPr>
          <a:xfrm>
            <a:off x="2824411" y="3262976"/>
            <a:ext cx="2074372" cy="1226358"/>
          </a:xfrm>
          <a:prstGeom prst="roundRect">
            <a:avLst>
              <a:gd name="adj" fmla="val 8511"/>
            </a:avLst>
          </a:prstGeom>
          <a:solidFill>
            <a:srgbClr val="FFFFFF"/>
          </a:solidFill>
          <a:ln/>
        </p:spPr>
      </p:sp>
      <p:pic>
        <p:nvPicPr>
          <p:cNvPr id="1021" name="Image 0" descr="preencoded.png">    </p:cNvPr>
          <p:cNvPicPr>
            <a:picLocks noChangeAspect="1"/>
          </p:cNvPicPr>
          <p:nvPr/>
        </p:nvPicPr>
        <p:blipFill>
          <a:blip r:embed="rIdWeb111">
            <a:extLst>
              <a:ext uri="{96DAC541-7B7A-43D3-8B79-37D633B846F1}">
                <asvg:svgBlip xmlns:asvg="http://schemas.microsoft.com/office/drawing/2016/SVG/main" r:embed="rIdWeb113"/>
              </a:ext>
            </a:extLst>
          </a:blip>
          <a:stretch>
            <a:fillRect/>
          </a:stretch>
        </p:blipFill>
        <p:spPr>
          <a:xfrm>
            <a:off x="2967717" y="3693506"/>
            <a:ext cx="365298" cy="365298"/>
          </a:xfrm>
          <a:prstGeom prst="rect">
            <a:avLst/>
          </a:prstGeom>
        </p:spPr>
      </p:pic>
      <p:sp>
        <p:nvSpPr>
          <p:cNvPr id="1022" name="Text 24"/>
          <p:cNvSpPr txBox="1"/>
          <p:nvPr/>
        </p:nvSpPr>
        <p:spPr>
          <a:xfrm>
            <a:off x="3437182" y="3741900"/>
            <a:ext cx="1327495"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Semibold" pitchFamily="34" charset="0"/>
                <a:ea typeface="PP Mori Semibold" pitchFamily="34" charset="-122"/>
                <a:cs typeface="PP Mori Semibold" pitchFamily="34" charset="-120"/>
              </a:rPr>
              <a:t>CO2 Ledger</a:t>
            </a:r>
            <a:endParaRPr lang="en-US" sz="1540" dirty="0"/>
          </a:p>
        </p:txBody>
      </p:sp>
      <p:sp>
        <p:nvSpPr>
          <p:cNvPr id="1023" name="Shape 25"/>
          <p:cNvSpPr/>
          <p:nvPr/>
        </p:nvSpPr>
        <p:spPr>
          <a:xfrm>
            <a:off x="5237784" y="1905951"/>
            <a:ext cx="2009140" cy="886949"/>
          </a:xfrm>
          <a:prstGeom prst="roundRect">
            <a:avLst>
              <a:gd name="adj" fmla="val 11767"/>
            </a:avLst>
          </a:prstGeom>
          <a:solidFill>
            <a:srgbClr val="FFFFFF"/>
          </a:solidFill>
          <a:ln/>
        </p:spPr>
      </p:sp>
      <p:pic>
        <p:nvPicPr>
          <p:cNvPr id="1024" name="Image 1" descr="preencoded.png">    </p:cNvPr>
          <p:cNvPicPr>
            <a:picLocks noChangeAspect="1"/>
          </p:cNvPicPr>
          <p:nvPr/>
        </p:nvPicPr>
        <p:blipFill>
          <a:blip r:embed="rIdWeb114">
            <a:extLst>
              <a:ext uri="{96DAC541-7B7A-43D3-8B79-37D633B846F1}">
                <asvg:svgBlip xmlns:asvg="http://schemas.microsoft.com/office/drawing/2016/SVG/main" r:embed="rIdWeb115"/>
              </a:ext>
            </a:extLst>
          </a:blip>
          <a:stretch>
            <a:fillRect/>
          </a:stretch>
        </p:blipFill>
        <p:spPr>
          <a:xfrm>
            <a:off x="5381090" y="2166674"/>
            <a:ext cx="365298" cy="365298"/>
          </a:xfrm>
          <a:prstGeom prst="rect">
            <a:avLst/>
          </a:prstGeom>
        </p:spPr>
      </p:pic>
      <p:sp>
        <p:nvSpPr>
          <p:cNvPr id="1025" name="Text 26"/>
          <p:cNvSpPr txBox="1"/>
          <p:nvPr/>
        </p:nvSpPr>
        <p:spPr>
          <a:xfrm>
            <a:off x="5850556" y="2097488"/>
            <a:ext cx="1422472" cy="470077"/>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CO2 Balance</a:t>
            </a:r>
            <a:endParaRPr lang="en-US" sz="1540" dirty="0"/>
          </a:p>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Sheet</a:t>
            </a:r>
            <a:endParaRPr lang="en-US" sz="1540" dirty="0"/>
          </a:p>
        </p:txBody>
      </p:sp>
      <p:sp>
        <p:nvSpPr>
          <p:cNvPr id="1026" name="Shape 27"/>
          <p:cNvSpPr/>
          <p:nvPr/>
        </p:nvSpPr>
        <p:spPr>
          <a:xfrm>
            <a:off x="5237784" y="2923567"/>
            <a:ext cx="2009140" cy="886949"/>
          </a:xfrm>
          <a:prstGeom prst="roundRect">
            <a:avLst>
              <a:gd name="adj" fmla="val 11767"/>
            </a:avLst>
          </a:prstGeom>
          <a:solidFill>
            <a:srgbClr val="FFFFFF"/>
          </a:solidFill>
          <a:ln/>
        </p:spPr>
      </p:sp>
      <p:pic>
        <p:nvPicPr>
          <p:cNvPr id="1027" name="Image 2" descr="preencoded.png">    </p:cNvPr>
          <p:cNvPicPr>
            <a:picLocks noChangeAspect="1"/>
          </p:cNvPicPr>
          <p:nvPr/>
        </p:nvPicPr>
        <p:blipFill>
          <a:blip r:embed="rIdWeb116">
            <a:extLst>
              <a:ext uri="{96DAC541-7B7A-43D3-8B79-37D633B846F1}">
                <asvg:svgBlip xmlns:asvg="http://schemas.microsoft.com/office/drawing/2016/SVG/main" r:embed="rIdWeb117"/>
              </a:ext>
            </a:extLst>
          </a:blip>
          <a:stretch>
            <a:fillRect/>
          </a:stretch>
        </p:blipFill>
        <p:spPr>
          <a:xfrm>
            <a:off x="5381090" y="3184290"/>
            <a:ext cx="365298" cy="365298"/>
          </a:xfrm>
          <a:prstGeom prst="rect">
            <a:avLst/>
          </a:prstGeom>
        </p:spPr>
      </p:pic>
      <p:sp>
        <p:nvSpPr>
          <p:cNvPr id="1028" name="Text 28"/>
          <p:cNvSpPr txBox="1"/>
          <p:nvPr/>
        </p:nvSpPr>
        <p:spPr>
          <a:xfrm>
            <a:off x="5850556" y="3115104"/>
            <a:ext cx="1365109" cy="470077"/>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Net CO2</a:t>
            </a:r>
            <a:endParaRPr lang="en-US" sz="1540" dirty="0"/>
          </a:p>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Contribution</a:t>
            </a:r>
            <a:endParaRPr lang="en-US" sz="1540" dirty="0"/>
          </a:p>
        </p:txBody>
      </p:sp>
      <p:sp>
        <p:nvSpPr>
          <p:cNvPr id="1029" name="Shape 29"/>
          <p:cNvSpPr/>
          <p:nvPr/>
        </p:nvSpPr>
        <p:spPr>
          <a:xfrm>
            <a:off x="5237784" y="3941183"/>
            <a:ext cx="2009140" cy="886949"/>
          </a:xfrm>
          <a:prstGeom prst="roundRect">
            <a:avLst>
              <a:gd name="adj" fmla="val 11767"/>
            </a:avLst>
          </a:prstGeom>
          <a:solidFill>
            <a:srgbClr val="FFFFFF"/>
          </a:solidFill>
          <a:ln/>
        </p:spPr>
      </p:sp>
      <p:pic>
        <p:nvPicPr>
          <p:cNvPr id="1030" name="Image 3" descr="preencoded.png">    </p:cNvPr>
          <p:cNvPicPr>
            <a:picLocks noChangeAspect="1"/>
          </p:cNvPicPr>
          <p:nvPr/>
        </p:nvPicPr>
        <p:blipFill>
          <a:blip r:embed="rIdWeb118">
            <a:extLst>
              <a:ext uri="{96DAC541-7B7A-43D3-8B79-37D633B846F1}">
                <asvg:svgBlip xmlns:asvg="http://schemas.microsoft.com/office/drawing/2016/SVG/main" r:embed="rIdWeb119"/>
              </a:ext>
            </a:extLst>
          </a:blip>
          <a:stretch>
            <a:fillRect/>
          </a:stretch>
        </p:blipFill>
        <p:spPr>
          <a:xfrm>
            <a:off x="5381090" y="4201907"/>
            <a:ext cx="365298" cy="365298"/>
          </a:xfrm>
          <a:prstGeom prst="rect">
            <a:avLst/>
          </a:prstGeom>
        </p:spPr>
      </p:pic>
      <p:sp>
        <p:nvSpPr>
          <p:cNvPr id="1031" name="Text 30"/>
          <p:cNvSpPr txBox="1"/>
          <p:nvPr/>
        </p:nvSpPr>
        <p:spPr>
          <a:xfrm>
            <a:off x="5850556" y="4132720"/>
            <a:ext cx="958772" cy="470077"/>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Net CO2</a:t>
            </a:r>
            <a:endParaRPr lang="en-US" sz="1540" dirty="0"/>
          </a:p>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Flow</a:t>
            </a:r>
            <a:endParaRPr lang="en-US" sz="1540" dirty="0"/>
          </a:p>
        </p:txBody>
      </p:sp>
      <p:sp>
        <p:nvSpPr>
          <p:cNvPr id="1032" name="Shape 31"/>
          <p:cNvSpPr/>
          <p:nvPr/>
        </p:nvSpPr>
        <p:spPr>
          <a:xfrm>
            <a:off x="5237784" y="4958800"/>
            <a:ext cx="2009140" cy="886949"/>
          </a:xfrm>
          <a:prstGeom prst="roundRect">
            <a:avLst>
              <a:gd name="adj" fmla="val 11767"/>
            </a:avLst>
          </a:prstGeom>
          <a:solidFill>
            <a:srgbClr val="FFFFFF"/>
          </a:solidFill>
          <a:ln/>
        </p:spPr>
      </p:sp>
      <p:pic>
        <p:nvPicPr>
          <p:cNvPr id="1033" name="Image 4" descr="preencoded.png">    </p:cNvPr>
          <p:cNvPicPr>
            <a:picLocks noChangeAspect="1"/>
          </p:cNvPicPr>
          <p:nvPr/>
        </p:nvPicPr>
        <p:blipFill>
          <a:blip r:embed="rIdWeb1110">
            <a:extLst>
              <a:ext uri="{96DAC541-7B7A-43D3-8B79-37D633B846F1}">
                <asvg:svgBlip xmlns:asvg="http://schemas.microsoft.com/office/drawing/2016/SVG/main" r:embed="rIdWeb112"/>
              </a:ext>
            </a:extLst>
          </a:blip>
          <a:stretch>
            <a:fillRect/>
          </a:stretch>
        </p:blipFill>
        <p:spPr>
          <a:xfrm>
            <a:off x="5381090" y="5219523"/>
            <a:ext cx="365298" cy="365298"/>
          </a:xfrm>
          <a:prstGeom prst="rect">
            <a:avLst/>
          </a:prstGeom>
        </p:spPr>
      </p:pic>
      <p:sp>
        <p:nvSpPr>
          <p:cNvPr id="1034" name="Text 32"/>
          <p:cNvSpPr txBox="1"/>
          <p:nvPr/>
        </p:nvSpPr>
        <p:spPr>
          <a:xfrm>
            <a:off x="5850556" y="5033286"/>
            <a:ext cx="1132124" cy="704504"/>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Product</a:t>
            </a:r>
            <a:endParaRPr lang="en-US" sz="1540" dirty="0"/>
          </a:p>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Carbon</a:t>
            </a:r>
            <a:endParaRPr lang="en-US" sz="1540" dirty="0"/>
          </a:p>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Footprints</a:t>
            </a:r>
            <a:endParaRPr lang="en-US" sz="1540" dirty="0"/>
          </a:p>
        </p:txBody>
      </p:sp>
      <p:sp>
        <p:nvSpPr>
          <p:cNvPr id="1035" name="Text 33"/>
          <p:cNvSpPr txBox="1"/>
          <p:nvPr/>
        </p:nvSpPr>
        <p:spPr>
          <a:xfrm>
            <a:off x="2478428" y="1406601"/>
            <a:ext cx="5118148" cy="234835"/>
          </a:xfrm>
          <a:prstGeom prst="rect">
            <a:avLst/>
          </a:prstGeom>
          <a:noFill/>
          <a:ln/>
        </p:spPr>
        <p:txBody>
          <a:bodyPr wrap="none" lIns="0" tIns="0" rIns="0" bIns="0" rtlCol="0" anchor="ctr"/>
          <a:lstStyle/>
          <a:p>
            <a:pPr algn="ctr" indent="0" marL="0">
              <a:lnSpc>
                <a:spcPts val="1850"/>
              </a:lnSpc>
              <a:buNone/>
            </a:pPr>
            <a:r>
              <a:rPr lang="en-US" sz="1540" dirty="0">
                <a:solidFill>
                  <a:srgbClr val="FFFFFF"/>
                </a:solidFill>
                <a:latin typeface="PP Mori Semibold" pitchFamily="34" charset="0"/>
                <a:ea typeface="PP Mori Semibold" pitchFamily="34" charset="-122"/>
                <a:cs typeface="PP Mori Semibold" pitchFamily="34" charset="-120"/>
              </a:rPr>
              <a:t>Integrated Corporate Carbon Accounting (ICCA)</a:t>
            </a:r>
            <a:endParaRPr lang="en-US" sz="1540" dirty="0"/>
          </a:p>
        </p:txBody>
      </p:sp>
      <p:sp>
        <p:nvSpPr>
          <p:cNvPr id="1036" name="Shape 34"/>
          <p:cNvSpPr/>
          <p:nvPr/>
        </p:nvSpPr>
        <p:spPr>
          <a:xfrm>
            <a:off x="8414574" y="1586519"/>
            <a:ext cx="1343572" cy="352252"/>
          </a:xfrm>
          <a:prstGeom prst="roundRect">
            <a:avLst>
              <a:gd name="adj" fmla="val 27778"/>
            </a:avLst>
          </a:prstGeom>
          <a:solidFill>
            <a:srgbClr val="FFFFFF"/>
          </a:solidFill>
          <a:ln w="12700">
            <a:solidFill>
              <a:srgbClr val="0E4D49"/>
            </a:solidFill>
            <a:prstDash val="solid"/>
          </a:ln>
        </p:spPr>
      </p:sp>
      <p:sp>
        <p:nvSpPr>
          <p:cNvPr id="1037" name="Text 35"/>
          <p:cNvSpPr txBox="1"/>
          <p:nvPr/>
        </p:nvSpPr>
        <p:spPr>
          <a:xfrm>
            <a:off x="8831242" y="1628593"/>
            <a:ext cx="644430"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ESRS</a:t>
            </a:r>
            <a:endParaRPr lang="en-US" sz="1540" dirty="0"/>
          </a:p>
        </p:txBody>
      </p:sp>
      <p:sp>
        <p:nvSpPr>
          <p:cNvPr id="1038" name="Shape 36"/>
          <p:cNvSpPr/>
          <p:nvPr/>
        </p:nvSpPr>
        <p:spPr>
          <a:xfrm>
            <a:off x="8414574" y="2056188"/>
            <a:ext cx="1343572" cy="352252"/>
          </a:xfrm>
          <a:prstGeom prst="roundRect">
            <a:avLst>
              <a:gd name="adj" fmla="val 27778"/>
            </a:avLst>
          </a:prstGeom>
          <a:solidFill>
            <a:srgbClr val="FFFFFF"/>
          </a:solidFill>
          <a:ln w="12700">
            <a:solidFill>
              <a:srgbClr val="0E4D49"/>
            </a:solidFill>
            <a:prstDash val="solid"/>
          </a:ln>
        </p:spPr>
      </p:sp>
      <p:sp>
        <p:nvSpPr>
          <p:cNvPr id="1039" name="Text 37"/>
          <p:cNvSpPr txBox="1"/>
          <p:nvPr/>
        </p:nvSpPr>
        <p:spPr>
          <a:xfrm>
            <a:off x="8839396" y="2098262"/>
            <a:ext cx="626022"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EPDs</a:t>
            </a:r>
            <a:endParaRPr lang="en-US" sz="1540" dirty="0"/>
          </a:p>
        </p:txBody>
      </p:sp>
      <p:sp>
        <p:nvSpPr>
          <p:cNvPr id="1040" name="Shape 38"/>
          <p:cNvSpPr/>
          <p:nvPr/>
        </p:nvSpPr>
        <p:spPr>
          <a:xfrm>
            <a:off x="8414574" y="2525857"/>
            <a:ext cx="1343572" cy="352252"/>
          </a:xfrm>
          <a:prstGeom prst="roundRect">
            <a:avLst>
              <a:gd name="adj" fmla="val 27778"/>
            </a:avLst>
          </a:prstGeom>
          <a:solidFill>
            <a:srgbClr val="FFFFFF"/>
          </a:solidFill>
          <a:ln w="12700">
            <a:solidFill>
              <a:srgbClr val="0E4D49"/>
            </a:solidFill>
            <a:prstDash val="solid"/>
          </a:ln>
        </p:spPr>
      </p:sp>
      <p:sp>
        <p:nvSpPr>
          <p:cNvPr id="1041" name="Text 39"/>
          <p:cNvSpPr txBox="1"/>
          <p:nvPr/>
        </p:nvSpPr>
        <p:spPr>
          <a:xfrm>
            <a:off x="8748683" y="2567727"/>
            <a:ext cx="829091"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EU ETS</a:t>
            </a:r>
            <a:endParaRPr lang="en-US" sz="1540" dirty="0"/>
          </a:p>
        </p:txBody>
      </p:sp>
      <p:sp>
        <p:nvSpPr>
          <p:cNvPr id="1042" name="Shape 40"/>
          <p:cNvSpPr/>
          <p:nvPr/>
        </p:nvSpPr>
        <p:spPr>
          <a:xfrm>
            <a:off x="8414574" y="2995526"/>
            <a:ext cx="1343572" cy="352252"/>
          </a:xfrm>
          <a:prstGeom prst="roundRect">
            <a:avLst>
              <a:gd name="adj" fmla="val 27778"/>
            </a:avLst>
          </a:prstGeom>
          <a:solidFill>
            <a:srgbClr val="FFFFFF"/>
          </a:solidFill>
          <a:ln w="12700">
            <a:solidFill>
              <a:srgbClr val="0E4D49"/>
            </a:solidFill>
            <a:prstDash val="solid"/>
          </a:ln>
        </p:spPr>
      </p:sp>
      <p:sp>
        <p:nvSpPr>
          <p:cNvPr id="1043" name="Text 41"/>
          <p:cNvSpPr txBox="1"/>
          <p:nvPr/>
        </p:nvSpPr>
        <p:spPr>
          <a:xfrm>
            <a:off x="8872623" y="3037600"/>
            <a:ext cx="551643"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CDP</a:t>
            </a:r>
            <a:endParaRPr lang="en-US" sz="1540" dirty="0"/>
          </a:p>
        </p:txBody>
      </p:sp>
      <p:sp>
        <p:nvSpPr>
          <p:cNvPr id="1044" name="Shape 42"/>
          <p:cNvSpPr/>
          <p:nvPr/>
        </p:nvSpPr>
        <p:spPr>
          <a:xfrm>
            <a:off x="8414574" y="3465195"/>
            <a:ext cx="1343572" cy="352252"/>
          </a:xfrm>
          <a:prstGeom prst="roundRect">
            <a:avLst>
              <a:gd name="adj" fmla="val 27778"/>
            </a:avLst>
          </a:prstGeom>
          <a:solidFill>
            <a:srgbClr val="FFFFFF"/>
          </a:solidFill>
          <a:ln w="12700">
            <a:solidFill>
              <a:srgbClr val="0E4D49"/>
            </a:solidFill>
            <a:prstDash val="solid"/>
          </a:ln>
        </p:spPr>
      </p:sp>
      <p:sp>
        <p:nvSpPr>
          <p:cNvPr id="1045" name="Text 43"/>
          <p:cNvSpPr txBox="1"/>
          <p:nvPr/>
        </p:nvSpPr>
        <p:spPr>
          <a:xfrm>
            <a:off x="8787822" y="3507270"/>
            <a:ext cx="741605"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CBAM</a:t>
            </a:r>
            <a:endParaRPr lang="en-US" sz="1540" dirty="0"/>
          </a:p>
        </p:txBody>
      </p:sp>
      <p:sp>
        <p:nvSpPr>
          <p:cNvPr id="1046" name="Shape 44"/>
          <p:cNvSpPr/>
          <p:nvPr/>
        </p:nvSpPr>
        <p:spPr>
          <a:xfrm>
            <a:off x="8414574" y="3934864"/>
            <a:ext cx="1343572" cy="352252"/>
          </a:xfrm>
          <a:prstGeom prst="roundRect">
            <a:avLst>
              <a:gd name="adj" fmla="val 27778"/>
            </a:avLst>
          </a:prstGeom>
          <a:solidFill>
            <a:srgbClr val="FFFFFF"/>
          </a:solidFill>
          <a:ln w="12700">
            <a:solidFill>
              <a:srgbClr val="0E4D49"/>
            </a:solidFill>
            <a:prstDash val="solid"/>
          </a:ln>
        </p:spPr>
      </p:sp>
      <p:sp>
        <p:nvSpPr>
          <p:cNvPr id="1047" name="Text 45"/>
          <p:cNvSpPr txBox="1"/>
          <p:nvPr/>
        </p:nvSpPr>
        <p:spPr>
          <a:xfrm>
            <a:off x="8872623" y="3976939"/>
            <a:ext cx="551857"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SBTi</a:t>
            </a:r>
            <a:endParaRPr lang="en-US" sz="1540" dirty="0"/>
          </a:p>
        </p:txBody>
      </p:sp>
      <p:sp>
        <p:nvSpPr>
          <p:cNvPr id="1048" name="Shape 46"/>
          <p:cNvSpPr/>
          <p:nvPr/>
        </p:nvSpPr>
        <p:spPr>
          <a:xfrm>
            <a:off x="8414574" y="4404533"/>
            <a:ext cx="1343572" cy="352252"/>
          </a:xfrm>
          <a:prstGeom prst="roundRect">
            <a:avLst>
              <a:gd name="adj" fmla="val 27778"/>
            </a:avLst>
          </a:prstGeom>
          <a:solidFill>
            <a:srgbClr val="FFFFFF"/>
          </a:solidFill>
          <a:ln w="12700">
            <a:solidFill>
              <a:srgbClr val="0E4D49"/>
            </a:solidFill>
            <a:prstDash val="solid"/>
          </a:ln>
        </p:spPr>
      </p:sp>
      <p:sp>
        <p:nvSpPr>
          <p:cNvPr id="1049" name="Text 47"/>
          <p:cNvSpPr txBox="1"/>
          <p:nvPr/>
        </p:nvSpPr>
        <p:spPr>
          <a:xfrm>
            <a:off x="8618015" y="4446404"/>
            <a:ext cx="1121786"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CA SB253</a:t>
            </a:r>
            <a:endParaRPr lang="en-US" sz="1540" dirty="0"/>
          </a:p>
        </p:txBody>
      </p:sp>
      <p:sp>
        <p:nvSpPr>
          <p:cNvPr id="1050" name="Shape 48"/>
          <p:cNvSpPr/>
          <p:nvPr/>
        </p:nvSpPr>
        <p:spPr>
          <a:xfrm>
            <a:off x="8414574" y="4874202"/>
            <a:ext cx="1343572" cy="352252"/>
          </a:xfrm>
          <a:prstGeom prst="roundRect">
            <a:avLst>
              <a:gd name="adj" fmla="val 27778"/>
            </a:avLst>
          </a:prstGeom>
          <a:solidFill>
            <a:srgbClr val="FFFFFF"/>
          </a:solidFill>
          <a:ln w="12700">
            <a:solidFill>
              <a:srgbClr val="0E4D49"/>
            </a:solidFill>
            <a:prstDash val="solid"/>
          </a:ln>
        </p:spPr>
      </p:sp>
      <p:sp>
        <p:nvSpPr>
          <p:cNvPr id="1051" name="Text 49"/>
          <p:cNvSpPr txBox="1"/>
          <p:nvPr/>
        </p:nvSpPr>
        <p:spPr>
          <a:xfrm>
            <a:off x="8821661" y="4916277"/>
            <a:ext cx="665727"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TCFD</a:t>
            </a:r>
            <a:endParaRPr lang="en-US" sz="1540" dirty="0"/>
          </a:p>
        </p:txBody>
      </p:sp>
      <p:sp>
        <p:nvSpPr>
          <p:cNvPr id="1052" name="Shape 50"/>
          <p:cNvSpPr/>
          <p:nvPr/>
        </p:nvSpPr>
        <p:spPr>
          <a:xfrm>
            <a:off x="8414574" y="5343871"/>
            <a:ext cx="1343572" cy="352252"/>
          </a:xfrm>
          <a:prstGeom prst="roundRect">
            <a:avLst>
              <a:gd name="adj" fmla="val 27778"/>
            </a:avLst>
          </a:prstGeom>
          <a:solidFill>
            <a:srgbClr val="FFFFFF"/>
          </a:solidFill>
          <a:ln w="12700">
            <a:solidFill>
              <a:srgbClr val="0E4D49"/>
            </a:solidFill>
            <a:prstDash val="solid"/>
          </a:ln>
        </p:spPr>
      </p:sp>
      <p:sp>
        <p:nvSpPr>
          <p:cNvPr id="1053" name="Text 51"/>
          <p:cNvSpPr txBox="1"/>
          <p:nvPr/>
        </p:nvSpPr>
        <p:spPr>
          <a:xfrm>
            <a:off x="8868139" y="5385946"/>
            <a:ext cx="561596"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ISSB</a:t>
            </a:r>
            <a:endParaRPr lang="en-US" sz="1540" dirty="0"/>
          </a:p>
        </p:txBody>
      </p:sp>
      <p:sp>
        <p:nvSpPr>
          <p:cNvPr id="1054" name="Shape 52"/>
          <p:cNvSpPr/>
          <p:nvPr/>
        </p:nvSpPr>
        <p:spPr>
          <a:xfrm>
            <a:off x="8414574" y="5813540"/>
            <a:ext cx="1343572" cy="352252"/>
          </a:xfrm>
          <a:prstGeom prst="roundRect">
            <a:avLst>
              <a:gd name="adj" fmla="val 27778"/>
            </a:avLst>
          </a:prstGeom>
          <a:solidFill>
            <a:srgbClr val="FFFFFF"/>
          </a:solidFill>
          <a:ln w="12700">
            <a:solidFill>
              <a:srgbClr val="0E4D49"/>
            </a:solidFill>
            <a:prstDash val="solid"/>
          </a:ln>
        </p:spPr>
      </p:sp>
      <p:sp>
        <p:nvSpPr>
          <p:cNvPr id="1055" name="Text 53"/>
          <p:cNvSpPr txBox="1"/>
          <p:nvPr/>
        </p:nvSpPr>
        <p:spPr>
          <a:xfrm>
            <a:off x="9023676" y="5855615"/>
            <a:ext cx="213349" cy="234835"/>
          </a:xfrm>
          <a:prstGeom prst="rect">
            <a:avLst/>
          </a:prstGeom>
          <a:noFill/>
          <a:ln/>
        </p:spPr>
        <p:txBody>
          <a:bodyPr wrap="none" lIns="0" tIns="0" rIns="0" bIns="0" rtlCol="0" anchor="ctr"/>
          <a:lstStyle/>
          <a:p>
            <a:pPr algn="l" indent="0" marL="0">
              <a:lnSpc>
                <a:spcPts val="1850"/>
              </a:lnSpc>
              <a:buNone/>
            </a:pPr>
            <a:r>
              <a:rPr lang="en-US" sz="1540" dirty="0">
                <a:solidFill>
                  <a:srgbClr val="0E4D49"/>
                </a:solidFill>
                <a:latin typeface="PP Mori" pitchFamily="34" charset="0"/>
                <a:ea typeface="PP Mori" pitchFamily="34" charset="-122"/>
                <a:cs typeface="PP Mori" pitchFamily="34" charset="-120"/>
              </a:rPr>
              <a:t>…</a:t>
            </a:r>
            <a:endParaRPr lang="en-US" sz="15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12648" y="2395728"/>
            <a:ext cx="2980944" cy="2743200"/>
          </a:xfrm>
          <a:prstGeom prst="rect">
            <a:avLst/>
          </a:prstGeom>
          <a:noFill/>
          <a:ln/>
        </p:spPr>
        <p:txBody>
          <a:bodyPr wrap="square" lIns="0" tIns="0" rIns="0" bIns="0" rtlCol="0" anchor="t"/>
          <a:lstStyle/>
          <a:p>
            <a:pPr algn="l" indent="0" marL="0">
              <a:lnSpc>
                <a:spcPct val="110000"/>
              </a:lnSpc>
              <a:buNone/>
            </a:pPr>
            <a:r>
              <a:rPr lang="en-US" sz="2400" dirty="0">
                <a:solidFill>
                  <a:srgbClr val="FFFFFF"/>
                </a:solidFill>
                <a:latin typeface="PP Mori Semibold" pitchFamily="34" charset="0"/>
                <a:ea typeface="PP Mori Semibold" pitchFamily="34" charset="-122"/>
                <a:cs typeface="PP Mori Semibold" pitchFamily="34" charset="-120"/>
              </a:rPr>
              <a:t>We look forward to entering a dialogue with you as we work toward a new era of corporate carbon accounting.</a:t>
            </a:r>
            <a:endParaRPr lang="en-US" sz="2400" dirty="0"/>
          </a:p>
        </p:txBody>
      </p:sp>
      <p:sp>
        <p:nvSpPr>
          <p:cNvPr id="3" name="Text 1"/>
          <p:cNvSpPr/>
          <p:nvPr>
            <p:ph idx="103" type="body" hasCustomPrompt="1"/>
          </p:nvPr>
        </p:nvSpPr>
        <p:spPr>
          <a:xfrm>
            <a:off x="4818888" y="2395728"/>
            <a:ext cx="6760159" cy="2743200"/>
          </a:xfrm>
          <a:prstGeom prst="rect">
            <a:avLst/>
          </a:prstGeom>
          <a:noFill/>
          <a:ln/>
        </p:spPr>
        <p:txBody>
          <a:bodyPr wrap="square" lIns="0" tIns="0" rIns="0" bIns="0" rtlCol="0" anchor="t"/>
          <a:lstStyle/>
          <a:p>
            <a:pPr algn="l" indent="0" marL="0">
              <a:lnSpc>
                <a:spcPct val="135000"/>
              </a:lnSpc>
              <a:buNone/>
            </a:pPr>
            <a:r>
              <a:rPr lang="en-US" sz="1200" dirty="0">
                <a:solidFill>
                  <a:srgbClr val="0E4D49"/>
                </a:solidFill>
                <a:latin typeface="PP Mori" pitchFamily="34" charset="0"/>
                <a:ea typeface="PP Mori" pitchFamily="34" charset="-122"/>
                <a:cs typeface="PP Mori" pitchFamily="34" charset="-120"/>
              </a:rPr>
              <a:t>Carbon Accounting Standards Initiative</a:t>
            </a:r>
            <a:endParaRPr lang="en-US" sz="1200" dirty="0"/>
          </a:p>
          <a:p>
            <a:pPr algn="l" indent="0" marL="0">
              <a:lnSpc>
                <a:spcPct val="135000"/>
              </a:lnSpc>
              <a:buNone/>
            </a:pPr>
            <a:r>
              <a:rPr lang="en-US" sz="1200" dirty="0">
                <a:solidFill>
                  <a:srgbClr val="0E4D49"/>
                </a:solidFill>
                <a:latin typeface="PP Mori" pitchFamily="34" charset="0"/>
                <a:ea typeface="PP Mori" pitchFamily="34" charset="-122"/>
                <a:cs typeface="PP Mori" pitchFamily="34" charset="-120"/>
              </a:rPr>
              <a:t>casinitiative.org</a:t>
            </a:r>
            <a:endParaRPr lang="en-US" sz="1200" dirty="0"/>
          </a:p>
        </p:txBody>
      </p:sp>
    </p:spTree>
  </p:cSld>
  <p:clrMapOvr>
    <a:masterClrMapping/>
  </p:clrMapOvr>
</p:sld>
</file>

<file path=ppt/theme/theme1.xml><?xml version="1.0" encoding="utf-8"?>
<a:theme xmlns:a="http://schemas.openxmlformats.org/drawingml/2006/main" name="CASI">
  <a:themeElements>
    <a:clrScheme name="CASI">
      <a:dk1>
        <a:srgbClr val="0E4D49"/>
      </a:dk1>
      <a:lt1>
        <a:srgbClr val="FFFFFF"/>
      </a:lt1>
      <a:dk2>
        <a:srgbClr val="5F7471"/>
      </a:dk2>
      <a:lt2>
        <a:srgbClr val="EEF2F1"/>
      </a:lt2>
      <a:accent1>
        <a:srgbClr val="0E4D49"/>
      </a:accent1>
      <a:accent2>
        <a:srgbClr val="5F7471"/>
      </a:accent2>
      <a:accent3>
        <a:srgbClr val="93AFAD"/>
      </a:accent3>
      <a:accent4>
        <a:srgbClr val="C5D4D3"/>
      </a:accent4>
      <a:accent5>
        <a:srgbClr val="E1E7E5"/>
      </a:accent5>
      <a:accent6>
        <a:srgbClr val="8B1538"/>
      </a:accent6>
      <a:hlink>
        <a:srgbClr val="0E4D49"/>
      </a:hlink>
      <a:folHlink>
        <a:srgbClr val="0E4D49"/>
      </a:folHlink>
    </a:clrScheme>
    <a:fontScheme name="CASI">
      <a:majorFont>
        <a:latin typeface="PP Mor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P Mo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ICCA">
      <a:srgbClr val="13917C"/>
    </a:custClr>
    <a:custClr name="ICCA Grafik">
      <a:srgbClr val="1A9C7E"/>
    </a:custClr>
    <a:custClr name="Burgundy hell">
      <a:srgbClr val="F6EBEF"/>
    </a:custClr>
    <a:custClr name="Burgundy mittel">
      <a:srgbClr val="CB96A6"/>
    </a:custClr>
    <a:custClr name="Kette direct">
      <a:srgbClr val="29363D"/>
    </a:custClr>
    <a:custClr name="Kette iron">
      <a:srgbClr val="8C5A3C"/>
    </a:custClr>
    <a:custClr name="Kette steel">
      <a:srgbClr val="5B7C99"/>
    </a:custClr>
    <a:custClr name="Kette car">
      <a:srgbClr val="3F6B3F"/>
    </a:custClr>
    <a:custClr name="Kette body">
      <a:srgbClr val="0E8388"/>
    </a:custClr>
    <a:custClr name="Kette Lebensende">
      <a:srgbClr val="6B4C6E"/>
    </a:custClr>
    <a:custClr name="Daten A">
      <a:srgbClr val="B060E0"/>
    </a:custClr>
    <a:custClr name="Daten B">
      <a:srgbClr val="3060C0"/>
    </a:custClr>
    <a:custClr name="Daten C">
      <a:srgbClr val="2080B0"/>
    </a:custClr>
    <a:custClr name="Daten D">
      <a:srgbClr val="50B0D0"/>
    </a:custClr>
    <a:custClr name="Daten E">
      <a:srgbClr val="20C090"/>
    </a:custClr>
    <a:custClr name="Daten F">
      <a:srgbClr val="30A060"/>
    </a:custClr>
    <a:custClr name="Daten G">
      <a:srgbClr val="E08820"/>
    </a:custClr>
    <a:custClr name="Daten H">
      <a:srgbClr val="D06020"/>
    </a:custClr>
    <a:custClr name="Daten I">
      <a:srgbClr val="E04040"/>
    </a:custClr>
    <a:custClr name="Daten J">
      <a:srgbClr val="C04080"/>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Carbon Accounting Standards Initiative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CASI Folien – Beispiel</dc:title>
  <dc:subject>PptxGenJS Presentation</dc:subject>
  <dc:creator>Carbon Accounting Standards Initiative</dc:creator>
  <cp:lastModifiedBy>Carbon Accounting Standards Initiative</cp:lastModifiedBy>
  <cp:revision>1</cp:revision>
  <dcterms:created xsi:type="dcterms:W3CDTF">2026-10-16T12:53:38Z</dcterms:created>
  <dcterms:modified xsi:type="dcterms:W3CDTF">2026-10-16T12:53:38Z</dcterms:modified>
</cp:coreProperties>
</file>