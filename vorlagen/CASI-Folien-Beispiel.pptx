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embeddedFontLst>
    <p:embeddedFont>
      <p:font typeface="PP Mori" pitchFamily="2" charset="0"/>
      <p:regular r:id="rIdCasiFont1"/>
    </p:embeddedFont>
    <p:embeddedFont>
      <p:font typeface="PP Mori Semibold" pitchFamily="2" charset="0"/>
      <p:regular r:id="rIdCasiFont2"/>
    </p:embeddedFont>
    <p:embeddedFont>
      <p:font typeface="IBM Plex Serif" pitchFamily="2" charset="0"/>
      <p:regular r:id="rIdCasiFont3"/>
      <p:italic r:id="rIdCasiFont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CasiFont1" Type="http://schemas.openxmlformats.org/officeDocument/2006/relationships/font" Target="fonts/font1.fntdata"/><Relationship Id="rIdCasiFont2" Type="http://schemas.openxmlformats.org/officeDocument/2006/relationships/font" Target="fonts/font2.fntdata"/><Relationship Id="rIdCasiFont3" Type="http://schemas.openxmlformats.org/officeDocument/2006/relationships/font" Target="fonts/font3.fntdata"/><Relationship Id="rIdCasiFont4"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493776"/>
            <a:ext cx="450952" cy="502920"/>
          </a:xfrm>
          <a:prstGeom prst="rect">
            <a:avLst/>
          </a:prstGeom>
        </p:spPr>
      </p:pic>
      <p:sp>
        <p:nvSpPr>
          <p:cNvPr id="3" name="Text 0"/>
          <p:cNvSpPr/>
          <p:nvPr>
            <p:ph idx="101" type="body" hasCustomPrompt="1"/>
          </p:nvPr>
        </p:nvSpPr>
        <p:spPr>
          <a:xfrm>
            <a:off x="612648" y="2011680"/>
            <a:ext cx="10966399" cy="274320"/>
          </a:xfrm>
          <a:prstGeom prst="rect">
            <a:avLst/>
          </a:prstGeom>
          <a:noFill/>
          <a:ln/>
        </p:spPr>
        <p:txBody>
          <a:bodyPr lIns="0" tIns="0" rIns="0" bIns="0" wrap="square" rtlCol="0"/>
          <a:lstStyle>
            <a:lvl1pPr algn="l" indent="0" marL="0">
              <a:lnSpc>
                <a:spcPct val="120000"/>
              </a:lnSpc>
              <a:buNone/>
              <a:defRPr lang="en-US" sz="1000" spc="100" kern="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0000"/>
              </a:lnSpc>
              <a:buNone/>
            </a:pPr>
            <a:r>
              <a:rPr lang="en-US" sz="1000" spc="100" kern="0" dirty="0">
                <a:solidFill>
                  <a:srgbClr val="0E4D49"/>
                </a:solidFill>
                <a:latin typeface="PP Mori Semibold" pitchFamily="34" charset="0"/>
                <a:ea typeface="PP Mori Semibold" pitchFamily="34" charset="-122"/>
                <a:cs typeface="PP Mori Semibold" pitchFamily="34" charset="-120"/>
              </a:rPr>
              <a:t>REIHE · NUMMER</a:t>
            </a:r>
            <a:endParaRPr lang="en-US" sz="1000" dirty="0"/>
          </a:p>
        </p:txBody>
      </p:sp>
      <p:sp>
        <p:nvSpPr>
          <p:cNvPr id="4" name="Text 0"/>
          <p:cNvSpPr/>
          <p:nvPr>
            <p:ph idx="102" type="title" hasCustomPrompt="1"/>
          </p:nvPr>
        </p:nvSpPr>
        <p:spPr>
          <a:xfrm>
            <a:off x="612648" y="2395728"/>
            <a:ext cx="10966399" cy="1645920"/>
          </a:xfrm>
          <a:prstGeom prst="rect">
            <a:avLst/>
          </a:prstGeom>
          <a:noFill/>
          <a:ln/>
        </p:spPr>
        <p:txBody>
          <a:bodyPr lIns="0" tIns="0" rIns="0" bIns="0" wrap="square" rtlCol="0"/>
          <a:lstStyle>
            <a:lvl1pPr algn="l" indent="0" marL="0">
              <a:lnSpc>
                <a:spcPct val="105000"/>
              </a:lnSpc>
              <a:buNone/>
              <a:defRPr lang="en-US" sz="4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Titel der Präsentation</a:t>
            </a:r>
            <a:endParaRPr lang="en-US" sz="4000" dirty="0"/>
          </a:p>
        </p:txBody>
      </p:sp>
      <p:sp>
        <p:nvSpPr>
          <p:cNvPr id="5" name="Text 0"/>
          <p:cNvSpPr/>
          <p:nvPr>
            <p:ph idx="103" type="body" hasCustomPrompt="1"/>
          </p:nvPr>
        </p:nvSpPr>
        <p:spPr>
          <a:xfrm>
            <a:off x="612648" y="4160520"/>
            <a:ext cx="8224799" cy="822960"/>
          </a:xfrm>
          <a:prstGeom prst="rect">
            <a:avLst/>
          </a:prstGeom>
          <a:noFill/>
          <a:ln/>
        </p:spPr>
        <p:txBody>
          <a:bodyPr lIns="0" tIns="0" rIns="0" bIns="0" wrap="square" rtlCol="0"/>
          <a:lstStyle>
            <a:lvl1pPr algn="l" indent="0" marL="0">
              <a:lnSpc>
                <a:spcPct val="120000"/>
              </a:lnSpc>
              <a:buNone/>
              <a:defRPr lang="en-US" sz="140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1400" dirty="0">
                <a:solidFill>
                  <a:srgbClr val="5F7471"/>
                </a:solidFill>
                <a:latin typeface="PP Mori" pitchFamily="34" charset="0"/>
                <a:ea typeface="PP Mori" pitchFamily="34" charset="-122"/>
                <a:cs typeface="PP Mori" pitchFamily="34" charset="-120"/>
              </a:rPr>
              <a:t>Untertitel</a:t>
            </a:r>
            <a:endParaRPr lang="en-US" sz="1400" dirty="0"/>
          </a:p>
        </p:txBody>
      </p:sp>
      <p:sp>
        <p:nvSpPr>
          <p:cNvPr id="6" name="Text 0"/>
          <p:cNvSpPr/>
          <p:nvPr>
            <p:ph idx="104" type="body" hasCustomPrompt="1"/>
          </p:nvPr>
        </p:nvSpPr>
        <p:spPr>
          <a:xfrm>
            <a:off x="612648" y="6126480"/>
            <a:ext cx="10966399" cy="274320"/>
          </a:xfrm>
          <a:prstGeom prst="rect">
            <a:avLst/>
          </a:prstGeom>
          <a:noFill/>
          <a:ln/>
        </p:spPr>
        <p:txBody>
          <a:bodyPr lIns="0" tIns="0" rIns="0" bIns="0" wrap="square" rtlCol="0"/>
          <a:lstStyle>
            <a:lvl1pPr algn="l" indent="0" marL="0">
              <a:lnSpc>
                <a:spcPct val="120000"/>
              </a:lnSpc>
              <a:buNone/>
              <a:defRPr lang="en-US" sz="90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900" dirty="0">
                <a:solidFill>
                  <a:srgbClr val="5F7471"/>
                </a:solidFill>
                <a:latin typeface="PP Mori" pitchFamily="34" charset="0"/>
                <a:ea typeface="PP Mori" pitchFamily="34" charset="-122"/>
                <a:cs typeface="PP Mori" pitchFamily="34" charset="-120"/>
              </a:rPr>
              <a:t>Absender · Datum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bschnitt">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982" cy="182880"/>
          </a:xfrm>
          <a:prstGeom prst="rect">
            <a:avLst/>
          </a:prstGeom>
        </p:spPr>
      </p:pic>
      <p:sp>
        <p:nvSpPr>
          <p:cNvPr id="3" name="Text 0"/>
          <p:cNvSpPr/>
          <p:nvPr>
            <p:ph idx="101" type="body" hasCustomPrompt="1"/>
          </p:nvPr>
        </p:nvSpPr>
        <p:spPr>
          <a:xfrm>
            <a:off x="612648" y="2011680"/>
            <a:ext cx="10966399" cy="274320"/>
          </a:xfrm>
          <a:prstGeom prst="rect">
            <a:avLst/>
          </a:prstGeom>
          <a:noFill/>
          <a:ln/>
        </p:spPr>
        <p:txBody>
          <a:bodyPr lIns="0" tIns="0" rIns="0" bIns="0" wrap="square" rtlCol="0"/>
          <a:lstStyle>
            <a:lvl1pPr algn="l" indent="0" marL="0">
              <a:lnSpc>
                <a:spcPct val="120000"/>
              </a:lnSpc>
              <a:buNone/>
              <a:defRPr lang="en-US" sz="1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0000"/>
              </a:lnSpc>
              <a:buNone/>
            </a:pPr>
            <a:r>
              <a:rPr lang="en-US" sz="1000" dirty="0">
                <a:solidFill>
                  <a:srgbClr val="0E4D49"/>
                </a:solidFill>
                <a:latin typeface="PP Mori Semibold" pitchFamily="34" charset="0"/>
                <a:ea typeface="PP Mori Semibold" pitchFamily="34" charset="-122"/>
                <a:cs typeface="PP Mori Semibold" pitchFamily="34" charset="-120"/>
              </a:rPr>
              <a:t>Abschnitt</a:t>
            </a:r>
            <a:endParaRPr lang="en-US" sz="1000" dirty="0"/>
          </a:p>
        </p:txBody>
      </p:sp>
      <p:sp>
        <p:nvSpPr>
          <p:cNvPr id="4" name="Text 0"/>
          <p:cNvSpPr/>
          <p:nvPr>
            <p:ph idx="102" type="title" hasCustomPrompt="1"/>
          </p:nvPr>
        </p:nvSpPr>
        <p:spPr>
          <a:xfrm>
            <a:off x="612648" y="2395728"/>
            <a:ext cx="10966399" cy="1463040"/>
          </a:xfrm>
          <a:prstGeom prst="rect">
            <a:avLst/>
          </a:prstGeom>
          <a:noFill/>
          <a:ln/>
        </p:spPr>
        <p:txBody>
          <a:bodyPr lIns="0" tIns="0" rIns="0" bIns="0" wrap="square" rtlCol="0"/>
          <a:lstStyle>
            <a:lvl1pPr algn="l" indent="0" marL="0">
              <a:lnSpc>
                <a:spcPct val="105000"/>
              </a:lnSpc>
              <a:buNone/>
              <a:defRPr lang="en-US" sz="3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Titel des Abschnitts</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982"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type="body" hasCustomPrompt="1"/>
          </p:nvPr>
        </p:nvSpPr>
        <p:spPr>
          <a:xfrm>
            <a:off x="612648" y="960120"/>
            <a:ext cx="10966399"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r Titel">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982"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Zwei Spalten">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982"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type="body" hasCustomPrompt="1"/>
          </p:nvPr>
        </p:nvSpPr>
        <p:spPr>
          <a:xfrm>
            <a:off x="612648" y="960120"/>
            <a:ext cx="5300320"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5" name="Text 0"/>
          <p:cNvSpPr/>
          <p:nvPr>
            <p:ph idx="103" type="body" hasCustomPrompt="1"/>
          </p:nvPr>
        </p:nvSpPr>
        <p:spPr>
          <a:xfrm>
            <a:off x="6278728" y="960120"/>
            <a:ext cx="5300320"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ext mit Box">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982"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type="body" hasCustomPrompt="1"/>
          </p:nvPr>
        </p:nvSpPr>
        <p:spPr>
          <a:xfrm>
            <a:off x="612648" y="960120"/>
            <a:ext cx="6760159"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5" name="Text 0"/>
          <p:cNvSpPr/>
          <p:nvPr>
            <p:ph idx="103" type="body" hasCustomPrompt="1"/>
          </p:nvPr>
        </p:nvSpPr>
        <p:spPr>
          <a:xfrm>
            <a:off x="7738567" y="960120"/>
            <a:ext cx="3840480" cy="1097280"/>
          </a:xfrm>
          <a:prstGeom prst="roundRect">
            <a:avLst>
              <a:gd name="adj" fmla="val 4000"/>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Zwei Boxen">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982"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type="body" hasCustomPrompt="1"/>
          </p:nvPr>
        </p:nvSpPr>
        <p:spPr>
          <a:xfrm>
            <a:off x="612648" y="960120"/>
            <a:ext cx="5300320" cy="1097280"/>
          </a:xfrm>
          <a:prstGeom prst="roundRect">
            <a:avLst>
              <a:gd name="adj" fmla="val 4000"/>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5" name="Text 0"/>
          <p:cNvSpPr/>
          <p:nvPr>
            <p:ph idx="103" type="body" hasCustomPrompt="1"/>
          </p:nvPr>
        </p:nvSpPr>
        <p:spPr>
          <a:xfrm>
            <a:off x="6278728" y="960120"/>
            <a:ext cx="5300320" cy="1097280"/>
          </a:xfrm>
          <a:prstGeom prst="roundRect">
            <a:avLst>
              <a:gd name="adj" fmla="val 4000"/>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bbildung">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982"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hasCustomPrompt="1"/>
          </p:nvPr>
        </p:nvSpPr>
        <p:spPr>
          <a:xfrm>
            <a:off x="612648" y="960120"/>
            <a:ext cx="10966399" cy="4892040"/>
          </a:xfrm>
          <a:prstGeom prst="rect">
            <a:avLst/>
          </a:prstGeom>
          <a:noFill/>
          <a:ln/>
        </p:spPr>
        <p:txBody>
          <a:bodyPr lIns="0" tIns="0" rIns="0" bIns="0" wrap="square" rtlCol="0"/>
          <a:lstStyle>
            <a:lvl1pPr indent="0" marL="0">
              <a:buNone/>
              <a:defRPr lang="en-US" dirty="0">
                <a:solidFill>
                  <a:srgbClr val="0E4D49"/>
                </a:solidFill>
              </a:defRPr>
            </a:lvl1pPr>
          </a:lstStyle>
          <a:p>
            <a:pPr indent="0" marL="0">
              <a:buNone/>
            </a:pPr>
            <a:r>
              <a:rPr lang="en-US" dirty="0">
                <a:solidFill>
                  <a:srgbClr val="0E4D49"/>
                </a:solidFill>
              </a:rPr>
              <a:t>Abbildung einfügen</a:t>
            </a:r>
            <a:endParaRPr lang="en-US" dirty="0"/>
          </a:p>
        </p:txBody>
      </p:sp>
      <p:sp>
        <p:nvSpPr>
          <p:cNvPr id="5" name="Text 0"/>
          <p:cNvSpPr/>
          <p:nvPr>
            <p:ph idx="103" type="body" hasCustomPrompt="1"/>
          </p:nvPr>
        </p:nvSpPr>
        <p:spPr>
          <a:xfrm>
            <a:off x="612648" y="5989320"/>
            <a:ext cx="10966399" cy="365760"/>
          </a:xfrm>
          <a:prstGeom prst="rect">
            <a:avLst/>
          </a:prstGeom>
          <a:noFill/>
          <a:ln/>
        </p:spPr>
        <p:txBody>
          <a:bodyPr lIns="0" tIns="0" rIns="0" bIns="0" wrap="square" rtlCol="0"/>
          <a:lstStyle>
            <a:lvl1pPr algn="l" indent="0" marL="0">
              <a:lnSpc>
                <a:spcPct val="120000"/>
              </a:lnSpc>
              <a:buNone/>
              <a:defRPr lang="en-US" sz="75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750" dirty="0">
                <a:solidFill>
                  <a:srgbClr val="5F7471"/>
                </a:solidFill>
                <a:latin typeface="PP Mori" pitchFamily="34" charset="0"/>
                <a:ea typeface="PP Mori" pitchFamily="34" charset="-122"/>
                <a:cs typeface="PP Mori" pitchFamily="34" charset="-120"/>
              </a:rPr>
              <a:t>Bildunterschrift</a:t>
            </a:r>
            <a:endParaRPr lang="en-US" sz="75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chlus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8B1538"/>
          </a:solidFill>
          <a:ln/>
        </p:spPr>
      </p:sp>
      <p:pic>
        <p:nvPicPr>
          <p:cNvPr id="3" name="Image 0" descr="CASI">    </p:cNvPr>
          <p:cNvPicPr>
            <a:picLocks noChangeAspect="1"/>
          </p:cNvPicPr>
          <p:nvPr/>
        </p:nvPicPr>
        <p:blipFill>
          <a:blip r:embed="rId1"/>
          <a:stretch>
            <a:fillRect/>
          </a:stretch>
        </p:blipFill>
        <p:spPr>
          <a:xfrm>
            <a:off x="612648" y="493776"/>
            <a:ext cx="450952" cy="502920"/>
          </a:xfrm>
          <a:prstGeom prst="rect">
            <a:avLst/>
          </a:prstGeom>
        </p:spPr>
      </p:pic>
      <p:sp>
        <p:nvSpPr>
          <p:cNvPr id="4" name="Text 1"/>
          <p:cNvSpPr/>
          <p:nvPr>
            <p:ph idx="102" type="title" hasCustomPrompt="1"/>
          </p:nvPr>
        </p:nvSpPr>
        <p:spPr>
          <a:xfrm>
            <a:off x="612648" y="2395728"/>
            <a:ext cx="2980944" cy="2743200"/>
          </a:xfrm>
          <a:prstGeom prst="rect">
            <a:avLst/>
          </a:prstGeom>
          <a:noFill/>
          <a:ln/>
        </p:spPr>
        <p:txBody>
          <a:bodyPr lIns="0" tIns="0" rIns="0" bIns="0" wrap="square" rtlCol="0"/>
          <a:lstStyle>
            <a:lvl1pPr algn="l" indent="0" marL="0">
              <a:lnSpc>
                <a:spcPct val="110000"/>
              </a:lnSpc>
              <a:buNone/>
              <a:defRPr lang="en-US" sz="2400" dirty="0">
                <a:solidFill>
                  <a:srgbClr val="FFFFFF"/>
                </a:solidFill>
                <a:latin typeface="PP Mori Semibold" pitchFamily="34" charset="0"/>
                <a:ea typeface="PP Mori Semibold" pitchFamily="34" charset="-122"/>
                <a:cs typeface="PP Mori Semibold" pitchFamily="34" charset="-120"/>
              </a:defRPr>
            </a:lvl1pPr>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Schlusssatz</a:t>
            </a:r>
            <a:endParaRPr lang="en-US" sz="2400" dirty="0"/>
          </a:p>
        </p:txBody>
      </p:sp>
      <p:sp>
        <p:nvSpPr>
          <p:cNvPr id="5" name="Text 1"/>
          <p:cNvSpPr/>
          <p:nvPr>
            <p:ph idx="103" type="body" hasCustomPrompt="1"/>
          </p:nvPr>
        </p:nvSpPr>
        <p:spPr>
          <a:xfrm>
            <a:off x="4818888" y="2395728"/>
            <a:ext cx="6760159" cy="2743200"/>
          </a:xfrm>
          <a:prstGeom prst="rect">
            <a:avLst/>
          </a:prstGeom>
          <a:noFill/>
          <a:ln/>
        </p:spPr>
        <p:txBody>
          <a:bodyPr lIns="0" tIns="0" rIns="0" bIns="0" wrap="square" rtlCol="0"/>
          <a:lstStyle>
            <a:lvl1pPr algn="l" indent="0" marL="0">
              <a:lnSpc>
                <a:spcPct val="135000"/>
              </a:lnSpc>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Kontakt</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Leer">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982" cy="182880"/>
          </a:xfrm>
          <a:prstGeom prst="rect">
            <a:avLst/>
          </a:prstGeom>
        </p:spPr>
      </p:pic>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1011</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9.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0000"/>
              </a:lnSpc>
              <a:buNone/>
            </a:pPr>
            <a:r>
              <a:rPr lang="en-US" sz="1000" spc="100" kern="0" dirty="0">
                <a:solidFill>
                  <a:srgbClr val="0E4D49"/>
                </a:solidFill>
                <a:latin typeface="PP Mori Semibold" pitchFamily="34" charset="0"/>
                <a:ea typeface="PP Mori Semibold" pitchFamily="34" charset="-122"/>
                <a:cs typeface="PP Mori Semibold" pitchFamily="34" charset="-120"/>
              </a:rPr>
              <a:t>CASI WHITEPAPER · NO. 1</a:t>
            </a:r>
            <a:endParaRPr lang="en-US" sz="1000" dirty="0"/>
          </a:p>
        </p:txBody>
      </p:sp>
      <p:sp>
        <p:nvSpPr>
          <p:cNvPr id="3" name="Text 0"/>
          <p:cNvSpPr/>
          <p:nvPr>
            <p:ph idx="102" type="title" hasCustomPrompt="1"/>
          </p:nvPr>
        </p:nvSpPr>
        <p:spPr>
          <a:xfrm>
            <a:off x="612648" y="2395728"/>
            <a:ext cx="10966399" cy="1645920"/>
          </a:xfrm>
          <a:prstGeom prst="rect">
            <a:avLst/>
          </a:prstGeom>
          <a:noFill/>
          <a:ln/>
        </p:spPr>
        <p:txBody>
          <a:bodyPr wrap="square" lIns="0" tIns="0" rIns="0" bIns="0" rtlCol="0" anchor="t"/>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Foundations of Integrated Corporate Carbon Accounting</a:t>
            </a:r>
            <a:endParaRPr lang="en-US" sz="4000" dirty="0"/>
          </a:p>
        </p:txBody>
      </p:sp>
      <p:sp>
        <p:nvSpPr>
          <p:cNvPr id="4" name="Text 0"/>
          <p:cNvSpPr/>
          <p:nvPr>
            <p:ph idx="103" type="body" hasCustomPrompt="1"/>
          </p:nvPr>
        </p:nvSpPr>
        <p:spPr>
          <a:xfrm>
            <a:off x="612648" y="4160520"/>
            <a:ext cx="8224799" cy="822960"/>
          </a:xfrm>
          <a:prstGeom prst="rect">
            <a:avLst/>
          </a:prstGeom>
          <a:noFill/>
          <a:ln/>
        </p:spPr>
        <p:txBody>
          <a:bodyPr wrap="square" lIns="0" tIns="0" rIns="0" bIns="0" rtlCol="0" anchor="t"/>
          <a:lstStyle/>
          <a:p>
            <a:pPr algn="l" indent="0" marL="0">
              <a:lnSpc>
                <a:spcPct val="120000"/>
              </a:lnSpc>
              <a:buNone/>
            </a:pPr>
            <a:r>
              <a:rPr lang="en-US" sz="1400" dirty="0">
                <a:solidFill>
                  <a:srgbClr val="5F7471"/>
                </a:solidFill>
                <a:latin typeface="PP Mori" pitchFamily="34" charset="0"/>
                <a:ea typeface="PP Mori" pitchFamily="34" charset="-122"/>
                <a:cs typeface="PP Mori" pitchFamily="34" charset="-120"/>
              </a:rPr>
              <a:t>C. Ernst · S. Reichelstein · G. Ormazabal · T. Sellhorn</a:t>
            </a:r>
            <a:endParaRPr lang="en-US" sz="1400" dirty="0"/>
          </a:p>
        </p:txBody>
      </p:sp>
      <p:sp>
        <p:nvSpPr>
          <p:cNvPr id="5" name="Text 0"/>
          <p:cNvSpPr/>
          <p:nvPr>
            <p:ph idx="104" type="body" hasCustomPrompt="1"/>
          </p:nvPr>
        </p:nvSpPr>
        <p:spPr>
          <a:xfrm>
            <a:off x="612648" y="6126480"/>
            <a:ext cx="10966399" cy="274320"/>
          </a:xfrm>
          <a:prstGeom prst="rect">
            <a:avLst/>
          </a:prstGeom>
          <a:noFill/>
          <a:ln/>
        </p:spPr>
        <p:txBody>
          <a:bodyPr wrap="square" lIns="0" tIns="0" rIns="0" bIns="0" rtlCol="0" anchor="t"/>
          <a:lstStyle/>
          <a:p>
            <a:pPr algn="l" indent="0" marL="0">
              <a:lnSpc>
                <a:spcPct val="120000"/>
              </a:lnSpc>
              <a:buNone/>
            </a:pPr>
            <a:r>
              <a:rPr lang="en-US" sz="900" dirty="0">
                <a:solidFill>
                  <a:srgbClr val="5F7471"/>
                </a:solidFill>
                <a:latin typeface="PP Mori" pitchFamily="34" charset="0"/>
                <a:ea typeface="PP Mori" pitchFamily="34" charset="-122"/>
                <a:cs typeface="PP Mori" pitchFamily="34" charset="-120"/>
              </a:rPr>
              <a:t>The Carbon Accounting Standards Initiative (CASI) · October 2025, revised December 2025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0000"/>
              </a:lnSpc>
              <a:buNone/>
            </a:pPr>
            <a:r>
              <a:rPr lang="en-US" sz="1000" dirty="0">
                <a:solidFill>
                  <a:srgbClr val="0E4D49"/>
                </a:solidFill>
                <a:latin typeface="PP Mori Semibold" pitchFamily="34" charset="0"/>
                <a:ea typeface="PP Mori Semibold" pitchFamily="34" charset="-122"/>
                <a:cs typeface="PP Mori Semibold" pitchFamily="34" charset="-120"/>
              </a:rPr>
              <a:t>Section 1</a:t>
            </a:r>
            <a:endParaRPr lang="en-US" sz="1000" dirty="0"/>
          </a:p>
        </p:txBody>
      </p:sp>
      <p:sp>
        <p:nvSpPr>
          <p:cNvPr id="3" name="Text 0"/>
          <p:cNvSpPr/>
          <p:nvPr>
            <p:ph idx="102" type="title" hasCustomPrompt="1"/>
          </p:nvPr>
        </p:nvSpPr>
        <p:spPr>
          <a:xfrm>
            <a:off x="612648" y="2395728"/>
            <a:ext cx="10966399" cy="1463040"/>
          </a:xfrm>
          <a:prstGeom prst="rect">
            <a:avLst/>
          </a:prstGeom>
          <a:noFill/>
          <a:ln/>
        </p:spPr>
        <p:txBody>
          <a:bodyPr wrap="square" lIns="0" tIns="0" rIns="0" bIns="0" rtlCol="0" anchor="t"/>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1  The Quest for Corporate Carbon Accounting</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Executive Summary</a:t>
            </a:r>
            <a:endParaRPr lang="en-US" sz="1700" dirty="0"/>
          </a:p>
        </p:txBody>
      </p:sp>
      <p:sp>
        <p:nvSpPr>
          <p:cNvPr id="3" name="Text 0"/>
          <p:cNvSpPr/>
          <p:nvPr>
            <p:ph idx="102" type="body" hasCustomPrompt="1"/>
          </p:nvPr>
        </p:nvSpPr>
        <p:spPr>
          <a:xfrm>
            <a:off x="612648" y="960120"/>
            <a:ext cx="10966399"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Businesses in a wide range of industries are increasingly considered responsible not only for their own direct carbon emissions but also for the emissions embodied in their sales products. This whitepaper describes the structure of Integrated Corporate Carbon Accounting (ICCA) systems that track an entity’s direct (Scope 1) and indirect (Scope 2 and upstream Scope 3) emissions over time in order to calculate key carbon emission metrics.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Akin to product costing in financial accounting, ICCA systems determine the cradle-to-gate Product Carbon Footprints (PCFs) of products sold in the current time period on the basis of the company’s actual direct emissions, its operational activities, and the PCFs attributed to production inputs sourced from suppliers. The aggregate PCFs of products sold then become a central building block for determining a company’s periodic Corporate Carbon Footprint (CCF). By separating carbon stock variables from carbon flow variables, ICCA systems track emissions consistently across different time periods. Double-entry bookkeeping enables a particular ICCA architecture that records the carbon stock variables on a CO2 balance sheet, resulting in overall CO2 statements that are structurally similar to financial statements.</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0"/>
          <p:cNvSpPr/>
          <p:nvPr>
            <p:ph idx="102" type="body" hasCustomPrompt="1"/>
          </p:nvPr>
        </p:nvSpPr>
        <p:spPr>
          <a:xfrm>
            <a:off x="612648" y="960120"/>
            <a:ext cx="5300320"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Completeness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Companies account and assume responsibility for their own direct (Scope 1) emissions and the indirect emissions embodied in acquired inputs and services (Scope 2 and upstream Scope 3) during an accounting period. An ICCA system is therefore complete if the carbon ledger records all direct and upstream indirect emissions corresponding to incoming goods and services received by the business.</a:t>
            </a:r>
            <a:endParaRPr lang="en-US" sz="1200" dirty="0"/>
          </a:p>
        </p:txBody>
      </p:sp>
      <p:sp>
        <p:nvSpPr>
          <p:cNvPr id="4" name="Text 0"/>
          <p:cNvSpPr/>
          <p:nvPr>
            <p:ph idx="103" type="body" hasCustomPrompt="1"/>
          </p:nvPr>
        </p:nvSpPr>
        <p:spPr>
          <a:xfrm>
            <a:off x="6278728" y="960120"/>
            <a:ext cx="5300320"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Timely Recognition</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Direct (Scope 1) emissions and direct removals are recorded in the carbon ledger for the accounting period in which they occur. Indirect emissions are recorded in the carbon ledger in the same time period in which customers acquire (take control of) goods and services. The carbon ledger must include accounts for carbon stock variables that capitalize any incoming emissions that are not recorded directly in the current CCF metric.</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Introducing the Carbon Accounting Standards Initiative (CASI)</a:t>
            </a:r>
            <a:endParaRPr lang="en-US" sz="1700" dirty="0"/>
          </a:p>
        </p:txBody>
      </p:sp>
      <p:sp>
        <p:nvSpPr>
          <p:cNvPr id="3" name="Text 0"/>
          <p:cNvSpPr/>
          <p:nvPr>
            <p:ph idx="102" type="body" hasCustomPrompt="1"/>
          </p:nvPr>
        </p:nvSpPr>
        <p:spPr>
          <a:xfrm>
            <a:off x="612648" y="960120"/>
            <a:ext cx="6760159"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This whitepaper provides the foundational statement for a newly formed initiative, termed the Carbon Accounting Standards Initiative (CASI). We are a working group of company representatives and academics from the fields of accounting, corporate reporting, and climate sustainability. We are united by the belief that effective decarbonization depends on reliable investor-grade emissions data and that the principles of financial accounting offer a useful foundation for reliable carbon accounting at the corporate level. Ultimately, corporate carbon accounting must evolve to the point where emissions are tracked, allocated, and reported with the same rigor and structure as financial transactions.</a:t>
            </a:r>
            <a:endParaRPr lang="en-US" sz="1200" dirty="0"/>
          </a:p>
        </p:txBody>
      </p:sp>
      <p:sp>
        <p:nvSpPr>
          <p:cNvPr id="4" name="Text 0"/>
          <p:cNvSpPr/>
          <p:nvPr>
            <p:ph idx="103" type="body" hasCustomPrompt="1"/>
          </p:nvPr>
        </p:nvSpPr>
        <p:spPr>
          <a:xfrm>
            <a:off x="7738567" y="960120"/>
            <a:ext cx="3840480" cy="3563874"/>
          </a:xfrm>
          <a:prstGeom prst="roundRect">
            <a:avLst>
              <a:gd name="adj" fmla="val 4000"/>
            </a:avLst>
          </a:prstGeom>
          <a:solidFill>
            <a:srgbClr val="EEF2F1"/>
          </a:solidFill>
          <a:ln>
            <a:noFill/>
          </a:ln>
        </p:spPr>
        <p:txBody>
          <a:bodyPr wrap="square" lIns="274320" tIns="274320" rIns="274320" bIns="274320" rtlCol="0" anchor="t">
            <a:spAutoFit/>
          </a:body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In this first whitepaper we introduce the framework of Integrated Corporate Carbon Accounting (ICCA). Such accounting systems ensure that product-level carbon footprints (PCFs) seamlessly integrate with company-level carbon footprints (CCFs). Unlike existing approaches, ICCA applies rigorous accounting logic to GHG emissions and offsets, thereby enabling a coherent, reconcilable, and audit-ready infrastructure for carbon reporting.</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0"/>
          <p:cNvSpPr/>
          <p:nvPr>
            <p:ph idx="102" type="body" hasCustomPrompt="1"/>
          </p:nvPr>
        </p:nvSpPr>
        <p:spPr>
          <a:xfrm>
            <a:off x="612648" y="960120"/>
            <a:ext cx="5300320" cy="2837688"/>
          </a:xfrm>
          <a:prstGeom prst="roundRect">
            <a:avLst>
              <a:gd name="adj" fmla="val 4000"/>
            </a:avLst>
          </a:prstGeom>
          <a:solidFill>
            <a:srgbClr val="EEF2F1"/>
          </a:solidFill>
          <a:ln>
            <a:noFill/>
          </a:ln>
        </p:spPr>
        <p:txBody>
          <a:bodyPr wrap="square" lIns="274320" tIns="274320" rIns="274320" bIns="274320" rtlCol="0" anchor="t">
            <a:spAutoFit/>
          </a:bodyPr>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Accuracy</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ICCA systems become more accurate as data inputs about indirect supply chain emissions are increasingly based on primary data that represent the actual emissions incurred in the supply chain. Accuracy will therefore improve as more companies in an entity’s supply network adopt their own ICCA systems. Recent contributions have proposed to quantify the level of accuracy by means of a Data Quality Scoring (DQS) index.</a:t>
            </a:r>
            <a:endParaRPr lang="en-US" sz="1200" dirty="0"/>
          </a:p>
        </p:txBody>
      </p:sp>
      <p:sp>
        <p:nvSpPr>
          <p:cNvPr id="4" name="Text 0"/>
          <p:cNvSpPr/>
          <p:nvPr>
            <p:ph idx="103" type="body" hasCustomPrompt="1"/>
          </p:nvPr>
        </p:nvSpPr>
        <p:spPr>
          <a:xfrm>
            <a:off x="6278728" y="960120"/>
            <a:ext cx="5300320" cy="4442460"/>
          </a:xfrm>
          <a:prstGeom prst="roundRect">
            <a:avLst>
              <a:gd name="adj" fmla="val 4000"/>
            </a:avLst>
          </a:prstGeom>
          <a:solidFill>
            <a:srgbClr val="EEF2F1"/>
          </a:solidFill>
          <a:ln>
            <a:noFill/>
          </a:ln>
        </p:spPr>
        <p:txBody>
          <a:bodyPr wrap="square" lIns="274320" tIns="274320" rIns="274320" bIns="274320" rtlCol="0" anchor="t">
            <a:spAutoFit/>
          </a:bodyPr>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Unbiasedness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In most industries, the calculation of CCFs and PCFs requires pools of overhead emissions to be prorated (allocated) among different time periods and products. Such pools of overhead emissions frequently emerge in connection with shared assets or consumable inputs (e.g., electricity) that are used by multiple products. The principle of unbiasedness requires the applicable allocation rules to capture the causal link between emissions associated with specific production activities and the extent to which different products require these activities. While allocation rules that reflect the underlying causal links are intended to limit selective greenwashing, companies will generally retain some discretion in choosing among alternative allocation rules which meet this criterion.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2  The Structure of Integrated Corporate Carbon Accounting (ICCA) Systems</a:t>
            </a:r>
            <a:endParaRPr lang="en-US" sz="1700" dirty="0"/>
          </a:p>
        </p:txBody>
      </p:sp>
      <p:pic>
        <p:nvPicPr>
          <p:cNvPr id="3" name="Image 0" descr="Figure 3  Schematic for Integrated Corporate Carbon Accounting: data inputs, the carbon ledger and the resulting carbon metrics.">    </p:cNvPr>
          <p:cNvPicPr>
            <a:picLocks noChangeAspect="1"/>
          </p:cNvPicPr>
          <p:nvPr/>
        </p:nvPicPr>
        <p:blipFill>
          <a:blip r:embed="rId1"/>
          <a:stretch>
            <a:fillRect/>
          </a:stretch>
        </p:blipFill>
        <p:spPr>
          <a:xfrm>
            <a:off x="612648" y="960120"/>
            <a:ext cx="7438888" cy="4892040"/>
          </a:xfrm>
          <a:prstGeom prst="rect">
            <a:avLst/>
          </a:prstGeom>
        </p:spPr>
      </p:pic>
      <p:sp>
        <p:nvSpPr>
          <p:cNvPr id="4" name="Text 0"/>
          <p:cNvSpPr/>
          <p:nvPr>
            <p:ph idx="103" type="body" hasCustomPrompt="1"/>
          </p:nvPr>
        </p:nvSpPr>
        <p:spPr>
          <a:xfrm>
            <a:off x="612648" y="5989320"/>
            <a:ext cx="10966399" cy="365760"/>
          </a:xfrm>
          <a:prstGeom prst="rect">
            <a:avLst/>
          </a:prstGeom>
          <a:noFill/>
          <a:ln/>
        </p:spPr>
        <p:txBody>
          <a:bodyPr wrap="square" lIns="0" tIns="0" rIns="0" bIns="0" rtlCol="0" anchor="t"/>
          <a:lstStyle/>
          <a:p>
            <a:pPr algn="l" indent="0" marL="0">
              <a:lnSpc>
                <a:spcPct val="120000"/>
              </a:lnSpc>
              <a:buNone/>
            </a:pPr>
            <a:r>
              <a:rPr lang="en-US" sz="750" dirty="0">
                <a:solidFill>
                  <a:srgbClr val="5F7471"/>
                </a:solidFill>
                <a:latin typeface="PP Mori" pitchFamily="34" charset="0"/>
                <a:ea typeface="PP Mori" pitchFamily="34" charset="-122"/>
                <a:cs typeface="PP Mori" pitchFamily="34" charset="-120"/>
              </a:rPr>
              <a:t>Figure 3  Schematic for Integrated Corporate Carbon Accounting: data inputs, the carbon ledger and the resulting carbon metrics.</a:t>
            </a:r>
            <a:endParaRPr lang="en-US" sz="750" dirty="0"/>
          </a:p>
        </p:txBody>
      </p:sp>
      <p:sp>
        <p:nvSpPr>
          <p:cNvPr id="5" name="Text 0"/>
          <p:cNvSpPr/>
          <p:nvPr>
            <p:ph idx="102" hasCustomPrompt="1"/>
          </p:nvPr>
        </p:nvSpPr>
        <p:spPr>
          <a:xfrm>
            <a:off x="612648" y="960120"/>
            <a:ext cx="10966399" cy="489204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2648" y="2395728"/>
            <a:ext cx="2980944" cy="2743200"/>
          </a:xfrm>
          <a:prstGeom prst="rect">
            <a:avLst/>
          </a:prstGeom>
          <a:noFill/>
          <a:ln/>
        </p:spPr>
        <p:txBody>
          <a:bodyPr wrap="square" lIns="0" tIns="0" rIns="0" bIns="0" rtlCol="0" anchor="t"/>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We look forward to entering a dialogue with you as we work toward a new era of corporate carbon accounting.</a:t>
            </a:r>
            <a:endParaRPr lang="en-US" sz="2400" dirty="0"/>
          </a:p>
        </p:txBody>
      </p:sp>
      <p:sp>
        <p:nvSpPr>
          <p:cNvPr id="3" name="Text 1"/>
          <p:cNvSpPr/>
          <p:nvPr>
            <p:ph idx="103" type="body" hasCustomPrompt="1"/>
          </p:nvPr>
        </p:nvSpPr>
        <p:spPr>
          <a:xfrm>
            <a:off x="4818888" y="2395728"/>
            <a:ext cx="6760159" cy="2743200"/>
          </a:xfrm>
          <a:prstGeom prst="rect">
            <a:avLst/>
          </a:prstGeom>
          <a:noFill/>
          <a:ln/>
        </p:spPr>
        <p:txBody>
          <a:bodyPr wrap="square" lIns="0" tIns="0" rIns="0" bIns="0" rtlCol="0" anchor="t"/>
          <a:lstStyle/>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Carbon Accounting Standards Initiative</a:t>
            </a:r>
            <a:endParaRPr lang="en-US" sz="1200" dirty="0"/>
          </a:p>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casinitiative.org</a:t>
            </a:r>
            <a:endParaRPr lang="en-US" sz="1200" dirty="0"/>
          </a:p>
        </p:txBody>
      </p:sp>
    </p:spTree>
  </p:cSld>
  <p:clrMapOvr>
    <a:masterClrMapping/>
  </p:clrMapOvr>
</p:sld>
</file>

<file path=ppt/theme/theme1.xml><?xml version="1.0" encoding="utf-8"?>
<a:theme xmlns:a="http://schemas.openxmlformats.org/drawingml/2006/main" name="CASI">
  <a:themeElements>
    <a:clrScheme name="CASI">
      <a:dk1>
        <a:srgbClr val="0E4D49"/>
      </a:dk1>
      <a:lt1>
        <a:srgbClr val="FFFFFF"/>
      </a:lt1>
      <a:dk2>
        <a:srgbClr val="5F7471"/>
      </a:dk2>
      <a:lt2>
        <a:srgbClr val="EEF2F1"/>
      </a:lt2>
      <a:accent1>
        <a:srgbClr val="0E4D49"/>
      </a:accent1>
      <a:accent2>
        <a:srgbClr val="5F7471"/>
      </a:accent2>
      <a:accent3>
        <a:srgbClr val="93AFAD"/>
      </a:accent3>
      <a:accent4>
        <a:srgbClr val="C5D4D3"/>
      </a:accent4>
      <a:accent5>
        <a:srgbClr val="E1E7E5"/>
      </a:accent5>
      <a:accent6>
        <a:srgbClr val="8B1538"/>
      </a:accent6>
      <a:hlink>
        <a:srgbClr val="0E4D49"/>
      </a:hlink>
      <a:folHlink>
        <a:srgbClr val="0E4D49"/>
      </a:folHlink>
    </a:clrScheme>
    <a:fontScheme name="CASI">
      <a:majorFont>
        <a:latin typeface="PP Mor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Carbon Accounting Standards Initiative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CASI Folien – Beispiel</dc:title>
  <dc:subject>PptxGenJS Presentation</dc:subject>
  <dc:creator>Carbon Accounting Standards Initiative</dc:creator>
  <cp:lastModifiedBy>Carbon Accounting Standards Initiative</cp:lastModifiedBy>
  <cp:revision>1</cp:revision>
  <dcterms:created xsi:type="dcterms:W3CDTF">2026-10-16T12:32:40Z</dcterms:created>
  <dcterms:modified xsi:type="dcterms:W3CDTF">2026-10-16T12:32:40Z</dcterms:modified>
</cp:coreProperties>
</file>