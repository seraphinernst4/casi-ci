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PP Mori" pitchFamily="2" charset="0"/>
      <p:regular r:id="rIdCasiFont1"/>
    </p:embeddedFont>
    <p:embeddedFont>
      <p:font typeface="PP Mori SemiBold" pitchFamily="2" charset="0"/>
      <p:bold r:id="rIdCasi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CasiFont1" Type="http://schemas.openxmlformats.org/officeDocument/2006/relationships/font" Target="fonts/font1.fntdata"/><Relationship Id="rIdCasi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917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2648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ICCA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2395728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Integrated Corporate Carbon Accounting (ICCA)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40416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Assess both product and corporate carbon emissions with the rigor of financial accounting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647395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casinitiative.org · 16 October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ICCA 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Integrated Corporate Carbon Accounting (ICCA)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306117" y="1904524"/>
            <a:ext cx="220930" cy="0"/>
          </a:xfrm>
          <a:prstGeom prst="line">
            <a:avLst/>
          </a:prstGeom>
          <a:noFill/>
          <a:ln w="16510">
            <a:solidFill>
              <a:srgbClr val="93A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7047" y="1904524"/>
            <a:ext cx="0" cy="3585862"/>
          </a:xfrm>
          <a:prstGeom prst="line">
            <a:avLst/>
          </a:prstGeom>
          <a:noFill/>
          <a:ln w="16510">
            <a:solidFill>
              <a:srgbClr val="93AF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06117" y="3688957"/>
            <a:ext cx="441860" cy="0"/>
          </a:xfrm>
          <a:prstGeom prst="line">
            <a:avLst/>
          </a:prstGeom>
          <a:noFill/>
          <a:ln w="16510">
            <a:solidFill>
              <a:srgbClr val="93AF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6117" y="5490385"/>
            <a:ext cx="220930" cy="0"/>
          </a:xfrm>
          <a:prstGeom prst="line">
            <a:avLst/>
          </a:prstGeom>
          <a:noFill/>
          <a:ln w="16510">
            <a:solidFill>
              <a:srgbClr val="93AF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0119" y="3705952"/>
            <a:ext cx="237924" cy="0"/>
          </a:xfrm>
          <a:prstGeom prst="line">
            <a:avLst/>
          </a:prstGeom>
          <a:noFill/>
          <a:ln w="16510">
            <a:solidFill>
              <a:srgbClr val="CB96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8044" y="1700588"/>
            <a:ext cx="0" cy="4010727"/>
          </a:xfrm>
          <a:prstGeom prst="line">
            <a:avLst/>
          </a:prstGeom>
          <a:noFill/>
          <a:ln w="16510">
            <a:solidFill>
              <a:srgbClr val="CB9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8044" y="1700588"/>
            <a:ext cx="220930" cy="0"/>
          </a:xfrm>
          <a:prstGeom prst="line">
            <a:avLst/>
          </a:prstGeom>
          <a:noFill/>
          <a:ln w="16510">
            <a:solidFill>
              <a:srgbClr val="CB9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8044" y="3043162"/>
            <a:ext cx="220930" cy="0"/>
          </a:xfrm>
          <a:prstGeom prst="line">
            <a:avLst/>
          </a:prstGeom>
          <a:noFill/>
          <a:ln w="16510">
            <a:solidFill>
              <a:srgbClr val="CB96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8044" y="4368742"/>
            <a:ext cx="220930" cy="0"/>
          </a:xfrm>
          <a:prstGeom prst="line">
            <a:avLst/>
          </a:prstGeom>
          <a:noFill/>
          <a:ln w="16510">
            <a:solidFill>
              <a:srgbClr val="CB96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8044" y="5711315"/>
            <a:ext cx="220930" cy="0"/>
          </a:xfrm>
          <a:prstGeom prst="line">
            <a:avLst/>
          </a:prstGeom>
          <a:noFill/>
          <a:ln w="16510">
            <a:solidFill>
              <a:srgbClr val="CB9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8948" y="1105777"/>
            <a:ext cx="2607610" cy="1569080"/>
          </a:xfrm>
          <a:prstGeom prst="roundRect">
            <a:avLst>
              <a:gd name="adj" fmla="val 8123"/>
            </a:avLst>
          </a:prstGeom>
          <a:solidFill>
            <a:srgbClr val="FFFFFF"/>
          </a:solidFill>
          <a:ln w="16510">
            <a:solidFill>
              <a:srgbClr val="C5D4D3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7391" y="1652260"/>
            <a:ext cx="475849" cy="475849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2479197" y="1562614"/>
            <a:ext cx="1401021" cy="6118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Emissions</a:t>
            </a:r>
            <a:endParaRPr lang="en-US" sz="2010" dirty="0"/>
          </a:p>
        </p:txBody>
      </p:sp>
      <p:sp>
        <p:nvSpPr>
          <p:cNvPr id="19" name="Shape 16"/>
          <p:cNvSpPr/>
          <p:nvPr/>
        </p:nvSpPr>
        <p:spPr>
          <a:xfrm>
            <a:off x="1688948" y="2895787"/>
            <a:ext cx="2607610" cy="1569080"/>
          </a:xfrm>
          <a:prstGeom prst="roundRect">
            <a:avLst>
              <a:gd name="adj" fmla="val 8123"/>
            </a:avLst>
          </a:prstGeom>
          <a:solidFill>
            <a:srgbClr val="FFFFFF"/>
          </a:solidFill>
          <a:ln w="16510">
            <a:solidFill>
              <a:srgbClr val="C5D4D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7391" y="3442270"/>
            <a:ext cx="475849" cy="475849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479197" y="3352623"/>
            <a:ext cx="1388056" cy="6118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Removals</a:t>
            </a:r>
            <a:endParaRPr lang="en-US" sz="2010" dirty="0"/>
          </a:p>
        </p:txBody>
      </p:sp>
      <p:sp>
        <p:nvSpPr>
          <p:cNvPr id="22" name="Shape 18"/>
          <p:cNvSpPr/>
          <p:nvPr/>
        </p:nvSpPr>
        <p:spPr>
          <a:xfrm>
            <a:off x="1688948" y="4685797"/>
            <a:ext cx="2607610" cy="1569080"/>
          </a:xfrm>
          <a:prstGeom prst="roundRect">
            <a:avLst>
              <a:gd name="adj" fmla="val 8123"/>
            </a:avLst>
          </a:prstGeom>
          <a:solidFill>
            <a:srgbClr val="FFFFFF"/>
          </a:solidFill>
          <a:ln w="16510">
            <a:solidFill>
              <a:srgbClr val="C5D4D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91" y="5232280"/>
            <a:ext cx="475849" cy="475849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479197" y="5142633"/>
            <a:ext cx="1401021" cy="6118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Upstream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Emissions</a:t>
            </a:r>
            <a:endParaRPr lang="en-US" sz="2010" dirty="0"/>
          </a:p>
        </p:txBody>
      </p:sp>
      <p:sp>
        <p:nvSpPr>
          <p:cNvPr id="25" name="Shape 20"/>
          <p:cNvSpPr/>
          <p:nvPr/>
        </p:nvSpPr>
        <p:spPr>
          <a:xfrm>
            <a:off x="4746915" y="2887290"/>
            <a:ext cx="2704267" cy="1586075"/>
          </a:xfrm>
          <a:prstGeom prst="roundRect">
            <a:avLst>
              <a:gd name="adj" fmla="val 8572"/>
            </a:avLst>
          </a:prstGeom>
          <a:solidFill>
            <a:srgbClr val="EEF2F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3855" y="3442270"/>
            <a:ext cx="475849" cy="47584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21552" y="3505309"/>
            <a:ext cx="1707098" cy="305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10"/>
              </a:lnSpc>
              <a:buNone/>
            </a:pPr>
            <a:r>
              <a:rPr lang="en-US" sz="20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Ledger</a:t>
            </a:r>
            <a:endParaRPr lang="en-US" sz="2010" dirty="0"/>
          </a:p>
        </p:txBody>
      </p:sp>
      <p:sp>
        <p:nvSpPr>
          <p:cNvPr id="28" name="Shape 22"/>
          <p:cNvSpPr/>
          <p:nvPr/>
        </p:nvSpPr>
        <p:spPr>
          <a:xfrm>
            <a:off x="7893041" y="1097280"/>
            <a:ext cx="2624604" cy="1164130"/>
          </a:xfrm>
          <a:prstGeom prst="roundRect">
            <a:avLst>
              <a:gd name="adj" fmla="val 11679"/>
            </a:avLst>
          </a:prstGeom>
          <a:solidFill>
            <a:srgbClr val="F6EBE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9982" y="1441421"/>
            <a:ext cx="475849" cy="47584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691787" y="1351296"/>
            <a:ext cx="1830819" cy="612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CO2 Balance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Sheet</a:t>
            </a:r>
            <a:endParaRPr lang="en-US" sz="2010" dirty="0"/>
          </a:p>
        </p:txBody>
      </p:sp>
      <p:sp>
        <p:nvSpPr>
          <p:cNvPr id="31" name="Shape 24"/>
          <p:cNvSpPr/>
          <p:nvPr/>
        </p:nvSpPr>
        <p:spPr>
          <a:xfrm>
            <a:off x="7893041" y="2431357"/>
            <a:ext cx="2624604" cy="1164130"/>
          </a:xfrm>
          <a:prstGeom prst="roundRect">
            <a:avLst>
              <a:gd name="adj" fmla="val 11679"/>
            </a:avLst>
          </a:prstGeom>
          <a:solidFill>
            <a:srgbClr val="F6EBE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79982" y="2775497"/>
            <a:ext cx="475849" cy="475849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691787" y="2685373"/>
            <a:ext cx="1756096" cy="612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Net CO2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Contribution</a:t>
            </a:r>
            <a:endParaRPr lang="en-US" sz="2010" dirty="0"/>
          </a:p>
        </p:txBody>
      </p:sp>
      <p:sp>
        <p:nvSpPr>
          <p:cNvPr id="34" name="Shape 26"/>
          <p:cNvSpPr/>
          <p:nvPr/>
        </p:nvSpPr>
        <p:spPr>
          <a:xfrm>
            <a:off x="7893041" y="3765433"/>
            <a:ext cx="2624604" cy="1164130"/>
          </a:xfrm>
          <a:prstGeom prst="roundRect">
            <a:avLst>
              <a:gd name="adj" fmla="val 11679"/>
            </a:avLst>
          </a:prstGeom>
          <a:solidFill>
            <a:srgbClr val="F6EBEF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79982" y="4109574"/>
            <a:ext cx="475849" cy="475849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691787" y="4019449"/>
            <a:ext cx="1226788" cy="612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Net CO2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Flow</a:t>
            </a:r>
            <a:endParaRPr lang="en-US" sz="2010" dirty="0"/>
          </a:p>
        </p:txBody>
      </p:sp>
      <p:sp>
        <p:nvSpPr>
          <p:cNvPr id="37" name="Shape 28"/>
          <p:cNvSpPr/>
          <p:nvPr/>
        </p:nvSpPr>
        <p:spPr>
          <a:xfrm>
            <a:off x="7893041" y="5099510"/>
            <a:ext cx="2624604" cy="1164130"/>
          </a:xfrm>
          <a:prstGeom prst="roundRect">
            <a:avLst>
              <a:gd name="adj" fmla="val 11679"/>
            </a:avLst>
          </a:prstGeom>
          <a:solidFill>
            <a:srgbClr val="F6EBEF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79982" y="5443650"/>
            <a:ext cx="475849" cy="475849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691787" y="5201052"/>
            <a:ext cx="1452603" cy="917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Product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Carbon</a:t>
            </a:r>
            <a:endParaRPr lang="en-US" sz="2010" dirty="0"/>
          </a:p>
          <a:p>
            <a:pPr algn="l" indent="0" marL="0">
              <a:lnSpc>
                <a:spcPts val="2410"/>
              </a:lnSpc>
              <a:buNone/>
            </a:pPr>
            <a:r>
              <a:rPr lang="en-US" sz="2010" dirty="0">
                <a:solidFill>
                  <a:srgbClr val="8B1538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Footprints</a:t>
            </a:r>
            <a:endParaRPr lang="en-US" sz="2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ICCA 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A Single CO2 Ledger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2648" y="1781736"/>
            <a:ext cx="10972950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5275" y="1495986"/>
            <a:ext cx="461371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Date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1112596" y="1495986"/>
            <a:ext cx="713001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Activity</a:t>
            </a:r>
            <a:endParaRPr lang="en-US" sz="1210" dirty="0"/>
          </a:p>
        </p:txBody>
      </p:sp>
      <p:sp>
        <p:nvSpPr>
          <p:cNvPr id="9" name="Text 7"/>
          <p:cNvSpPr txBox="1"/>
          <p:nvPr/>
        </p:nvSpPr>
        <p:spPr>
          <a:xfrm>
            <a:off x="3444469" y="1495986"/>
            <a:ext cx="581590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tCO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2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4115577" y="1495986"/>
            <a:ext cx="597793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Scope</a:t>
            </a:r>
            <a:endParaRPr lang="en-US" sz="1210" dirty="0"/>
          </a:p>
        </p:txBody>
      </p:sp>
      <p:sp>
        <p:nvSpPr>
          <p:cNvPr id="11" name="Text 9"/>
          <p:cNvSpPr txBox="1"/>
          <p:nvPr/>
        </p:nvSpPr>
        <p:spPr>
          <a:xfrm>
            <a:off x="4982064" y="1495911"/>
            <a:ext cx="1590813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Debit (Destination)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8891210" y="1495911"/>
            <a:ext cx="1317467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Credit (Source)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669455" y="1847851"/>
            <a:ext cx="233010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1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1112596" y="1847776"/>
            <a:ext cx="1666445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Machinery acquired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3508273" y="1849863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B060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48572" y="1877316"/>
            <a:ext cx="173234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A</a:t>
            </a:r>
            <a:endParaRPr lang="en-US" sz="970" dirty="0"/>
          </a:p>
        </p:txBody>
      </p:sp>
      <p:sp>
        <p:nvSpPr>
          <p:cNvPr id="17" name="Text 15"/>
          <p:cNvSpPr txBox="1"/>
          <p:nvPr/>
        </p:nvSpPr>
        <p:spPr>
          <a:xfrm>
            <a:off x="4115577" y="1847776"/>
            <a:ext cx="871727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Scope 3.2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4982064" y="1847776"/>
            <a:ext cx="1994629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Machinery &amp; Equipment</a:t>
            </a:r>
            <a:endParaRPr lang="en-US" sz="1210" dirty="0"/>
          </a:p>
        </p:txBody>
      </p:sp>
      <p:sp>
        <p:nvSpPr>
          <p:cNvPr id="19" name="Text 17"/>
          <p:cNvSpPr txBox="1"/>
          <p:nvPr/>
        </p:nvSpPr>
        <p:spPr>
          <a:xfrm>
            <a:off x="8891210" y="1847776"/>
            <a:ext cx="1705015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Upstream Emissions</a:t>
            </a:r>
            <a:endParaRPr lang="en-US" sz="1210" dirty="0"/>
          </a:p>
        </p:txBody>
      </p:sp>
      <p:sp>
        <p:nvSpPr>
          <p:cNvPr id="20" name="Text 18"/>
          <p:cNvSpPr txBox="1"/>
          <p:nvPr/>
        </p:nvSpPr>
        <p:spPr>
          <a:xfrm>
            <a:off x="657161" y="2172465"/>
            <a:ext cx="257598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2</a:t>
            </a:r>
            <a:endParaRPr lang="en-US" sz="1210" dirty="0"/>
          </a:p>
        </p:txBody>
      </p:sp>
      <p:sp>
        <p:nvSpPr>
          <p:cNvPr id="21" name="Text 19"/>
          <p:cNvSpPr txBox="1"/>
          <p:nvPr/>
        </p:nvSpPr>
        <p:spPr>
          <a:xfrm>
            <a:off x="1112596" y="2172390"/>
            <a:ext cx="2095750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Raw materials purchased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3508273" y="2174477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3060C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2194" y="2201930"/>
            <a:ext cx="165990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B</a:t>
            </a:r>
            <a:endParaRPr lang="en-US" sz="970" dirty="0"/>
          </a:p>
        </p:txBody>
      </p:sp>
      <p:sp>
        <p:nvSpPr>
          <p:cNvPr id="24" name="Text 22"/>
          <p:cNvSpPr txBox="1"/>
          <p:nvPr/>
        </p:nvSpPr>
        <p:spPr>
          <a:xfrm>
            <a:off x="4115577" y="2172390"/>
            <a:ext cx="822592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Scope 3.1</a:t>
            </a:r>
            <a:endParaRPr lang="en-US" sz="1210" dirty="0"/>
          </a:p>
        </p:txBody>
      </p:sp>
      <p:sp>
        <p:nvSpPr>
          <p:cNvPr id="25" name="Text 23"/>
          <p:cNvSpPr txBox="1"/>
          <p:nvPr/>
        </p:nvSpPr>
        <p:spPr>
          <a:xfrm>
            <a:off x="4982064" y="2172465"/>
            <a:ext cx="807834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Materials</a:t>
            </a:r>
            <a:endParaRPr lang="en-US" sz="1210" dirty="0"/>
          </a:p>
        </p:txBody>
      </p:sp>
      <p:sp>
        <p:nvSpPr>
          <p:cNvPr id="26" name="Text 24"/>
          <p:cNvSpPr txBox="1"/>
          <p:nvPr/>
        </p:nvSpPr>
        <p:spPr>
          <a:xfrm>
            <a:off x="8891210" y="2172390"/>
            <a:ext cx="1705015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Upstream Emissions</a:t>
            </a:r>
            <a:endParaRPr lang="en-US" sz="1210" dirty="0"/>
          </a:p>
        </p:txBody>
      </p:sp>
      <p:sp>
        <p:nvSpPr>
          <p:cNvPr id="27" name="Text 25"/>
          <p:cNvSpPr txBox="1"/>
          <p:nvPr/>
        </p:nvSpPr>
        <p:spPr>
          <a:xfrm>
            <a:off x="654960" y="2497079"/>
            <a:ext cx="262000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3</a:t>
            </a:r>
            <a:endParaRPr lang="en-US" sz="1210" dirty="0"/>
          </a:p>
        </p:txBody>
      </p:sp>
      <p:sp>
        <p:nvSpPr>
          <p:cNvPr id="28" name="Text 26"/>
          <p:cNvSpPr txBox="1"/>
          <p:nvPr/>
        </p:nvSpPr>
        <p:spPr>
          <a:xfrm>
            <a:off x="1112596" y="2469969"/>
            <a:ext cx="1805131" cy="4355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Raw materials used in</a:t>
            </a:r>
            <a:endParaRPr lang="en-US" sz="1210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production</a:t>
            </a:r>
            <a:endParaRPr lang="en-US" sz="1210" dirty="0"/>
          </a:p>
        </p:txBody>
      </p:sp>
      <p:sp>
        <p:nvSpPr>
          <p:cNvPr id="29" name="Shape 27"/>
          <p:cNvSpPr/>
          <p:nvPr/>
        </p:nvSpPr>
        <p:spPr>
          <a:xfrm>
            <a:off x="3508273" y="2499092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2080B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45654" y="2526544"/>
            <a:ext cx="179070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</a:t>
            </a:r>
            <a:endParaRPr lang="en-US" sz="970" dirty="0"/>
          </a:p>
        </p:txBody>
      </p:sp>
      <p:sp>
        <p:nvSpPr>
          <p:cNvPr id="31" name="Text 29"/>
          <p:cNvSpPr txBox="1"/>
          <p:nvPr/>
        </p:nvSpPr>
        <p:spPr>
          <a:xfrm>
            <a:off x="4982064" y="2497005"/>
            <a:ext cx="2027833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Work-in-Process Goods</a:t>
            </a:r>
            <a:endParaRPr lang="en-US" sz="1210" dirty="0"/>
          </a:p>
        </p:txBody>
      </p:sp>
      <p:sp>
        <p:nvSpPr>
          <p:cNvPr id="32" name="Text 30"/>
          <p:cNvSpPr txBox="1"/>
          <p:nvPr/>
        </p:nvSpPr>
        <p:spPr>
          <a:xfrm>
            <a:off x="8891210" y="2497079"/>
            <a:ext cx="807834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Materials</a:t>
            </a:r>
            <a:endParaRPr lang="en-US" sz="1210" dirty="0"/>
          </a:p>
        </p:txBody>
      </p:sp>
      <p:sp>
        <p:nvSpPr>
          <p:cNvPr id="33" name="Text 31"/>
          <p:cNvSpPr txBox="1"/>
          <p:nvPr/>
        </p:nvSpPr>
        <p:spPr>
          <a:xfrm>
            <a:off x="653357" y="3028321"/>
            <a:ext cx="265207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4</a:t>
            </a:r>
            <a:endParaRPr lang="en-US" sz="1210" dirty="0"/>
          </a:p>
        </p:txBody>
      </p:sp>
      <p:sp>
        <p:nvSpPr>
          <p:cNvPr id="34" name="Text 32"/>
          <p:cNvSpPr txBox="1"/>
          <p:nvPr/>
        </p:nvSpPr>
        <p:spPr>
          <a:xfrm>
            <a:off x="1112596" y="3028246"/>
            <a:ext cx="2462169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Fuel combusted in production</a:t>
            </a:r>
            <a:endParaRPr lang="en-US" sz="1210" dirty="0"/>
          </a:p>
        </p:txBody>
      </p:sp>
      <p:sp>
        <p:nvSpPr>
          <p:cNvPr id="35" name="Shape 33"/>
          <p:cNvSpPr/>
          <p:nvPr/>
        </p:nvSpPr>
        <p:spPr>
          <a:xfrm>
            <a:off x="3508273" y="3030333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50B0D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649242" y="3057786"/>
            <a:ext cx="171892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</a:t>
            </a:r>
            <a:endParaRPr lang="en-US" sz="970" dirty="0"/>
          </a:p>
        </p:txBody>
      </p:sp>
      <p:sp>
        <p:nvSpPr>
          <p:cNvPr id="37" name="Text 35"/>
          <p:cNvSpPr txBox="1"/>
          <p:nvPr/>
        </p:nvSpPr>
        <p:spPr>
          <a:xfrm>
            <a:off x="4115577" y="3028246"/>
            <a:ext cx="695309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Scope 1</a:t>
            </a:r>
            <a:endParaRPr lang="en-US" sz="1210" dirty="0"/>
          </a:p>
        </p:txBody>
      </p:sp>
      <p:sp>
        <p:nvSpPr>
          <p:cNvPr id="38" name="Text 36"/>
          <p:cNvSpPr txBox="1"/>
          <p:nvPr/>
        </p:nvSpPr>
        <p:spPr>
          <a:xfrm>
            <a:off x="4982064" y="3028246"/>
            <a:ext cx="2027833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Work-in-Process Goods</a:t>
            </a:r>
            <a:endParaRPr lang="en-US" sz="1210" dirty="0"/>
          </a:p>
        </p:txBody>
      </p:sp>
      <p:sp>
        <p:nvSpPr>
          <p:cNvPr id="39" name="Text 37"/>
          <p:cNvSpPr txBox="1"/>
          <p:nvPr/>
        </p:nvSpPr>
        <p:spPr>
          <a:xfrm>
            <a:off x="8891210" y="3028246"/>
            <a:ext cx="1395111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Emissions</a:t>
            </a:r>
            <a:endParaRPr lang="en-US" sz="1210" dirty="0"/>
          </a:p>
        </p:txBody>
      </p:sp>
      <p:sp>
        <p:nvSpPr>
          <p:cNvPr id="40" name="Text 38"/>
          <p:cNvSpPr txBox="1"/>
          <p:nvPr/>
        </p:nvSpPr>
        <p:spPr>
          <a:xfrm>
            <a:off x="654771" y="3352935"/>
            <a:ext cx="262378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5</a:t>
            </a:r>
            <a:endParaRPr lang="en-US" sz="1210" dirty="0"/>
          </a:p>
        </p:txBody>
      </p:sp>
      <p:sp>
        <p:nvSpPr>
          <p:cNvPr id="41" name="Text 39"/>
          <p:cNvSpPr txBox="1"/>
          <p:nvPr/>
        </p:nvSpPr>
        <p:spPr>
          <a:xfrm>
            <a:off x="1112596" y="3352860"/>
            <a:ext cx="2205592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Depreciation of machinery</a:t>
            </a:r>
            <a:endParaRPr lang="en-US" sz="1210" dirty="0"/>
          </a:p>
        </p:txBody>
      </p:sp>
      <p:sp>
        <p:nvSpPr>
          <p:cNvPr id="42" name="Shape 40"/>
          <p:cNvSpPr/>
          <p:nvPr/>
        </p:nvSpPr>
        <p:spPr>
          <a:xfrm>
            <a:off x="3508273" y="3354947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20C09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6655" y="3382400"/>
            <a:ext cx="157068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</a:t>
            </a:r>
            <a:endParaRPr lang="en-US" sz="970" dirty="0"/>
          </a:p>
        </p:txBody>
      </p:sp>
      <p:sp>
        <p:nvSpPr>
          <p:cNvPr id="44" name="Text 42"/>
          <p:cNvSpPr txBox="1"/>
          <p:nvPr/>
        </p:nvSpPr>
        <p:spPr>
          <a:xfrm>
            <a:off x="4115577" y="3352860"/>
            <a:ext cx="871727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Scope 3.2</a:t>
            </a:r>
            <a:endParaRPr lang="en-US" sz="1210" dirty="0"/>
          </a:p>
        </p:txBody>
      </p:sp>
      <p:sp>
        <p:nvSpPr>
          <p:cNvPr id="45" name="Text 43"/>
          <p:cNvSpPr txBox="1"/>
          <p:nvPr/>
        </p:nvSpPr>
        <p:spPr>
          <a:xfrm>
            <a:off x="4982064" y="3352860"/>
            <a:ext cx="2027833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Work-in-Process Goods</a:t>
            </a:r>
            <a:endParaRPr lang="en-US" sz="1210" dirty="0"/>
          </a:p>
        </p:txBody>
      </p:sp>
      <p:sp>
        <p:nvSpPr>
          <p:cNvPr id="46" name="Text 44"/>
          <p:cNvSpPr txBox="1"/>
          <p:nvPr/>
        </p:nvSpPr>
        <p:spPr>
          <a:xfrm>
            <a:off x="8891210" y="3352860"/>
            <a:ext cx="1994629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Machinery &amp; Equipment</a:t>
            </a:r>
            <a:endParaRPr lang="en-US" sz="1210" dirty="0"/>
          </a:p>
        </p:txBody>
      </p:sp>
      <p:sp>
        <p:nvSpPr>
          <p:cNvPr id="47" name="Text 45"/>
          <p:cNvSpPr txBox="1"/>
          <p:nvPr/>
        </p:nvSpPr>
        <p:spPr>
          <a:xfrm>
            <a:off x="652979" y="3677549"/>
            <a:ext cx="265962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6</a:t>
            </a:r>
            <a:endParaRPr lang="en-US" sz="1210" dirty="0"/>
          </a:p>
        </p:txBody>
      </p:sp>
      <p:sp>
        <p:nvSpPr>
          <p:cNvPr id="48" name="Text 46"/>
          <p:cNvSpPr txBox="1"/>
          <p:nvPr/>
        </p:nvSpPr>
        <p:spPr>
          <a:xfrm>
            <a:off x="1112596" y="3677474"/>
            <a:ext cx="2385531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Production of goods finished</a:t>
            </a:r>
            <a:endParaRPr lang="en-US" sz="1210" dirty="0"/>
          </a:p>
        </p:txBody>
      </p:sp>
      <p:sp>
        <p:nvSpPr>
          <p:cNvPr id="49" name="Shape 47"/>
          <p:cNvSpPr/>
          <p:nvPr/>
        </p:nvSpPr>
        <p:spPr>
          <a:xfrm>
            <a:off x="3508273" y="3679562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30A060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657225" y="3707014"/>
            <a:ext cx="155928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F</a:t>
            </a:r>
            <a:endParaRPr lang="en-US" sz="970" dirty="0"/>
          </a:p>
        </p:txBody>
      </p:sp>
      <p:sp>
        <p:nvSpPr>
          <p:cNvPr id="51" name="Text 49"/>
          <p:cNvSpPr txBox="1"/>
          <p:nvPr/>
        </p:nvSpPr>
        <p:spPr>
          <a:xfrm>
            <a:off x="4982064" y="3677474"/>
            <a:ext cx="1313107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Finished Goods</a:t>
            </a:r>
            <a:endParaRPr lang="en-US" sz="1210" dirty="0"/>
          </a:p>
        </p:txBody>
      </p:sp>
      <p:sp>
        <p:nvSpPr>
          <p:cNvPr id="52" name="Text 50"/>
          <p:cNvSpPr txBox="1"/>
          <p:nvPr/>
        </p:nvSpPr>
        <p:spPr>
          <a:xfrm>
            <a:off x="8891210" y="3677474"/>
            <a:ext cx="2027833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Work-in-Process Goods</a:t>
            </a:r>
            <a:endParaRPr lang="en-US" sz="1210" dirty="0"/>
          </a:p>
        </p:txBody>
      </p:sp>
      <p:sp>
        <p:nvSpPr>
          <p:cNvPr id="53" name="Text 51"/>
          <p:cNvSpPr txBox="1"/>
          <p:nvPr/>
        </p:nvSpPr>
        <p:spPr>
          <a:xfrm>
            <a:off x="659362" y="4002163"/>
            <a:ext cx="253196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7</a:t>
            </a:r>
            <a:endParaRPr lang="en-US" sz="1210" dirty="0"/>
          </a:p>
        </p:txBody>
      </p:sp>
      <p:sp>
        <p:nvSpPr>
          <p:cNvPr id="54" name="Text 52"/>
          <p:cNvSpPr txBox="1"/>
          <p:nvPr/>
        </p:nvSpPr>
        <p:spPr>
          <a:xfrm>
            <a:off x="1112596" y="4002089"/>
            <a:ext cx="1770585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Electricity consumed</a:t>
            </a:r>
            <a:endParaRPr lang="en-US" sz="1210" dirty="0"/>
          </a:p>
        </p:txBody>
      </p:sp>
      <p:sp>
        <p:nvSpPr>
          <p:cNvPr id="55" name="Shape 53"/>
          <p:cNvSpPr/>
          <p:nvPr/>
        </p:nvSpPr>
        <p:spPr>
          <a:xfrm>
            <a:off x="3508273" y="4004176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E0882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644513" y="4031629"/>
            <a:ext cx="181350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G</a:t>
            </a:r>
            <a:endParaRPr lang="en-US" sz="970" dirty="0"/>
          </a:p>
        </p:txBody>
      </p:sp>
      <p:sp>
        <p:nvSpPr>
          <p:cNvPr id="57" name="Text 55"/>
          <p:cNvSpPr txBox="1"/>
          <p:nvPr/>
        </p:nvSpPr>
        <p:spPr>
          <a:xfrm>
            <a:off x="4115577" y="4002089"/>
            <a:ext cx="729017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Scope 2</a:t>
            </a:r>
            <a:endParaRPr lang="en-US" sz="1210" dirty="0"/>
          </a:p>
        </p:txBody>
      </p:sp>
      <p:sp>
        <p:nvSpPr>
          <p:cNvPr id="58" name="Text 56"/>
          <p:cNvSpPr txBox="1"/>
          <p:nvPr/>
        </p:nvSpPr>
        <p:spPr>
          <a:xfrm>
            <a:off x="4982064" y="4002089"/>
            <a:ext cx="4193980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General &amp; Admin. Emissions (Net CO2 Contribution)</a:t>
            </a:r>
            <a:endParaRPr lang="en-US" sz="1210" dirty="0"/>
          </a:p>
        </p:txBody>
      </p:sp>
      <p:sp>
        <p:nvSpPr>
          <p:cNvPr id="59" name="Text 57"/>
          <p:cNvSpPr txBox="1"/>
          <p:nvPr/>
        </p:nvSpPr>
        <p:spPr>
          <a:xfrm>
            <a:off x="8891210" y="4002089"/>
            <a:ext cx="1705015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Upstream Emissions</a:t>
            </a:r>
            <a:endParaRPr lang="en-US" sz="1210" dirty="0"/>
          </a:p>
        </p:txBody>
      </p:sp>
      <p:sp>
        <p:nvSpPr>
          <p:cNvPr id="60" name="Text 58"/>
          <p:cNvSpPr txBox="1"/>
          <p:nvPr/>
        </p:nvSpPr>
        <p:spPr>
          <a:xfrm>
            <a:off x="653608" y="4326778"/>
            <a:ext cx="264704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8</a:t>
            </a:r>
            <a:endParaRPr lang="en-US" sz="1210" dirty="0"/>
          </a:p>
        </p:txBody>
      </p:sp>
      <p:sp>
        <p:nvSpPr>
          <p:cNvPr id="61" name="Text 59"/>
          <p:cNvSpPr txBox="1"/>
          <p:nvPr/>
        </p:nvSpPr>
        <p:spPr>
          <a:xfrm>
            <a:off x="1112596" y="4326703"/>
            <a:ext cx="2084850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removals obtained</a:t>
            </a:r>
            <a:endParaRPr lang="en-US" sz="1210" dirty="0"/>
          </a:p>
        </p:txBody>
      </p:sp>
      <p:sp>
        <p:nvSpPr>
          <p:cNvPr id="62" name="Shape 60"/>
          <p:cNvSpPr/>
          <p:nvPr/>
        </p:nvSpPr>
        <p:spPr>
          <a:xfrm>
            <a:off x="3508273" y="4328790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D0602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645821" y="4356243"/>
            <a:ext cx="178735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H</a:t>
            </a:r>
            <a:endParaRPr lang="en-US" sz="970" dirty="0"/>
          </a:p>
        </p:txBody>
      </p:sp>
      <p:sp>
        <p:nvSpPr>
          <p:cNvPr id="64" name="Text 62"/>
          <p:cNvSpPr txBox="1"/>
          <p:nvPr/>
        </p:nvSpPr>
        <p:spPr>
          <a:xfrm>
            <a:off x="4982064" y="4326703"/>
            <a:ext cx="3102773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Removals (CO2 Balance Sheet)</a:t>
            </a:r>
            <a:endParaRPr lang="en-US" sz="1210" dirty="0"/>
          </a:p>
        </p:txBody>
      </p:sp>
      <p:sp>
        <p:nvSpPr>
          <p:cNvPr id="65" name="Text 63"/>
          <p:cNvSpPr txBox="1"/>
          <p:nvPr/>
        </p:nvSpPr>
        <p:spPr>
          <a:xfrm>
            <a:off x="8891210" y="4299668"/>
            <a:ext cx="2174400" cy="4355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Removals (Net CO2</a:t>
            </a:r>
            <a:endParaRPr lang="en-US" sz="1210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Contribution)</a:t>
            </a:r>
            <a:endParaRPr lang="en-US" sz="1210" dirty="0"/>
          </a:p>
        </p:txBody>
      </p:sp>
      <p:sp>
        <p:nvSpPr>
          <p:cNvPr id="66" name="Text 64"/>
          <p:cNvSpPr txBox="1"/>
          <p:nvPr/>
        </p:nvSpPr>
        <p:spPr>
          <a:xfrm>
            <a:off x="654331" y="4858019"/>
            <a:ext cx="263258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9</a:t>
            </a:r>
            <a:endParaRPr lang="en-US" sz="1210" dirty="0"/>
          </a:p>
        </p:txBody>
      </p:sp>
      <p:sp>
        <p:nvSpPr>
          <p:cNvPr id="67" name="Text 65"/>
          <p:cNvSpPr txBox="1"/>
          <p:nvPr/>
        </p:nvSpPr>
        <p:spPr>
          <a:xfrm>
            <a:off x="1112596" y="4857944"/>
            <a:ext cx="1655880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Finished goods sold</a:t>
            </a:r>
            <a:endParaRPr lang="en-US" sz="1210" dirty="0"/>
          </a:p>
        </p:txBody>
      </p:sp>
      <p:sp>
        <p:nvSpPr>
          <p:cNvPr id="68" name="Shape 66"/>
          <p:cNvSpPr/>
          <p:nvPr/>
        </p:nvSpPr>
        <p:spPr>
          <a:xfrm>
            <a:off x="3508273" y="4860032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E0404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680434" y="4887484"/>
            <a:ext cx="109509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</a:t>
            </a:r>
            <a:endParaRPr lang="en-US" sz="970" dirty="0"/>
          </a:p>
        </p:txBody>
      </p:sp>
      <p:sp>
        <p:nvSpPr>
          <p:cNvPr id="70" name="Text 68"/>
          <p:cNvSpPr txBox="1"/>
          <p:nvPr/>
        </p:nvSpPr>
        <p:spPr>
          <a:xfrm>
            <a:off x="4982064" y="4830909"/>
            <a:ext cx="3448397" cy="4355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Carbon Emissions in Goods Sold (Net CO2</a:t>
            </a:r>
            <a:endParaRPr lang="en-US" sz="1210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Contribution)</a:t>
            </a:r>
            <a:endParaRPr lang="en-US" sz="1210" dirty="0"/>
          </a:p>
        </p:txBody>
      </p:sp>
      <p:sp>
        <p:nvSpPr>
          <p:cNvPr id="71" name="Text 69"/>
          <p:cNvSpPr txBox="1"/>
          <p:nvPr/>
        </p:nvSpPr>
        <p:spPr>
          <a:xfrm>
            <a:off x="8891210" y="4857944"/>
            <a:ext cx="1313107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Finished Goods</a:t>
            </a:r>
            <a:endParaRPr lang="en-US" sz="1210" dirty="0"/>
          </a:p>
        </p:txBody>
      </p:sp>
      <p:sp>
        <p:nvSpPr>
          <p:cNvPr id="72" name="Text 70"/>
          <p:cNvSpPr txBox="1"/>
          <p:nvPr/>
        </p:nvSpPr>
        <p:spPr>
          <a:xfrm>
            <a:off x="628453" y="5389261"/>
            <a:ext cx="315014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</a:t>
            </a:r>
            <a:pPr algn="ctr" indent="0" marL="0">
              <a:lnSpc>
                <a:spcPts val="1450"/>
              </a:lnSpc>
              <a:buNone/>
            </a:pPr>
            <a:r>
              <a:rPr lang="en-US" sz="1210" b="1" baseline="-25000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10</a:t>
            </a:r>
            <a:endParaRPr lang="en-US" sz="1210" dirty="0"/>
          </a:p>
        </p:txBody>
      </p:sp>
      <p:sp>
        <p:nvSpPr>
          <p:cNvPr id="73" name="Text 71"/>
          <p:cNvSpPr txBox="1"/>
          <p:nvPr/>
        </p:nvSpPr>
        <p:spPr>
          <a:xfrm>
            <a:off x="1112596" y="5362150"/>
            <a:ext cx="2389388" cy="4355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Net CO2 Contribution closed</a:t>
            </a:r>
            <a:endParaRPr lang="en-US" sz="1210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out</a:t>
            </a:r>
            <a:endParaRPr lang="en-US" sz="1210" dirty="0"/>
          </a:p>
        </p:txBody>
      </p:sp>
      <p:sp>
        <p:nvSpPr>
          <p:cNvPr id="74" name="Shape 72"/>
          <p:cNvSpPr/>
          <p:nvPr/>
        </p:nvSpPr>
        <p:spPr>
          <a:xfrm>
            <a:off x="3508273" y="5391273"/>
            <a:ext cx="453831" cy="222948"/>
          </a:xfrm>
          <a:prstGeom prst="roundRect">
            <a:avLst>
              <a:gd name="adj" fmla="val 17193"/>
            </a:avLst>
          </a:prstGeom>
          <a:solidFill>
            <a:srgbClr val="C0408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658164" y="5418726"/>
            <a:ext cx="154049" cy="147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J</a:t>
            </a:r>
            <a:endParaRPr lang="en-US" sz="970" dirty="0"/>
          </a:p>
        </p:txBody>
      </p:sp>
      <p:sp>
        <p:nvSpPr>
          <p:cNvPr id="76" name="Text 74"/>
          <p:cNvSpPr txBox="1"/>
          <p:nvPr/>
        </p:nvSpPr>
        <p:spPr>
          <a:xfrm>
            <a:off x="4982064" y="5389186"/>
            <a:ext cx="1506629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Legacy Emissions</a:t>
            </a:r>
            <a:endParaRPr lang="en-US" sz="1210" dirty="0"/>
          </a:p>
        </p:txBody>
      </p:sp>
      <p:sp>
        <p:nvSpPr>
          <p:cNvPr id="77" name="Text 75"/>
          <p:cNvSpPr txBox="1"/>
          <p:nvPr/>
        </p:nvSpPr>
        <p:spPr>
          <a:xfrm>
            <a:off x="8891210" y="5389186"/>
            <a:ext cx="1817876" cy="183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2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Net CO2 Contribution</a:t>
            </a:r>
            <a:endParaRPr lang="en-US" sz="12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STATEMENTS: CORPORATE AND 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Balance Sheet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4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275261" y="1101012"/>
            <a:ext cx="1645191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Balance Sheet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9034" y="1792382"/>
            <a:ext cx="6800029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9322" y="1489066"/>
            <a:ext cx="1637352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Emissions in Assets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9034" y="2237617"/>
            <a:ext cx="3152232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9034" y="1972495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79437" y="1972421"/>
            <a:ext cx="278844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Buildings, Machinery &amp; Equipment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69813" y="1972495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9840" y="2242382"/>
            <a:ext cx="0" cy="590867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1310" y="2328153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B060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00638" y="2355455"/>
            <a:ext cx="172684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A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837500" y="2328153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20C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4867" y="2355455"/>
            <a:ext cx="156607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699034" y="3273718"/>
            <a:ext cx="3152232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9034" y="3008596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875557" y="3008596"/>
            <a:ext cx="803801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769813" y="3008596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79840" y="3278483"/>
            <a:ext cx="0" cy="590867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1310" y="336425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3060C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04240" y="3391556"/>
            <a:ext cx="165480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B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837500" y="336425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2080B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73926" y="3391556"/>
            <a:ext cx="178489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2699034" y="4309819"/>
            <a:ext cx="3152232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9034" y="4044698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553219" y="4044698"/>
            <a:ext cx="1448477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Work-in-Process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769813" y="4044698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79840" y="4314584"/>
            <a:ext cx="0" cy="912954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1310" y="4400355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2080B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397736" y="4427657"/>
            <a:ext cx="178489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3261310" y="4660200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50B0D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305" y="4687502"/>
            <a:ext cx="171350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3261310" y="492004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20C0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08676" y="4947346"/>
            <a:ext cx="156607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4837500" y="4400355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30A06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985433" y="4427657"/>
            <a:ext cx="155473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F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2699034" y="5668008"/>
            <a:ext cx="3152232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99034" y="5402887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15942" y="5402812"/>
            <a:ext cx="1315139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Finished Goods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769813" y="5402887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279840" y="5672773"/>
            <a:ext cx="0" cy="590867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61310" y="575854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30A06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409243" y="5785846"/>
            <a:ext cx="155473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F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4837500" y="575854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E0404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008516" y="5785846"/>
            <a:ext cx="109309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103813" y="1485334"/>
            <a:ext cx="0" cy="4778306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47039" y="1489066"/>
            <a:ext cx="1706565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Source of Emissions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56361" y="2237617"/>
            <a:ext cx="3142701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56361" y="1972495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226351" y="1972421"/>
            <a:ext cx="1393191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Emissions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9412994" y="1972495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932402" y="2242382"/>
            <a:ext cx="0" cy="590867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87680" y="2328153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50B0D0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627675" y="2355455"/>
            <a:ext cx="171350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6356361" y="3273718"/>
            <a:ext cx="3142701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56361" y="3008596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226557" y="3008522"/>
            <a:ext cx="1389355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Removals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412994" y="3008596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932402" y="3278483"/>
            <a:ext cx="0" cy="590867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16255" y="336425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D06020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052847" y="3391556"/>
            <a:ext cx="178155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H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6356361" y="4309819"/>
            <a:ext cx="3142701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56361" y="4044698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7076669" y="4044623"/>
            <a:ext cx="1696725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Upstream Emissions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9412994" y="4044698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932402" y="4314584"/>
            <a:ext cx="0" cy="912954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87680" y="4400355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B060E0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627008" y="4427657"/>
            <a:ext cx="172684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A</a:t>
            </a:r>
            <a:endParaRPr lang="en-US" sz="960" dirty="0"/>
          </a:p>
        </p:txBody>
      </p:sp>
      <p:sp>
        <p:nvSpPr>
          <p:cNvPr id="72" name="Shape 70"/>
          <p:cNvSpPr/>
          <p:nvPr/>
        </p:nvSpPr>
        <p:spPr>
          <a:xfrm>
            <a:off x="8487680" y="4660200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3060C0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630610" y="4687502"/>
            <a:ext cx="165479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B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8487680" y="492004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E0882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8622971" y="4947346"/>
            <a:ext cx="180757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G</a:t>
            </a:r>
            <a:endParaRPr lang="en-US" sz="960" dirty="0"/>
          </a:p>
        </p:txBody>
      </p:sp>
      <p:sp>
        <p:nvSpPr>
          <p:cNvPr id="76" name="Shape 74"/>
          <p:cNvSpPr/>
          <p:nvPr/>
        </p:nvSpPr>
        <p:spPr>
          <a:xfrm>
            <a:off x="6356361" y="5668008"/>
            <a:ext cx="3142701" cy="0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356361" y="5402887"/>
            <a:ext cx="1642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7172866" y="5402812"/>
            <a:ext cx="150209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Legacy Emissions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9412994" y="5402887"/>
            <a:ext cx="169466" cy="182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932402" y="5672773"/>
            <a:ext cx="0" cy="590867"/>
          </a:xfrm>
          <a:prstGeom prst="line">
            <a:avLst/>
          </a:prstGeom>
          <a:noFill/>
          <a:ln w="10160">
            <a:solidFill>
              <a:srgbClr val="0E4D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16255" y="5758544"/>
            <a:ext cx="451340" cy="221724"/>
          </a:xfrm>
          <a:prstGeom prst="roundRect">
            <a:avLst>
              <a:gd name="adj" fmla="val 17193"/>
            </a:avLst>
          </a:prstGeom>
          <a:solidFill>
            <a:srgbClr val="C04080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7065122" y="5785846"/>
            <a:ext cx="153605" cy="1463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J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STATEMENTS: CORPORATE AND 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Contribution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5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238881" y="2124234"/>
            <a:ext cx="571072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Contribution (Corporate Carbon Footprint)</a:t>
            </a:r>
            <a:endParaRPr lang="en-US" sz="1610" dirty="0"/>
          </a:p>
        </p:txBody>
      </p:sp>
      <p:sp>
        <p:nvSpPr>
          <p:cNvPr id="7" name="Text 5"/>
          <p:cNvSpPr txBox="1"/>
          <p:nvPr/>
        </p:nvSpPr>
        <p:spPr>
          <a:xfrm>
            <a:off x="1834611" y="2710126"/>
            <a:ext cx="4382177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Carbon Emissions in Goods Sold (CEGS)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10064131" y="2712917"/>
            <a:ext cx="606917" cy="298152"/>
          </a:xfrm>
          <a:prstGeom prst="roundRect">
            <a:avLst>
              <a:gd name="adj" fmla="val 17193"/>
            </a:avLst>
          </a:prstGeom>
          <a:solidFill>
            <a:srgbClr val="E040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06704" y="2749630"/>
            <a:ext cx="121772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1579497" y="3144339"/>
            <a:ext cx="202665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610" dirty="0"/>
          </a:p>
        </p:txBody>
      </p:sp>
      <p:sp>
        <p:nvSpPr>
          <p:cNvPr id="11" name="Text 9"/>
          <p:cNvSpPr txBox="1"/>
          <p:nvPr/>
        </p:nvSpPr>
        <p:spPr>
          <a:xfrm>
            <a:off x="1834611" y="3144239"/>
            <a:ext cx="3859640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General &amp; Administrative Emissions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10064131" y="3147030"/>
            <a:ext cx="606917" cy="298152"/>
          </a:xfrm>
          <a:prstGeom prst="roundRect">
            <a:avLst>
              <a:gd name="adj" fmla="val 17193"/>
            </a:avLst>
          </a:prstGeom>
          <a:solidFill>
            <a:srgbClr val="E088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58665" y="3183743"/>
            <a:ext cx="217848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G</a:t>
            </a:r>
            <a:endParaRPr lang="en-US" sz="1290" dirty="0"/>
          </a:p>
        </p:txBody>
      </p:sp>
      <p:sp>
        <p:nvSpPr>
          <p:cNvPr id="14" name="Text 12"/>
          <p:cNvSpPr txBox="1"/>
          <p:nvPr/>
        </p:nvSpPr>
        <p:spPr>
          <a:xfrm>
            <a:off x="1582973" y="3578452"/>
            <a:ext cx="19571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610" dirty="0"/>
          </a:p>
        </p:txBody>
      </p:sp>
      <p:sp>
        <p:nvSpPr>
          <p:cNvPr id="15" name="Text 13"/>
          <p:cNvSpPr txBox="1"/>
          <p:nvPr/>
        </p:nvSpPr>
        <p:spPr>
          <a:xfrm>
            <a:off x="1834611" y="3578351"/>
            <a:ext cx="1830716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Removals</a:t>
            </a:r>
            <a:endParaRPr lang="en-US" sz="1610" dirty="0"/>
          </a:p>
        </p:txBody>
      </p:sp>
      <p:sp>
        <p:nvSpPr>
          <p:cNvPr id="16" name="Shape 14"/>
          <p:cNvSpPr/>
          <p:nvPr/>
        </p:nvSpPr>
        <p:spPr>
          <a:xfrm>
            <a:off x="10064131" y="3581143"/>
            <a:ext cx="606917" cy="298152"/>
          </a:xfrm>
          <a:prstGeom prst="roundRect">
            <a:avLst>
              <a:gd name="adj" fmla="val 17193"/>
            </a:avLst>
          </a:prstGeom>
          <a:solidFill>
            <a:srgbClr val="D06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60416" y="3617856"/>
            <a:ext cx="214348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H</a:t>
            </a:r>
            <a:endParaRPr lang="en-US" sz="1290" dirty="0"/>
          </a:p>
        </p:txBody>
      </p:sp>
      <p:sp>
        <p:nvSpPr>
          <p:cNvPr id="18" name="Shape 16"/>
          <p:cNvSpPr/>
          <p:nvPr/>
        </p:nvSpPr>
        <p:spPr>
          <a:xfrm>
            <a:off x="1527048" y="3949778"/>
            <a:ext cx="9144000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78600" y="4025379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20" name="Text 18"/>
          <p:cNvSpPr txBox="1"/>
          <p:nvPr/>
        </p:nvSpPr>
        <p:spPr>
          <a:xfrm>
            <a:off x="1834611" y="4025279"/>
            <a:ext cx="3157691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Contribution (NCC)</a:t>
            </a:r>
            <a:endParaRPr lang="en-US" sz="1610" dirty="0"/>
          </a:p>
        </p:txBody>
      </p:sp>
      <p:sp>
        <p:nvSpPr>
          <p:cNvPr id="21" name="Shape 19"/>
          <p:cNvSpPr/>
          <p:nvPr/>
        </p:nvSpPr>
        <p:spPr>
          <a:xfrm>
            <a:off x="10064131" y="4028071"/>
            <a:ext cx="606917" cy="298152"/>
          </a:xfrm>
          <a:prstGeom prst="roundRect">
            <a:avLst>
              <a:gd name="adj" fmla="val 17193"/>
            </a:avLst>
          </a:prstGeom>
          <a:solidFill>
            <a:srgbClr val="C040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76920" y="4064784"/>
            <a:ext cx="181339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J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1579497" y="4459492"/>
            <a:ext cx="202665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610" dirty="0"/>
          </a:p>
        </p:txBody>
      </p:sp>
      <p:sp>
        <p:nvSpPr>
          <p:cNvPr id="24" name="Text 22"/>
          <p:cNvSpPr txBox="1"/>
          <p:nvPr/>
        </p:nvSpPr>
        <p:spPr>
          <a:xfrm>
            <a:off x="1834611" y="4459392"/>
            <a:ext cx="5252101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Downstream Emissions Estimates of Goods Sold</a:t>
            </a:r>
            <a:endParaRPr lang="en-US" sz="1610" dirty="0"/>
          </a:p>
        </p:txBody>
      </p:sp>
      <p:sp>
        <p:nvSpPr>
          <p:cNvPr id="25" name="Shape 23"/>
          <p:cNvSpPr/>
          <p:nvPr/>
        </p:nvSpPr>
        <p:spPr>
          <a:xfrm>
            <a:off x="1527048" y="4816001"/>
            <a:ext cx="9144000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578600" y="4891602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27" name="Text 25"/>
          <p:cNvSpPr txBox="1"/>
          <p:nvPr/>
        </p:nvSpPr>
        <p:spPr>
          <a:xfrm>
            <a:off x="1834611" y="4891502"/>
            <a:ext cx="3595680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Life-cycle Net CO2 Contribution</a:t>
            </a:r>
            <a:endParaRPr lang="en-US" sz="16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STATEMENTS: CORPORATE AND 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Flow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6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305742" y="2038433"/>
            <a:ext cx="157639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Flow</a:t>
            </a:r>
            <a:endParaRPr lang="en-US" sz="1610" dirty="0"/>
          </a:p>
        </p:txBody>
      </p:sp>
      <p:sp>
        <p:nvSpPr>
          <p:cNvPr id="7" name="Text 5"/>
          <p:cNvSpPr txBox="1"/>
          <p:nvPr/>
        </p:nvSpPr>
        <p:spPr>
          <a:xfrm>
            <a:off x="1834611" y="2624325"/>
            <a:ext cx="2870632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Emissions (Scope 1)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10076946" y="2639931"/>
            <a:ext cx="581287" cy="272522"/>
          </a:xfrm>
          <a:prstGeom prst="roundRect">
            <a:avLst>
              <a:gd name="adj" fmla="val 14107"/>
            </a:avLst>
          </a:prstGeom>
          <a:ln w="25400">
            <a:solidFill>
              <a:srgbClr val="50B0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64990" y="2663829"/>
            <a:ext cx="205198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50B0D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1582973" y="3058537"/>
            <a:ext cx="19571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610" dirty="0"/>
          </a:p>
        </p:txBody>
      </p:sp>
      <p:sp>
        <p:nvSpPr>
          <p:cNvPr id="11" name="Text 9"/>
          <p:cNvSpPr txBox="1"/>
          <p:nvPr/>
        </p:nvSpPr>
        <p:spPr>
          <a:xfrm>
            <a:off x="1834611" y="3058437"/>
            <a:ext cx="1830716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 Removals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10076946" y="3074044"/>
            <a:ext cx="581287" cy="272522"/>
          </a:xfrm>
          <a:prstGeom prst="roundRect">
            <a:avLst>
              <a:gd name="adj" fmla="val 14107"/>
            </a:avLst>
          </a:prstGeom>
          <a:ln w="25400">
            <a:solidFill>
              <a:srgbClr val="D060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60416" y="3097942"/>
            <a:ext cx="214348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D0602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H</a:t>
            </a:r>
            <a:endParaRPr lang="en-US" sz="1290" dirty="0"/>
          </a:p>
        </p:txBody>
      </p:sp>
      <p:sp>
        <p:nvSpPr>
          <p:cNvPr id="14" name="Shape 12"/>
          <p:cNvSpPr/>
          <p:nvPr/>
        </p:nvSpPr>
        <p:spPr>
          <a:xfrm>
            <a:off x="1527048" y="3429864"/>
            <a:ext cx="9144000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78600" y="3505465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16" name="Text 14"/>
          <p:cNvSpPr txBox="1"/>
          <p:nvPr/>
        </p:nvSpPr>
        <p:spPr>
          <a:xfrm>
            <a:off x="1834611" y="3505365"/>
            <a:ext cx="2981195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Direct Emissions (NDE)</a:t>
            </a:r>
            <a:endParaRPr lang="en-US" sz="1610" dirty="0"/>
          </a:p>
        </p:txBody>
      </p:sp>
      <p:sp>
        <p:nvSpPr>
          <p:cNvPr id="17" name="Text 15"/>
          <p:cNvSpPr txBox="1"/>
          <p:nvPr/>
        </p:nvSpPr>
        <p:spPr>
          <a:xfrm>
            <a:off x="1579497" y="3924761"/>
            <a:ext cx="202665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610" dirty="0"/>
          </a:p>
        </p:txBody>
      </p:sp>
      <p:sp>
        <p:nvSpPr>
          <p:cNvPr id="18" name="Text 16"/>
          <p:cNvSpPr txBox="1"/>
          <p:nvPr/>
        </p:nvSpPr>
        <p:spPr>
          <a:xfrm>
            <a:off x="1834611" y="3924660"/>
            <a:ext cx="398074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Upstream Emissions (Scope 2 and 3)</a:t>
            </a:r>
            <a:endParaRPr lang="en-US" sz="1610" dirty="0"/>
          </a:p>
        </p:txBody>
      </p:sp>
      <p:sp>
        <p:nvSpPr>
          <p:cNvPr id="19" name="Text 17"/>
          <p:cNvSpPr txBox="1"/>
          <p:nvPr/>
        </p:nvSpPr>
        <p:spPr>
          <a:xfrm>
            <a:off x="8954495" y="3924761"/>
            <a:ext cx="202665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610" dirty="0"/>
          </a:p>
        </p:txBody>
      </p:sp>
      <p:sp>
        <p:nvSpPr>
          <p:cNvPr id="20" name="Text 18"/>
          <p:cNvSpPr txBox="1"/>
          <p:nvPr/>
        </p:nvSpPr>
        <p:spPr>
          <a:xfrm>
            <a:off x="9799994" y="3924761"/>
            <a:ext cx="202665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610" dirty="0"/>
          </a:p>
        </p:txBody>
      </p:sp>
      <p:sp>
        <p:nvSpPr>
          <p:cNvPr id="21" name="Shape 19"/>
          <p:cNvSpPr/>
          <p:nvPr/>
        </p:nvSpPr>
        <p:spPr>
          <a:xfrm>
            <a:off x="8385949" y="3940267"/>
            <a:ext cx="581287" cy="272522"/>
          </a:xfrm>
          <a:prstGeom prst="roundRect">
            <a:avLst>
              <a:gd name="adj" fmla="val 14107"/>
            </a:avLst>
          </a:prstGeom>
          <a:ln w="25400">
            <a:solidFill>
              <a:srgbClr val="B06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73096" y="3964165"/>
            <a:ext cx="206993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B060E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A</a:t>
            </a:r>
            <a:endParaRPr lang="en-US" sz="1290" dirty="0"/>
          </a:p>
        </p:txBody>
      </p:sp>
      <p:sp>
        <p:nvSpPr>
          <p:cNvPr id="23" name="Shape 21"/>
          <p:cNvSpPr/>
          <p:nvPr/>
        </p:nvSpPr>
        <p:spPr>
          <a:xfrm>
            <a:off x="9231348" y="3940267"/>
            <a:ext cx="581287" cy="272522"/>
          </a:xfrm>
          <a:prstGeom prst="roundRect">
            <a:avLst>
              <a:gd name="adj" fmla="val 14107"/>
            </a:avLst>
          </a:prstGeom>
          <a:ln w="25400">
            <a:solidFill>
              <a:srgbClr val="3060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23339" y="3964165"/>
            <a:ext cx="197304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3060C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B</a:t>
            </a:r>
            <a:endParaRPr lang="en-US" sz="1290" dirty="0"/>
          </a:p>
        </p:txBody>
      </p:sp>
      <p:sp>
        <p:nvSpPr>
          <p:cNvPr id="25" name="Shape 23"/>
          <p:cNvSpPr/>
          <p:nvPr/>
        </p:nvSpPr>
        <p:spPr>
          <a:xfrm>
            <a:off x="10076946" y="3940267"/>
            <a:ext cx="581287" cy="272522"/>
          </a:xfrm>
          <a:prstGeom prst="roundRect">
            <a:avLst>
              <a:gd name="adj" fmla="val 14107"/>
            </a:avLst>
          </a:prstGeom>
          <a:ln w="25400">
            <a:solidFill>
              <a:srgbClr val="E088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8665" y="3964165"/>
            <a:ext cx="217848" cy="19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90" b="1" dirty="0">
                <a:solidFill>
                  <a:srgbClr val="E0882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G</a:t>
            </a:r>
            <a:endParaRPr lang="en-US" sz="1290" dirty="0"/>
          </a:p>
        </p:txBody>
      </p:sp>
      <p:sp>
        <p:nvSpPr>
          <p:cNvPr id="27" name="Shape 25"/>
          <p:cNvSpPr/>
          <p:nvPr/>
        </p:nvSpPr>
        <p:spPr>
          <a:xfrm>
            <a:off x="1527048" y="4296087"/>
            <a:ext cx="9144000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78600" y="4371688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29" name="Text 27"/>
          <p:cNvSpPr txBox="1"/>
          <p:nvPr/>
        </p:nvSpPr>
        <p:spPr>
          <a:xfrm>
            <a:off x="1834611" y="4371588"/>
            <a:ext cx="2250764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Flow (NCF)</a:t>
            </a:r>
            <a:endParaRPr lang="en-US" sz="1610" dirty="0"/>
          </a:p>
        </p:txBody>
      </p:sp>
      <p:sp>
        <p:nvSpPr>
          <p:cNvPr id="30" name="Shape 28"/>
          <p:cNvSpPr/>
          <p:nvPr/>
        </p:nvSpPr>
        <p:spPr>
          <a:xfrm>
            <a:off x="6964270" y="5042168"/>
            <a:ext cx="335196" cy="272522"/>
          </a:xfrm>
          <a:prstGeom prst="roundRect">
            <a:avLst>
              <a:gd name="adj" fmla="val 14107"/>
            </a:avLst>
          </a:prstGeom>
          <a:ln w="25400">
            <a:solidFill>
              <a:srgbClr val="B060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40432" y="5057339"/>
            <a:ext cx="3691217" cy="211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39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 Reading from Accounts for Reporting</a:t>
            </a:r>
            <a:endParaRPr lang="en-US" sz="13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STATEMENTS: CORPORATE AND PRODUCTS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Product Carbon Footprint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7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774812" y="1100970"/>
            <a:ext cx="2646116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Product Carbon Footprint (PCF)</a:t>
            </a:r>
            <a:endParaRPr lang="en-US" sz="1190" dirty="0"/>
          </a:p>
        </p:txBody>
      </p:sp>
      <p:sp>
        <p:nvSpPr>
          <p:cNvPr id="7" name="Shape 5"/>
          <p:cNvSpPr/>
          <p:nvPr/>
        </p:nvSpPr>
        <p:spPr>
          <a:xfrm>
            <a:off x="3526176" y="1803504"/>
            <a:ext cx="5145745" cy="0"/>
          </a:xfrm>
          <a:prstGeom prst="line">
            <a:avLst/>
          </a:prstGeom>
          <a:noFill/>
          <a:ln w="8890">
            <a:solidFill>
              <a:srgbClr val="0E4D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98847" y="1531905"/>
            <a:ext cx="586475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Partial</a:t>
            </a:r>
            <a:endParaRPr lang="en-US" sz="1190" dirty="0"/>
          </a:p>
        </p:txBody>
      </p:sp>
      <p:sp>
        <p:nvSpPr>
          <p:cNvPr id="9" name="Text 7"/>
          <p:cNvSpPr txBox="1"/>
          <p:nvPr/>
        </p:nvSpPr>
        <p:spPr>
          <a:xfrm>
            <a:off x="7653069" y="1531905"/>
            <a:ext cx="347831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Full</a:t>
            </a:r>
            <a:endParaRPr lang="en-US" sz="1190" dirty="0"/>
          </a:p>
        </p:txBody>
      </p:sp>
      <p:sp>
        <p:nvSpPr>
          <p:cNvPr id="10" name="Text 8"/>
          <p:cNvSpPr txBox="1"/>
          <p:nvPr/>
        </p:nvSpPr>
        <p:spPr>
          <a:xfrm>
            <a:off x="3752356" y="1832571"/>
            <a:ext cx="883501" cy="428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Embodied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Emissions</a:t>
            </a:r>
            <a:endParaRPr lang="en-US" sz="1190" dirty="0"/>
          </a:p>
        </p:txBody>
      </p:sp>
      <p:sp>
        <p:nvSpPr>
          <p:cNvPr id="11" name="Text 9"/>
          <p:cNvSpPr txBox="1"/>
          <p:nvPr/>
        </p:nvSpPr>
        <p:spPr>
          <a:xfrm>
            <a:off x="5497000" y="1859101"/>
            <a:ext cx="168395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190" dirty="0"/>
          </a:p>
        </p:txBody>
      </p:sp>
      <p:sp>
        <p:nvSpPr>
          <p:cNvPr id="12" name="Text 10"/>
          <p:cNvSpPr txBox="1"/>
          <p:nvPr/>
        </p:nvSpPr>
        <p:spPr>
          <a:xfrm>
            <a:off x="6118774" y="1859101"/>
            <a:ext cx="168395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5056573" y="1870504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2080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81651" y="1888078"/>
            <a:ext cx="177318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2080B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78273" y="1870504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50B0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06882" y="1888078"/>
            <a:ext cx="170258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50B0D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0122" y="1870504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20C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6019" y="1888078"/>
            <a:ext cx="155680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20C09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431900" y="1859101"/>
            <a:ext cx="168395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190" dirty="0"/>
          </a:p>
        </p:txBody>
      </p:sp>
      <p:sp>
        <p:nvSpPr>
          <p:cNvPr id="20" name="Text 18"/>
          <p:cNvSpPr txBox="1"/>
          <p:nvPr/>
        </p:nvSpPr>
        <p:spPr>
          <a:xfrm>
            <a:off x="8053674" y="1859101"/>
            <a:ext cx="168395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190" dirty="0"/>
          </a:p>
        </p:txBody>
      </p:sp>
      <p:sp>
        <p:nvSpPr>
          <p:cNvPr id="21" name="Shape 19"/>
          <p:cNvSpPr/>
          <p:nvPr/>
        </p:nvSpPr>
        <p:spPr>
          <a:xfrm>
            <a:off x="6991473" y="1870504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2080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6552" y="1888078"/>
            <a:ext cx="177316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2080B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13174" y="1870504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50B0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41782" y="1888078"/>
            <a:ext cx="170258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50B0D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35022" y="1870504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20C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70919" y="1888078"/>
            <a:ext cx="155680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20C09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555068" y="2381553"/>
            <a:ext cx="168395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190" dirty="0"/>
          </a:p>
        </p:txBody>
      </p:sp>
      <p:sp>
        <p:nvSpPr>
          <p:cNvPr id="28" name="Text 26"/>
          <p:cNvSpPr txBox="1"/>
          <p:nvPr/>
        </p:nvSpPr>
        <p:spPr>
          <a:xfrm>
            <a:off x="3752356" y="2354921"/>
            <a:ext cx="858598" cy="642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General &amp;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Admin.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Emissions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7613174" y="2392956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E0882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37130" y="2410531"/>
            <a:ext cx="179561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E0882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G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557625" y="3118111"/>
            <a:ext cx="163282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190" dirty="0"/>
          </a:p>
        </p:txBody>
      </p:sp>
      <p:sp>
        <p:nvSpPr>
          <p:cNvPr id="32" name="Text 30"/>
          <p:cNvSpPr txBox="1"/>
          <p:nvPr/>
        </p:nvSpPr>
        <p:spPr>
          <a:xfrm>
            <a:off x="3752356" y="3091582"/>
            <a:ext cx="850929" cy="428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Removals</a:t>
            </a:r>
            <a:endParaRPr lang="en-US" sz="1190" dirty="0"/>
          </a:p>
        </p:txBody>
      </p:sp>
      <p:sp>
        <p:nvSpPr>
          <p:cNvPr id="33" name="Shape 31"/>
          <p:cNvSpPr/>
          <p:nvPr/>
        </p:nvSpPr>
        <p:spPr>
          <a:xfrm>
            <a:off x="7613174" y="3129514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D0602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38418" y="3147088"/>
            <a:ext cx="176986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D0602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26176" y="3594391"/>
            <a:ext cx="5145745" cy="0"/>
          </a:xfrm>
          <a:prstGeom prst="line">
            <a:avLst/>
          </a:prstGeom>
          <a:noFill/>
          <a:ln w="8890">
            <a:solidFill>
              <a:srgbClr val="0E4D4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54409" y="3649988"/>
            <a:ext cx="169714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190" dirty="0"/>
          </a:p>
        </p:txBody>
      </p:sp>
      <p:sp>
        <p:nvSpPr>
          <p:cNvPr id="37" name="Text 35"/>
          <p:cNvSpPr txBox="1"/>
          <p:nvPr/>
        </p:nvSpPr>
        <p:spPr>
          <a:xfrm>
            <a:off x="3752356" y="3623458"/>
            <a:ext cx="820336" cy="8564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9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Product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Carbon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Footprint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(PCF)</a:t>
            </a:r>
            <a:endParaRPr lang="en-US" sz="1190" dirty="0"/>
          </a:p>
        </p:txBody>
      </p:sp>
      <p:sp>
        <p:nvSpPr>
          <p:cNvPr id="38" name="Shape 36"/>
          <p:cNvSpPr/>
          <p:nvPr/>
        </p:nvSpPr>
        <p:spPr>
          <a:xfrm>
            <a:off x="5678273" y="3661391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E040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37557" y="3678965"/>
            <a:ext cx="108907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E0404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13174" y="3661391"/>
            <a:ext cx="427475" cy="200411"/>
          </a:xfrm>
          <a:prstGeom prst="roundRect">
            <a:avLst>
              <a:gd name="adj" fmla="val 14107"/>
            </a:avLst>
          </a:prstGeom>
          <a:ln w="19050">
            <a:solidFill>
              <a:srgbClr val="C0408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50555" y="3678965"/>
            <a:ext cx="152712" cy="144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950" b="1" dirty="0">
                <a:solidFill>
                  <a:srgbClr val="C04080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J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555068" y="4600651"/>
            <a:ext cx="168395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190" dirty="0"/>
          </a:p>
        </p:txBody>
      </p:sp>
      <p:sp>
        <p:nvSpPr>
          <p:cNvPr id="43" name="Text 41"/>
          <p:cNvSpPr txBox="1"/>
          <p:nvPr/>
        </p:nvSpPr>
        <p:spPr>
          <a:xfrm>
            <a:off x="3752356" y="4574122"/>
            <a:ext cx="1078440" cy="642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Downstream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Emissions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Estimate</a:t>
            </a:r>
            <a:endParaRPr lang="en-US" sz="1190" dirty="0"/>
          </a:p>
        </p:txBody>
      </p:sp>
      <p:sp>
        <p:nvSpPr>
          <p:cNvPr id="44" name="Shape 42"/>
          <p:cNvSpPr/>
          <p:nvPr/>
        </p:nvSpPr>
        <p:spPr>
          <a:xfrm>
            <a:off x="3526176" y="5291036"/>
            <a:ext cx="5145745" cy="0"/>
          </a:xfrm>
          <a:prstGeom prst="line">
            <a:avLst/>
          </a:prstGeom>
          <a:noFill/>
          <a:ln w="8890">
            <a:solidFill>
              <a:srgbClr val="0E4D4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54409" y="5346633"/>
            <a:ext cx="169714" cy="1809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20"/>
              </a:lnSpc>
              <a:buNone/>
            </a:pPr>
            <a:r>
              <a:rPr lang="en-US" sz="119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190" dirty="0"/>
          </a:p>
        </p:txBody>
      </p:sp>
      <p:sp>
        <p:nvSpPr>
          <p:cNvPr id="46" name="Text 44"/>
          <p:cNvSpPr txBox="1"/>
          <p:nvPr/>
        </p:nvSpPr>
        <p:spPr>
          <a:xfrm>
            <a:off x="3752356" y="5320104"/>
            <a:ext cx="891088" cy="428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9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Life-cycle</a:t>
            </a:r>
            <a:endParaRPr lang="en-US" sz="119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9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PCF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5945979" y="6053805"/>
            <a:ext cx="246501" cy="200411"/>
          </a:xfrm>
          <a:prstGeom prst="roundRect">
            <a:avLst>
              <a:gd name="adj" fmla="val 14107"/>
            </a:avLst>
          </a:prstGeom>
          <a:ln w="19050">
            <a:solidFill>
              <a:srgbClr val="B060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96146" y="6064961"/>
            <a:ext cx="2733855" cy="155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102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 Reading from Accounts for Reporting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RIGOROUS CARBON ACCOUNTING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Consistent Numbers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969552" y="2273598"/>
            <a:ext cx="6258993" cy="2813723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06340" y="2757182"/>
            <a:ext cx="3293820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Sum of PCFs of Products sold</a:t>
            </a:r>
            <a:endParaRPr lang="en-US" sz="1610" dirty="0"/>
          </a:p>
        </p:txBody>
      </p:sp>
      <p:sp>
        <p:nvSpPr>
          <p:cNvPr id="8" name="Text 6"/>
          <p:cNvSpPr txBox="1"/>
          <p:nvPr/>
        </p:nvSpPr>
        <p:spPr>
          <a:xfrm>
            <a:off x="3443599" y="3223532"/>
            <a:ext cx="202665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610" dirty="0"/>
          </a:p>
        </p:txBody>
      </p:sp>
      <p:sp>
        <p:nvSpPr>
          <p:cNvPr id="9" name="Text 7"/>
          <p:cNvSpPr txBox="1"/>
          <p:nvPr/>
        </p:nvSpPr>
        <p:spPr>
          <a:xfrm>
            <a:off x="3806340" y="3223532"/>
            <a:ext cx="4104986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General and Administrative Emissions</a:t>
            </a:r>
            <a:endParaRPr lang="en-US" sz="1610" dirty="0"/>
          </a:p>
        </p:txBody>
      </p:sp>
      <p:sp>
        <p:nvSpPr>
          <p:cNvPr id="10" name="Text 8"/>
          <p:cNvSpPr txBox="1"/>
          <p:nvPr/>
        </p:nvSpPr>
        <p:spPr>
          <a:xfrm>
            <a:off x="3447075" y="3689883"/>
            <a:ext cx="19571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</a:t>
            </a:r>
            <a:endParaRPr lang="en-US" sz="1610" dirty="0"/>
          </a:p>
        </p:txBody>
      </p:sp>
      <p:sp>
        <p:nvSpPr>
          <p:cNvPr id="11" name="Text 9"/>
          <p:cNvSpPr txBox="1"/>
          <p:nvPr/>
        </p:nvSpPr>
        <p:spPr>
          <a:xfrm>
            <a:off x="3806340" y="3689883"/>
            <a:ext cx="1720378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Carbon Credits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3411674" y="4146811"/>
            <a:ext cx="5374748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2702" y="4322831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14" name="Text 12"/>
          <p:cNvSpPr txBox="1"/>
          <p:nvPr/>
        </p:nvSpPr>
        <p:spPr>
          <a:xfrm>
            <a:off x="3806340" y="4322831"/>
            <a:ext cx="5650844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Contribution</a:t>
            </a:r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 (Corporate Carbon Footprint)</a:t>
            </a:r>
            <a:endParaRPr lang="en-US" sz="16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RIGOROUS CARBON ACCOUNTING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Reasonable Assurance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533456" y="2442798"/>
            <a:ext cx="9131185" cy="2475324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13060" y="2902753"/>
            <a:ext cx="2175860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Emissions in Assets</a:t>
            </a:r>
            <a:endParaRPr lang="en-US" sz="1610" dirty="0"/>
          </a:p>
        </p:txBody>
      </p:sp>
      <p:sp>
        <p:nvSpPr>
          <p:cNvPr id="8" name="Text 6"/>
          <p:cNvSpPr txBox="1"/>
          <p:nvPr/>
        </p:nvSpPr>
        <p:spPr>
          <a:xfrm>
            <a:off x="3950401" y="2902854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9" name="Text 7"/>
          <p:cNvSpPr txBox="1"/>
          <p:nvPr/>
        </p:nvSpPr>
        <p:spPr>
          <a:xfrm>
            <a:off x="4316342" y="2902753"/>
            <a:ext cx="684550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Upstream Emissions + Net Direct Emissions + Legacy Emissions</a:t>
            </a:r>
            <a:endParaRPr lang="en-US" sz="1610" dirty="0"/>
          </a:p>
        </p:txBody>
      </p:sp>
      <p:sp>
        <p:nvSpPr>
          <p:cNvPr id="10" name="Shape 8"/>
          <p:cNvSpPr/>
          <p:nvPr/>
        </p:nvSpPr>
        <p:spPr>
          <a:xfrm>
            <a:off x="1873057" y="3361884"/>
            <a:ext cx="8451983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70001" y="3539906"/>
            <a:ext cx="2218918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Δ Legacy Emissions</a:t>
            </a:r>
            <a:endParaRPr lang="en-US" sz="1610" dirty="0"/>
          </a:p>
        </p:txBody>
      </p:sp>
      <p:sp>
        <p:nvSpPr>
          <p:cNvPr id="12" name="Text 10"/>
          <p:cNvSpPr txBox="1"/>
          <p:nvPr/>
        </p:nvSpPr>
        <p:spPr>
          <a:xfrm>
            <a:off x="3950401" y="3540006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13" name="Text 11"/>
          <p:cNvSpPr txBox="1"/>
          <p:nvPr/>
        </p:nvSpPr>
        <p:spPr>
          <a:xfrm>
            <a:off x="4316342" y="3539906"/>
            <a:ext cx="258043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− Net CO2 Contribution</a:t>
            </a:r>
            <a:endParaRPr lang="en-US" sz="1610" dirty="0"/>
          </a:p>
        </p:txBody>
      </p:sp>
      <p:sp>
        <p:nvSpPr>
          <p:cNvPr id="14" name="Shape 12"/>
          <p:cNvSpPr/>
          <p:nvPr/>
        </p:nvSpPr>
        <p:spPr>
          <a:xfrm>
            <a:off x="1873057" y="3999036"/>
            <a:ext cx="8451983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15884" y="4177059"/>
            <a:ext cx="1573036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940"/>
              </a:lnSpc>
              <a:buNone/>
            </a:pPr>
            <a:r>
              <a:rPr lang="en-US" sz="161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Net CO2 Flow</a:t>
            </a:r>
            <a:endParaRPr lang="en-US" sz="1610" dirty="0"/>
          </a:p>
        </p:txBody>
      </p:sp>
      <p:sp>
        <p:nvSpPr>
          <p:cNvPr id="16" name="Text 14"/>
          <p:cNvSpPr txBox="1"/>
          <p:nvPr/>
        </p:nvSpPr>
        <p:spPr>
          <a:xfrm>
            <a:off x="3950401" y="4177159"/>
            <a:ext cx="204459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5F7471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610" dirty="0"/>
          </a:p>
        </p:txBody>
      </p:sp>
      <p:sp>
        <p:nvSpPr>
          <p:cNvPr id="17" name="Text 15"/>
          <p:cNvSpPr txBox="1"/>
          <p:nvPr/>
        </p:nvSpPr>
        <p:spPr>
          <a:xfrm>
            <a:off x="4316342" y="4177059"/>
            <a:ext cx="4920413" cy="246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40"/>
              </a:lnSpc>
              <a:buNone/>
            </a:pPr>
            <a:r>
              <a:rPr lang="en-US" sz="161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Net CO2 Contribution + Δ Emissions in Assets</a:t>
            </a:r>
            <a:endParaRPr lang="en-US" sz="16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RIGOROUS CARBON ACCOUNTING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Strong Incentives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720598"/>
            <a:ext cx="2107122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Iron ore producer</a:t>
            </a:r>
            <a:endParaRPr lang="en-US" sz="1780" dirty="0"/>
          </a:p>
        </p:txBody>
      </p:sp>
      <p:sp>
        <p:nvSpPr>
          <p:cNvPr id="7" name="Shape 5"/>
          <p:cNvSpPr/>
          <p:nvPr/>
        </p:nvSpPr>
        <p:spPr>
          <a:xfrm>
            <a:off x="6029446" y="1614200"/>
            <a:ext cx="2347092" cy="522017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3970">
            <a:solidFill>
              <a:srgbClr val="0E4D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31219" y="1729978"/>
            <a:ext cx="743545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</a:t>
            </a:r>
            <a:endParaRPr lang="en-US" sz="1670" dirty="0"/>
          </a:p>
        </p:txBody>
      </p:sp>
      <p:sp>
        <p:nvSpPr>
          <p:cNvPr id="9" name="Text 7"/>
          <p:cNvSpPr txBox="1"/>
          <p:nvPr/>
        </p:nvSpPr>
        <p:spPr>
          <a:xfrm>
            <a:off x="8466418" y="1720709"/>
            <a:ext cx="217590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780" dirty="0"/>
          </a:p>
        </p:txBody>
      </p:sp>
      <p:sp>
        <p:nvSpPr>
          <p:cNvPr id="10" name="Shape 8"/>
          <p:cNvSpPr/>
          <p:nvPr/>
        </p:nvSpPr>
        <p:spPr>
          <a:xfrm>
            <a:off x="8766839" y="1607151"/>
            <a:ext cx="2361409" cy="536113"/>
          </a:xfrm>
          <a:prstGeom prst="roundRect">
            <a:avLst>
              <a:gd name="adj" fmla="val 21035"/>
            </a:avLst>
          </a:prstGeom>
          <a:solidFill>
            <a:srgbClr val="A75F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25501" y="1729758"/>
            <a:ext cx="1041662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Iron</a:t>
            </a:r>
            <a:endParaRPr lang="en-US" sz="1670" dirty="0"/>
          </a:p>
        </p:txBody>
      </p:sp>
      <p:sp>
        <p:nvSpPr>
          <p:cNvPr id="12" name="Shape 10"/>
          <p:cNvSpPr/>
          <p:nvPr/>
        </p:nvSpPr>
        <p:spPr>
          <a:xfrm>
            <a:off x="9940605" y="2143264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8550" y="2319473"/>
            <a:ext cx="5489103" cy="0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5599" y="2326521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2623224"/>
            <a:ext cx="1819234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Steel producer</a:t>
            </a:r>
            <a:endParaRPr lang="en-US" sz="1780" dirty="0"/>
          </a:p>
        </p:txBody>
      </p:sp>
      <p:sp>
        <p:nvSpPr>
          <p:cNvPr id="16" name="Shape 14"/>
          <p:cNvSpPr/>
          <p:nvPr/>
        </p:nvSpPr>
        <p:spPr>
          <a:xfrm>
            <a:off x="3277956" y="2509777"/>
            <a:ext cx="2361189" cy="536113"/>
          </a:xfrm>
          <a:prstGeom prst="roundRect">
            <a:avLst>
              <a:gd name="adj" fmla="val 21035"/>
            </a:avLst>
          </a:prstGeom>
          <a:solidFill>
            <a:srgbClr val="A75F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36631" y="2632384"/>
            <a:ext cx="1041416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Iron</a:t>
            </a:r>
            <a:endParaRPr lang="en-US" sz="1670" dirty="0"/>
          </a:p>
        </p:txBody>
      </p:sp>
      <p:sp>
        <p:nvSpPr>
          <p:cNvPr id="18" name="Text 16"/>
          <p:cNvSpPr txBox="1"/>
          <p:nvPr/>
        </p:nvSpPr>
        <p:spPr>
          <a:xfrm>
            <a:off x="5722963" y="2623335"/>
            <a:ext cx="215616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780" dirty="0"/>
          </a:p>
        </p:txBody>
      </p:sp>
      <p:sp>
        <p:nvSpPr>
          <p:cNvPr id="19" name="Shape 17"/>
          <p:cNvSpPr/>
          <p:nvPr/>
        </p:nvSpPr>
        <p:spPr>
          <a:xfrm>
            <a:off x="6029446" y="2516826"/>
            <a:ext cx="2347092" cy="522017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3970">
            <a:solidFill>
              <a:srgbClr val="0E4D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31219" y="2632605"/>
            <a:ext cx="743545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</a:t>
            </a:r>
            <a:endParaRPr lang="en-US" sz="1670" dirty="0"/>
          </a:p>
        </p:txBody>
      </p:sp>
      <p:sp>
        <p:nvSpPr>
          <p:cNvPr id="21" name="Text 19"/>
          <p:cNvSpPr txBox="1"/>
          <p:nvPr/>
        </p:nvSpPr>
        <p:spPr>
          <a:xfrm>
            <a:off x="8466418" y="2623335"/>
            <a:ext cx="217590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780" dirty="0"/>
          </a:p>
        </p:txBody>
      </p:sp>
      <p:sp>
        <p:nvSpPr>
          <p:cNvPr id="22" name="Shape 20"/>
          <p:cNvSpPr/>
          <p:nvPr/>
        </p:nvSpPr>
        <p:spPr>
          <a:xfrm>
            <a:off x="8766839" y="2509777"/>
            <a:ext cx="2361409" cy="536113"/>
          </a:xfrm>
          <a:prstGeom prst="roundRect">
            <a:avLst>
              <a:gd name="adj" fmla="val 21035"/>
            </a:avLst>
          </a:prstGeom>
          <a:solidFill>
            <a:srgbClr val="1A668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46903" y="2632384"/>
            <a:ext cx="1193131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Steel</a:t>
            </a:r>
            <a:endParaRPr lang="en-US" sz="1670" dirty="0"/>
          </a:p>
        </p:txBody>
      </p:sp>
      <p:sp>
        <p:nvSpPr>
          <p:cNvPr id="24" name="Shape 22"/>
          <p:cNvSpPr/>
          <p:nvPr/>
        </p:nvSpPr>
        <p:spPr>
          <a:xfrm>
            <a:off x="9940605" y="3045891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8550" y="3222099"/>
            <a:ext cx="5489103" cy="0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5599" y="3229147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9848" y="3525851"/>
            <a:ext cx="1834775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Body producer</a:t>
            </a:r>
            <a:endParaRPr lang="en-US" sz="1780" dirty="0"/>
          </a:p>
        </p:txBody>
      </p:sp>
      <p:sp>
        <p:nvSpPr>
          <p:cNvPr id="28" name="Shape 26"/>
          <p:cNvSpPr/>
          <p:nvPr/>
        </p:nvSpPr>
        <p:spPr>
          <a:xfrm>
            <a:off x="3277956" y="3412403"/>
            <a:ext cx="2361189" cy="536113"/>
          </a:xfrm>
          <a:prstGeom prst="roundRect">
            <a:avLst>
              <a:gd name="adj" fmla="val 21035"/>
            </a:avLst>
          </a:prstGeom>
          <a:solidFill>
            <a:srgbClr val="1A668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58034" y="3535010"/>
            <a:ext cx="1192884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Steel</a:t>
            </a:r>
            <a:endParaRPr lang="en-US" sz="1670" dirty="0"/>
          </a:p>
        </p:txBody>
      </p:sp>
      <p:sp>
        <p:nvSpPr>
          <p:cNvPr id="30" name="Text 28"/>
          <p:cNvSpPr txBox="1"/>
          <p:nvPr/>
        </p:nvSpPr>
        <p:spPr>
          <a:xfrm>
            <a:off x="5722963" y="3525961"/>
            <a:ext cx="215616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780" dirty="0"/>
          </a:p>
        </p:txBody>
      </p:sp>
      <p:sp>
        <p:nvSpPr>
          <p:cNvPr id="31" name="Shape 29"/>
          <p:cNvSpPr/>
          <p:nvPr/>
        </p:nvSpPr>
        <p:spPr>
          <a:xfrm>
            <a:off x="6029446" y="3419452"/>
            <a:ext cx="2347092" cy="522017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3970">
            <a:solidFill>
              <a:srgbClr val="0E4D4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1219" y="3535231"/>
            <a:ext cx="743545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</a:t>
            </a:r>
            <a:endParaRPr lang="en-US" sz="1670" dirty="0"/>
          </a:p>
        </p:txBody>
      </p:sp>
      <p:sp>
        <p:nvSpPr>
          <p:cNvPr id="33" name="Text 31"/>
          <p:cNvSpPr txBox="1"/>
          <p:nvPr/>
        </p:nvSpPr>
        <p:spPr>
          <a:xfrm>
            <a:off x="8466418" y="3525961"/>
            <a:ext cx="217590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780" dirty="0"/>
          </a:p>
        </p:txBody>
      </p:sp>
      <p:sp>
        <p:nvSpPr>
          <p:cNvPr id="34" name="Shape 32"/>
          <p:cNvSpPr/>
          <p:nvPr/>
        </p:nvSpPr>
        <p:spPr>
          <a:xfrm>
            <a:off x="8766839" y="3412403"/>
            <a:ext cx="2361409" cy="536113"/>
          </a:xfrm>
          <a:prstGeom prst="roundRect">
            <a:avLst>
              <a:gd name="adj" fmla="val 21035"/>
            </a:avLst>
          </a:prstGeom>
          <a:solidFill>
            <a:srgbClr val="17876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346520" y="3535010"/>
            <a:ext cx="1200285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Body</a:t>
            </a:r>
            <a:endParaRPr lang="en-US" sz="1670" dirty="0"/>
          </a:p>
        </p:txBody>
      </p:sp>
      <p:sp>
        <p:nvSpPr>
          <p:cNvPr id="36" name="Shape 34"/>
          <p:cNvSpPr/>
          <p:nvPr/>
        </p:nvSpPr>
        <p:spPr>
          <a:xfrm>
            <a:off x="9940605" y="3948517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58550" y="4124725"/>
            <a:ext cx="5489103" cy="0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5599" y="4131773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9848" y="4428477"/>
            <a:ext cx="2198892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Car manufacturer</a:t>
            </a:r>
            <a:endParaRPr lang="en-US" sz="1780" dirty="0"/>
          </a:p>
        </p:txBody>
      </p:sp>
      <p:sp>
        <p:nvSpPr>
          <p:cNvPr id="40" name="Shape 38"/>
          <p:cNvSpPr/>
          <p:nvPr/>
        </p:nvSpPr>
        <p:spPr>
          <a:xfrm>
            <a:off x="3277956" y="4315029"/>
            <a:ext cx="2361189" cy="536113"/>
          </a:xfrm>
          <a:prstGeom prst="roundRect">
            <a:avLst>
              <a:gd name="adj" fmla="val 21035"/>
            </a:avLst>
          </a:prstGeom>
          <a:solidFill>
            <a:srgbClr val="17876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857650" y="4437637"/>
            <a:ext cx="1200038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Body</a:t>
            </a:r>
            <a:endParaRPr lang="en-US" sz="1670" dirty="0"/>
          </a:p>
        </p:txBody>
      </p:sp>
      <p:sp>
        <p:nvSpPr>
          <p:cNvPr id="42" name="Text 40"/>
          <p:cNvSpPr txBox="1"/>
          <p:nvPr/>
        </p:nvSpPr>
        <p:spPr>
          <a:xfrm>
            <a:off x="5722963" y="4428587"/>
            <a:ext cx="215616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780" dirty="0"/>
          </a:p>
        </p:txBody>
      </p:sp>
      <p:sp>
        <p:nvSpPr>
          <p:cNvPr id="43" name="Shape 41"/>
          <p:cNvSpPr/>
          <p:nvPr/>
        </p:nvSpPr>
        <p:spPr>
          <a:xfrm>
            <a:off x="6029446" y="4322078"/>
            <a:ext cx="2347092" cy="522017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3970">
            <a:solidFill>
              <a:srgbClr val="0E4D4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31219" y="4437857"/>
            <a:ext cx="743545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Direct</a:t>
            </a:r>
            <a:endParaRPr lang="en-US" sz="1670" dirty="0"/>
          </a:p>
        </p:txBody>
      </p:sp>
      <p:sp>
        <p:nvSpPr>
          <p:cNvPr id="45" name="Text 43"/>
          <p:cNvSpPr txBox="1"/>
          <p:nvPr/>
        </p:nvSpPr>
        <p:spPr>
          <a:xfrm>
            <a:off x="8466418" y="4428587"/>
            <a:ext cx="217590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780" dirty="0"/>
          </a:p>
        </p:txBody>
      </p:sp>
      <p:sp>
        <p:nvSpPr>
          <p:cNvPr id="46" name="Shape 44"/>
          <p:cNvSpPr/>
          <p:nvPr/>
        </p:nvSpPr>
        <p:spPr>
          <a:xfrm>
            <a:off x="8766839" y="4315029"/>
            <a:ext cx="2361409" cy="536113"/>
          </a:xfrm>
          <a:prstGeom prst="roundRect">
            <a:avLst>
              <a:gd name="adj" fmla="val 21035"/>
            </a:avLst>
          </a:prstGeom>
          <a:solidFill>
            <a:srgbClr val="2A7A4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25831" y="4437637"/>
            <a:ext cx="1035495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Car</a:t>
            </a:r>
            <a:endParaRPr lang="en-US" sz="1670" dirty="0"/>
          </a:p>
        </p:txBody>
      </p:sp>
      <p:sp>
        <p:nvSpPr>
          <p:cNvPr id="48" name="Shape 46"/>
          <p:cNvSpPr/>
          <p:nvPr/>
        </p:nvSpPr>
        <p:spPr>
          <a:xfrm>
            <a:off x="9940605" y="4851143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58550" y="5027351"/>
            <a:ext cx="5489103" cy="0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65599" y="5034399"/>
            <a:ext cx="0" cy="183256"/>
          </a:xfrm>
          <a:prstGeom prst="line">
            <a:avLst/>
          </a:prstGeom>
          <a:noFill/>
          <a:ln w="13970">
            <a:solidFill>
              <a:srgbClr val="0E4D4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77956" y="5217656"/>
            <a:ext cx="2361189" cy="536113"/>
          </a:xfrm>
          <a:prstGeom prst="roundRect">
            <a:avLst>
              <a:gd name="adj" fmla="val 21035"/>
            </a:avLst>
          </a:prstGeom>
          <a:solidFill>
            <a:srgbClr val="2A7A4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936948" y="5340263"/>
            <a:ext cx="1035495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PCF Car</a:t>
            </a:r>
            <a:endParaRPr lang="en-US" sz="1670" dirty="0"/>
          </a:p>
        </p:txBody>
      </p:sp>
      <p:sp>
        <p:nvSpPr>
          <p:cNvPr id="53" name="Text 51"/>
          <p:cNvSpPr txBox="1"/>
          <p:nvPr/>
        </p:nvSpPr>
        <p:spPr>
          <a:xfrm>
            <a:off x="5722963" y="5331213"/>
            <a:ext cx="215616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+</a:t>
            </a:r>
            <a:endParaRPr lang="en-US" sz="1780" dirty="0"/>
          </a:p>
        </p:txBody>
      </p:sp>
      <p:sp>
        <p:nvSpPr>
          <p:cNvPr id="54" name="Shape 52"/>
          <p:cNvSpPr/>
          <p:nvPr/>
        </p:nvSpPr>
        <p:spPr>
          <a:xfrm>
            <a:off x="6029446" y="5224704"/>
            <a:ext cx="2347092" cy="522017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3970">
            <a:solidFill>
              <a:srgbClr val="0E4D4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02561" y="5340263"/>
            <a:ext cx="2392051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Downstream Indirect</a:t>
            </a:r>
            <a:endParaRPr lang="en-US" sz="1670" dirty="0"/>
          </a:p>
        </p:txBody>
      </p:sp>
      <p:sp>
        <p:nvSpPr>
          <p:cNvPr id="56" name="Text 54"/>
          <p:cNvSpPr txBox="1"/>
          <p:nvPr/>
        </p:nvSpPr>
        <p:spPr>
          <a:xfrm>
            <a:off x="8466418" y="5331213"/>
            <a:ext cx="217590" cy="270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30"/>
              </a:lnSpc>
              <a:buNone/>
            </a:pPr>
            <a:r>
              <a:rPr lang="en-US" sz="178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=</a:t>
            </a:r>
            <a:endParaRPr lang="en-US" sz="1780" dirty="0"/>
          </a:p>
        </p:txBody>
      </p:sp>
      <p:sp>
        <p:nvSpPr>
          <p:cNvPr id="57" name="Shape 55"/>
          <p:cNvSpPr/>
          <p:nvPr/>
        </p:nvSpPr>
        <p:spPr>
          <a:xfrm>
            <a:off x="8766839" y="5217656"/>
            <a:ext cx="2361409" cy="536113"/>
          </a:xfrm>
          <a:prstGeom prst="roundRect">
            <a:avLst>
              <a:gd name="adj" fmla="val 21035"/>
            </a:avLst>
          </a:prstGeom>
          <a:solidFill>
            <a:srgbClr val="85499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841217" y="5340263"/>
            <a:ext cx="2212213" cy="254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70" dirty="0">
                <a:solidFill>
                  <a:srgbClr val="FFFFFF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Life-cycle PCF Car</a:t>
            </a:r>
            <a:endParaRPr lang="en-US" sz="1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274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13917C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RIGOROUS CARBON ACCOUNTING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493776"/>
            <a:ext cx="10963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Lower Cost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Integrated Corporate Carbon Accounting (ICCA) · 16 October 2026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0671048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3917C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433020" y="1097280"/>
            <a:ext cx="5218545" cy="5166360"/>
          </a:xfrm>
          <a:prstGeom prst="roundRect">
            <a:avLst>
              <a:gd name="adj" fmla="val 6061"/>
            </a:avLst>
          </a:prstGeom>
          <a:solidFill>
            <a:srgbClr val="0E4D49"/>
          </a:solidFill>
          <a:ln/>
        </p:spPr>
      </p:sp>
      <p:sp>
        <p:nvSpPr>
          <p:cNvPr id="7" name="Shape 5"/>
          <p:cNvSpPr/>
          <p:nvPr/>
        </p:nvSpPr>
        <p:spPr>
          <a:xfrm>
            <a:off x="4898783" y="3882679"/>
            <a:ext cx="169603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08" y="2349731"/>
            <a:ext cx="0" cy="306589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1228" y="2356254"/>
            <a:ext cx="15655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1228" y="3373870"/>
            <a:ext cx="15655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1228" y="4391487"/>
            <a:ext cx="15655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81228" y="5409103"/>
            <a:ext cx="15655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1565" y="3882679"/>
            <a:ext cx="560994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8878" y="1762645"/>
            <a:ext cx="0" cy="4240068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5605" y="1769168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5605" y="2238837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5605" y="2708506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5605" y="3178175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5605" y="3647844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5605" y="4117513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5605" y="4587182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5605" y="5056851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5605" y="5526520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5605" y="5996190"/>
            <a:ext cx="182445" cy="0"/>
          </a:xfrm>
          <a:prstGeom prst="line">
            <a:avLst/>
          </a:prstGeom>
          <a:noFill/>
          <a:ln w="12700">
            <a:solidFill>
              <a:srgbClr val="0E4D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24411" y="3262976"/>
            <a:ext cx="2074372" cy="122635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67717" y="3693506"/>
            <a:ext cx="365298" cy="36529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3437182" y="3741900"/>
            <a:ext cx="1327495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CO2 Ledger</a:t>
            </a:r>
            <a:endParaRPr lang="en-US" sz="1540" dirty="0"/>
          </a:p>
        </p:txBody>
      </p:sp>
      <p:sp>
        <p:nvSpPr>
          <p:cNvPr id="28" name="Shape 25"/>
          <p:cNvSpPr/>
          <p:nvPr/>
        </p:nvSpPr>
        <p:spPr>
          <a:xfrm>
            <a:off x="5237784" y="1905951"/>
            <a:ext cx="2009140" cy="886949"/>
          </a:xfrm>
          <a:prstGeom prst="roundRect">
            <a:avLst>
              <a:gd name="adj" fmla="val 11767"/>
            </a:avLst>
          </a:prstGeom>
          <a:solidFill>
            <a:srgbClr val="FFFFFF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090" y="2166674"/>
            <a:ext cx="365298" cy="36529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850556" y="2097488"/>
            <a:ext cx="1422472" cy="4700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CO2 Balance</a:t>
            </a:r>
            <a:endParaRPr lang="en-US" sz="154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Sheet</a:t>
            </a:r>
            <a:endParaRPr lang="en-US" sz="1540" dirty="0"/>
          </a:p>
        </p:txBody>
      </p:sp>
      <p:sp>
        <p:nvSpPr>
          <p:cNvPr id="31" name="Shape 27"/>
          <p:cNvSpPr/>
          <p:nvPr/>
        </p:nvSpPr>
        <p:spPr>
          <a:xfrm>
            <a:off x="5237784" y="2923567"/>
            <a:ext cx="2009140" cy="886949"/>
          </a:xfrm>
          <a:prstGeom prst="roundRect">
            <a:avLst>
              <a:gd name="adj" fmla="val 11767"/>
            </a:avLst>
          </a:prstGeom>
          <a:solidFill>
            <a:srgbClr val="FFFFF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1090" y="3184290"/>
            <a:ext cx="365298" cy="36529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850556" y="3115104"/>
            <a:ext cx="1365109" cy="4700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Net CO2</a:t>
            </a:r>
            <a:endParaRPr lang="en-US" sz="154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Contribution</a:t>
            </a:r>
            <a:endParaRPr lang="en-US" sz="1540" dirty="0"/>
          </a:p>
        </p:txBody>
      </p:sp>
      <p:sp>
        <p:nvSpPr>
          <p:cNvPr id="34" name="Shape 29"/>
          <p:cNvSpPr/>
          <p:nvPr/>
        </p:nvSpPr>
        <p:spPr>
          <a:xfrm>
            <a:off x="5237784" y="3941183"/>
            <a:ext cx="2009140" cy="886949"/>
          </a:xfrm>
          <a:prstGeom prst="roundRect">
            <a:avLst>
              <a:gd name="adj" fmla="val 11767"/>
            </a:avLst>
          </a:prstGeom>
          <a:solidFill>
            <a:srgbClr val="FFFFFF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1090" y="4201907"/>
            <a:ext cx="365298" cy="36529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5850556" y="4132720"/>
            <a:ext cx="958772" cy="4700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Net CO2</a:t>
            </a:r>
            <a:endParaRPr lang="en-US" sz="154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Flow</a:t>
            </a:r>
            <a:endParaRPr lang="en-US" sz="1540" dirty="0"/>
          </a:p>
        </p:txBody>
      </p:sp>
      <p:sp>
        <p:nvSpPr>
          <p:cNvPr id="37" name="Shape 31"/>
          <p:cNvSpPr/>
          <p:nvPr/>
        </p:nvSpPr>
        <p:spPr>
          <a:xfrm>
            <a:off x="5237784" y="4958800"/>
            <a:ext cx="2009140" cy="886949"/>
          </a:xfrm>
          <a:prstGeom prst="roundRect">
            <a:avLst>
              <a:gd name="adj" fmla="val 11767"/>
            </a:avLst>
          </a:prstGeom>
          <a:solidFill>
            <a:srgbClr val="FFFFFF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81090" y="5219523"/>
            <a:ext cx="365298" cy="36529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850556" y="5033286"/>
            <a:ext cx="1132124" cy="704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Product</a:t>
            </a:r>
            <a:endParaRPr lang="en-US" sz="154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Carbon</a:t>
            </a:r>
            <a:endParaRPr lang="en-US" sz="154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Footprints</a:t>
            </a:r>
            <a:endParaRPr lang="en-US" sz="1540" dirty="0"/>
          </a:p>
        </p:txBody>
      </p:sp>
      <p:sp>
        <p:nvSpPr>
          <p:cNvPr id="40" name="Text 33"/>
          <p:cNvSpPr txBox="1"/>
          <p:nvPr/>
        </p:nvSpPr>
        <p:spPr>
          <a:xfrm>
            <a:off x="2478428" y="1406601"/>
            <a:ext cx="5118148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4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Integrated Corporate Carbon Accounting (ICCA)</a:t>
            </a:r>
            <a:endParaRPr lang="en-US" sz="1540" dirty="0"/>
          </a:p>
        </p:txBody>
      </p:sp>
      <p:sp>
        <p:nvSpPr>
          <p:cNvPr id="41" name="Shape 34"/>
          <p:cNvSpPr/>
          <p:nvPr/>
        </p:nvSpPr>
        <p:spPr>
          <a:xfrm>
            <a:off x="8414574" y="1586519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831242" y="1628593"/>
            <a:ext cx="644430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ESRS</a:t>
            </a:r>
            <a:endParaRPr lang="en-US" sz="1540" dirty="0"/>
          </a:p>
        </p:txBody>
      </p:sp>
      <p:sp>
        <p:nvSpPr>
          <p:cNvPr id="43" name="Shape 36"/>
          <p:cNvSpPr/>
          <p:nvPr/>
        </p:nvSpPr>
        <p:spPr>
          <a:xfrm>
            <a:off x="8414574" y="2056188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839396" y="2098262"/>
            <a:ext cx="626022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EPDs</a:t>
            </a:r>
            <a:endParaRPr lang="en-US" sz="1540" dirty="0"/>
          </a:p>
        </p:txBody>
      </p:sp>
      <p:sp>
        <p:nvSpPr>
          <p:cNvPr id="45" name="Shape 38"/>
          <p:cNvSpPr/>
          <p:nvPr/>
        </p:nvSpPr>
        <p:spPr>
          <a:xfrm>
            <a:off x="8414574" y="2525857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8748683" y="2567727"/>
            <a:ext cx="829091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EU ETS</a:t>
            </a:r>
            <a:endParaRPr lang="en-US" sz="1540" dirty="0"/>
          </a:p>
        </p:txBody>
      </p:sp>
      <p:sp>
        <p:nvSpPr>
          <p:cNvPr id="47" name="Shape 40"/>
          <p:cNvSpPr/>
          <p:nvPr/>
        </p:nvSpPr>
        <p:spPr>
          <a:xfrm>
            <a:off x="8414574" y="2995526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872623" y="3037600"/>
            <a:ext cx="551643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CDP</a:t>
            </a:r>
            <a:endParaRPr lang="en-US" sz="1540" dirty="0"/>
          </a:p>
        </p:txBody>
      </p:sp>
      <p:sp>
        <p:nvSpPr>
          <p:cNvPr id="49" name="Shape 42"/>
          <p:cNvSpPr/>
          <p:nvPr/>
        </p:nvSpPr>
        <p:spPr>
          <a:xfrm>
            <a:off x="8414574" y="3465195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8787822" y="3507270"/>
            <a:ext cx="741605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CBAM</a:t>
            </a:r>
            <a:endParaRPr lang="en-US" sz="1540" dirty="0"/>
          </a:p>
        </p:txBody>
      </p:sp>
      <p:sp>
        <p:nvSpPr>
          <p:cNvPr id="51" name="Shape 44"/>
          <p:cNvSpPr/>
          <p:nvPr/>
        </p:nvSpPr>
        <p:spPr>
          <a:xfrm>
            <a:off x="8414574" y="3934864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8872623" y="3976939"/>
            <a:ext cx="551857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SBTi</a:t>
            </a:r>
            <a:endParaRPr lang="en-US" sz="1540" dirty="0"/>
          </a:p>
        </p:txBody>
      </p:sp>
      <p:sp>
        <p:nvSpPr>
          <p:cNvPr id="53" name="Shape 46"/>
          <p:cNvSpPr/>
          <p:nvPr/>
        </p:nvSpPr>
        <p:spPr>
          <a:xfrm>
            <a:off x="8414574" y="4404533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8618015" y="4446404"/>
            <a:ext cx="1121786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 SB253</a:t>
            </a:r>
            <a:endParaRPr lang="en-US" sz="1540" dirty="0"/>
          </a:p>
        </p:txBody>
      </p:sp>
      <p:sp>
        <p:nvSpPr>
          <p:cNvPr id="55" name="Shape 48"/>
          <p:cNvSpPr/>
          <p:nvPr/>
        </p:nvSpPr>
        <p:spPr>
          <a:xfrm>
            <a:off x="8414574" y="4874202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8821661" y="4916277"/>
            <a:ext cx="665727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TCFD</a:t>
            </a:r>
            <a:endParaRPr lang="en-US" sz="1540" dirty="0"/>
          </a:p>
        </p:txBody>
      </p:sp>
      <p:sp>
        <p:nvSpPr>
          <p:cNvPr id="57" name="Shape 50"/>
          <p:cNvSpPr/>
          <p:nvPr/>
        </p:nvSpPr>
        <p:spPr>
          <a:xfrm>
            <a:off x="8414574" y="5343871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8868139" y="5385946"/>
            <a:ext cx="561596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ISSB</a:t>
            </a:r>
            <a:endParaRPr lang="en-US" sz="1540" dirty="0"/>
          </a:p>
        </p:txBody>
      </p:sp>
      <p:sp>
        <p:nvSpPr>
          <p:cNvPr id="59" name="Shape 52"/>
          <p:cNvSpPr/>
          <p:nvPr/>
        </p:nvSpPr>
        <p:spPr>
          <a:xfrm>
            <a:off x="8414574" y="5813540"/>
            <a:ext cx="1343572" cy="35225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0E4D49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9023676" y="5855615"/>
            <a:ext cx="213349" cy="2348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40" dirty="0">
                <a:solidFill>
                  <a:srgbClr val="0E4D49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…</a:t>
            </a:r>
            <a:endParaRPr lang="en-US" sz="1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8B15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12648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CASInitiative.org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126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3C2C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Carbon Accounting Standards Initiative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5544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80" kern="0" dirty="0">
                <a:solidFill>
                  <a:srgbClr val="8B1538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JOIN THE INITIATIVE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847088"/>
            <a:ext cx="6355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The 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Carbon Accounting Standards Initiative (CASI)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E4D49"/>
                </a:solidFill>
                <a:latin typeface="PP Mori SemiBold" pitchFamily="34" charset="0"/>
                <a:ea typeface="PP Mori SemiBold" pitchFamily="34" charset="-122"/>
                <a:cs typeface="PP Mori SemiBold" pitchFamily="34" charset="-120"/>
              </a:rPr>
              <a:t> convenes academics, policymakers, and industry leaders to advance the practice of corporate carbon accounting and reporting.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45445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9363D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Engage with CASI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481888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4626A"/>
                </a:solidFill>
                <a:latin typeface="PP Mori" pitchFamily="34" charset="0"/>
                <a:ea typeface="PP Mori" pitchFamily="34" charset="-122"/>
                <a:cs typeface="PP Mori" pitchFamily="34" charset="-120"/>
              </a:rPr>
              <a:t>christoph.ernst@casinitiative.org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P Mo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P Mo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Corporate Carbon Accounting (ICCA)</dc:title>
  <dc:subject>PptxGenJS Presentation</dc:subject>
  <dc:creator>Carbon Accounting Standards Initiative</dc:creator>
  <cp:lastModifiedBy>Carbon Accounting Standards Initiative</cp:lastModifiedBy>
  <cp:revision>1</cp:revision>
  <dcterms:created xsi:type="dcterms:W3CDTF">2026-10-16T12:43:49Z</dcterms:created>
  <dcterms:modified xsi:type="dcterms:W3CDTF">2026-10-16T12:43:49Z</dcterms:modified>
</cp:coreProperties>
</file>